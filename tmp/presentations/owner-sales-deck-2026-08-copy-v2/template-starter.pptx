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34eb8cbd854b5a" /><Relationship Type="http://schemas.openxmlformats.org/officeDocument/2006/relationships/extended-properties" Target="/docProps/app.xml" Id="Rb8f6e2b11d5e4ae5" /><Relationship Type="http://schemas.openxmlformats.org/officeDocument/2006/relationships/officeDocument" Target="/ppt/presentation.xml" Id="R913916d08cb842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d65ad5e5464ffe"/>
  </p:sldMasterIdLst>
  <p:notesMasterIdLst>
    <p:notesMasterId xmlns:r="http://schemas.openxmlformats.org/officeDocument/2006/relationships" r:id="Ra532beb8018b4ba9"/>
  </p:notesMasterIdLst>
  <p:sldIdLst>
    <p:sldId xmlns:r="http://schemas.openxmlformats.org/officeDocument/2006/relationships" id="256" r:id="R78612311410341ee"/>
    <p:sldId xmlns:r="http://schemas.openxmlformats.org/officeDocument/2006/relationships" id="257" r:id="R53a1e3a2a5a7460e"/>
    <p:sldId xmlns:r="http://schemas.openxmlformats.org/officeDocument/2006/relationships" id="258" r:id="R2283f521ac3b437c"/>
    <p:sldId xmlns:r="http://schemas.openxmlformats.org/officeDocument/2006/relationships" id="259" r:id="R3798eaf45e8b49c7"/>
    <p:sldId xmlns:r="http://schemas.openxmlformats.org/officeDocument/2006/relationships" id="260" r:id="R87c9146efc0e4c59"/>
    <p:sldId xmlns:r="http://schemas.openxmlformats.org/officeDocument/2006/relationships" id="261" r:id="Rcc4b2d128aee48ee"/>
    <p:sldId xmlns:r="http://schemas.openxmlformats.org/officeDocument/2006/relationships" id="262" r:id="Rfdb84671ce7b4581"/>
    <p:sldId xmlns:r="http://schemas.openxmlformats.org/officeDocument/2006/relationships" id="263" r:id="Ra48ddf43abee4dfd"/>
    <p:sldId xmlns:r="http://schemas.openxmlformats.org/officeDocument/2006/relationships" id="264" r:id="R44dfae42aa0947c0"/>
    <p:sldId xmlns:r="http://schemas.openxmlformats.org/officeDocument/2006/relationships" id="265" r:id="Rd58952ac448c48ab"/>
    <p:sldId xmlns:r="http://schemas.openxmlformats.org/officeDocument/2006/relationships" id="266" r:id="R44968f3dfdf549e6"/>
    <p:sldId xmlns:r="http://schemas.openxmlformats.org/officeDocument/2006/relationships" id="267" r:id="Rf97ce111570041f2"/>
    <p:sldId xmlns:r="http://schemas.openxmlformats.org/officeDocument/2006/relationships" id="268" r:id="Raf0dc7eec84b49f8"/>
    <p:sldId xmlns:r="http://schemas.openxmlformats.org/officeDocument/2006/relationships" id="269" r:id="Rec4929249382408f"/>
    <p:sldId xmlns:r="http://schemas.openxmlformats.org/officeDocument/2006/relationships" id="270" r:id="R7a9df295b52042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f4dcc5941548cf" /><Relationship Type="http://schemas.openxmlformats.org/officeDocument/2006/relationships/slideMaster" Target="/ppt/slideMasters/slideMaster1.xml" Id="Radd65ad5e5464ffe" /><Relationship Type="http://schemas.openxmlformats.org/officeDocument/2006/relationships/notesMaster" Target="/ppt/notesMasters/notesMaster1.xml" Id="Ra532beb8018b4ba9" /><Relationship Type="http://schemas.openxmlformats.org/officeDocument/2006/relationships/presProps" Target="/ppt/presProps.xml" Id="R88be96a9abc34047" /><Relationship Type="http://schemas.openxmlformats.org/officeDocument/2006/relationships/tableStyles" Target="/ppt/tableStyles.xml" Id="R8502837dc15d425e" /><Relationship Type="http://schemas.openxmlformats.org/officeDocument/2006/relationships/slide" Target="/ppt/slides/slide1.xml" Id="R78612311410341ee" /><Relationship Type="http://schemas.openxmlformats.org/officeDocument/2006/relationships/slide" Target="/ppt/slides/slide2.xml" Id="R53a1e3a2a5a7460e" /><Relationship Type="http://schemas.openxmlformats.org/officeDocument/2006/relationships/slide" Target="/ppt/slides/slide3.xml" Id="R2283f521ac3b437c" /><Relationship Type="http://schemas.openxmlformats.org/officeDocument/2006/relationships/slide" Target="/ppt/slides/slide4.xml" Id="R3798eaf45e8b49c7" /><Relationship Type="http://schemas.openxmlformats.org/officeDocument/2006/relationships/slide" Target="/ppt/slides/slide5.xml" Id="R87c9146efc0e4c59" /><Relationship Type="http://schemas.openxmlformats.org/officeDocument/2006/relationships/slide" Target="/ppt/slides/slide6.xml" Id="Rcc4b2d128aee48ee" /><Relationship Type="http://schemas.openxmlformats.org/officeDocument/2006/relationships/slide" Target="/ppt/slides/slide7.xml" Id="Rfdb84671ce7b4581" /><Relationship Type="http://schemas.openxmlformats.org/officeDocument/2006/relationships/slide" Target="/ppt/slides/slide8.xml" Id="Ra48ddf43abee4dfd" /><Relationship Type="http://schemas.openxmlformats.org/officeDocument/2006/relationships/slide" Target="/ppt/slides/slide9.xml" Id="R44dfae42aa0947c0" /><Relationship Type="http://schemas.openxmlformats.org/officeDocument/2006/relationships/slide" Target="/ppt/slides/slide10.xml" Id="Rd58952ac448c48ab" /><Relationship Type="http://schemas.openxmlformats.org/officeDocument/2006/relationships/slide" Target="/ppt/slides/slide11.xml" Id="R44968f3dfdf549e6" /><Relationship Type="http://schemas.openxmlformats.org/officeDocument/2006/relationships/slide" Target="/ppt/slides/slide12.xml" Id="Rf97ce111570041f2" /><Relationship Type="http://schemas.openxmlformats.org/officeDocument/2006/relationships/slide" Target="/ppt/slides/slide13.xml" Id="Raf0dc7eec84b49f8" /><Relationship Type="http://schemas.openxmlformats.org/officeDocument/2006/relationships/slide" Target="/ppt/slides/slide14.xml" Id="Rec4929249382408f" /><Relationship Type="http://schemas.openxmlformats.org/officeDocument/2006/relationships/slide" Target="/ppt/slides/slide15.xml" Id="R7a9df295b52042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dc45d8b8c147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317400e68c42e7" /><Relationship Type="http://schemas.openxmlformats.org/officeDocument/2006/relationships/notesMaster" Target="/ppt/notesMasters/notesMaster1.xml" Id="R90e34657902140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977bec680e4a79" /><Relationship Type="http://schemas.openxmlformats.org/officeDocument/2006/relationships/notesMaster" Target="/ppt/notesMasters/notesMaster1.xml" Id="R5b679a6fef2848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613a45ab52491e" /><Relationship Type="http://schemas.openxmlformats.org/officeDocument/2006/relationships/notesMaster" Target="/ppt/notesMasters/notesMaster1.xml" Id="Reb6ec20a768a45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2cc6f4691e4357" /><Relationship Type="http://schemas.openxmlformats.org/officeDocument/2006/relationships/notesMaster" Target="/ppt/notesMasters/notesMaster1.xml" Id="R6dc23ff4ffbd4e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43a64a85fb49f2" /><Relationship Type="http://schemas.openxmlformats.org/officeDocument/2006/relationships/notesMaster" Target="/ppt/notesMasters/notesMaster1.xml" Id="R23735a0f55cc43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97a5e8ec154671" /><Relationship Type="http://schemas.openxmlformats.org/officeDocument/2006/relationships/notesMaster" Target="/ppt/notesMasters/notesMaster1.xml" Id="Raef394d99b8a44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83e7ab01e14df2" /><Relationship Type="http://schemas.openxmlformats.org/officeDocument/2006/relationships/notesMaster" Target="/ppt/notesMasters/notesMaster1.xml" Id="R2147a3c3c9e341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7c544b9cfb4f51" /><Relationship Type="http://schemas.openxmlformats.org/officeDocument/2006/relationships/notesMaster" Target="/ppt/notesMasters/notesMaster1.xml" Id="Ra0ad1525f7b34a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548a03e2144844" /><Relationship Type="http://schemas.openxmlformats.org/officeDocument/2006/relationships/notesMaster" Target="/ppt/notesMasters/notesMaster1.xml" Id="R3b4e8fa0715f44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f0aff7a2664171" /><Relationship Type="http://schemas.openxmlformats.org/officeDocument/2006/relationships/notesMaster" Target="/ppt/notesMasters/notesMaster1.xml" Id="R9c8fa24cff1c4c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756ee2925e4464" /><Relationship Type="http://schemas.openxmlformats.org/officeDocument/2006/relationships/notesMaster" Target="/ppt/notesMasters/notesMaster1.xml" Id="Rd08e124e87c849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7de612d3974eea" /><Relationship Type="http://schemas.openxmlformats.org/officeDocument/2006/relationships/notesMaster" Target="/ppt/notesMasters/notesMaster1.xml" Id="R77e98ebad30e41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3c208e5f1440ee" /><Relationship Type="http://schemas.openxmlformats.org/officeDocument/2006/relationships/notesMaster" Target="/ppt/notesMasters/notesMaster1.xml" Id="R58000261522f4e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705e3e76c346d5" /><Relationship Type="http://schemas.openxmlformats.org/officeDocument/2006/relationships/notesMaster" Target="/ppt/notesMasters/notesMaster1.xml" Id="R18babe78e28c49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3656c04f274563" /><Relationship Type="http://schemas.openxmlformats.org/officeDocument/2006/relationships/notesMaster" Target="/ppt/notesMasters/notesMaster1.xml" Id="R42e1b5497e954e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module inventories for customer records, formal surveying, AI design, team roles, and product boundaries.</a:t>
            </a:r>
          </a:p>
          <a:p xmlns:a="http://schemas.openxmlformats.org/drawingml/2006/main">
            <a:r>
              <a:t>- Brand hero and logo inherited from the supplied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customer-record and surveying module inventories.</a:t>
            </a:r>
          </a:p>
          <a:p xmlns:a="http://schemas.openxmlformats.org/drawingml/2006/main">
            <a:r>
              <a:t>- This slide describes operating pain and does not claim measured financial or conversion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customer-stage, formal-floor-plan, AI workflow, and role-handoff contracts in the repository module inventories.</a:t>
            </a:r>
          </a:p>
          <a:p xmlns:a="http://schemas.openxmlformats.org/drawingml/2006/main">
            <a:r>
              <a:t>- 张女士 is the deck's illustrative customer identity, not a claimed customer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Current Mini Program customer-record and formal-plan association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docs/surveying-module/README.md and formal-surveying.md: millimetre wall graph, manual/BLE input, doors/openings, closed spaces, and formal-plan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demonstration images produced with OpenAI built-in image generation from the same empty-room reference: owner-sales-modern-cream-v2.jpg, owner-sales-modern-french-v2.jpg, owner-sales-modern-chinese-v2.jpg.</a:t>
            </a:r>
          </a:p>
          <a:p xmlns:a="http://schemas.openxmlformats.org/drawingml/2006/main">
            <a:r>
              <a:t>- Images demonstrate concept comparison only; they are not runtime screenshots or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demonstration assets inherited from the supplied source deck: empty-room to modern-cream comparison and local material replacement.</a:t>
            </a:r>
          </a:p>
          <a:p xmlns:a="http://schemas.openxmlformats.org/drawingml/2006/main">
            <a:r>
              <a:t>- Current AI workflow contract: successful results remain in the customer/formal-plan workflow and may be continued by supported stages.</a:t>
            </a:r>
          </a:p>
          <a:p xmlns:a="http://schemas.openxmlformats.org/drawingml/2006/main">
            <a:r>
              <a:t>- Demonstration images are not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Current Mini Program AI contract: required inputs, target context, progress, enterprise credits, success deduction, failure release, and retry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role, permission, customer-stage, formal-plan, and AI workflow contracts in the repository module inventories.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 inherited from the supplied source deck.</a:t>
            </a:r>
          </a:p>
          <a:p xmlns:a="http://schemas.openxmlformats.org/drawingml/2006/main">
            <a:r>
              <a:t>- Current Mini Program and Admin module inventories for field execution, organization, permissions, customers, formal plans, and AI workflow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pilot and purchasing checklist for customer discussion.</a:t>
            </a:r>
          </a:p>
          <a:p xmlns:a="http://schemas.openxmlformats.org/drawingml/2006/main">
            <a:r>
              <a:t>- Product facts grounded in current enterprise-account, role-permission, AI-credit, optional BLE-device, and service-configuration contracts.</a:t>
            </a:r>
          </a:p>
          <a:p xmlns:a="http://schemas.openxmlformats.org/drawingml/2006/main">
            <a:r>
              <a:t>- No fixed price, duration, or performance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next-step and observable pilot acceptance criteria.</a:t>
            </a:r>
          </a:p>
          <a:p xmlns:a="http://schemas.openxmlformats.org/drawingml/2006/main">
            <a:r>
              <a:t>- No customer outcome or conversion metric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Mini Program and Admin AI capabilities: reference recreation, whole-space style transformation, formal-floor-plan concept rendering, and soft-furnishing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prompt-library active revision published 2026-08-01 with 960 enabled templates.</a:t>
            </a:r>
          </a:p>
          <a:p xmlns:a="http://schemas.openxmlformats.org/drawingml/2006/main">
            <a:r>
              <a:t>- Shown inherited preview assets correspond to modern-cream rough-home renovation, French rough-home renovation, and floor-plan problem diagnosis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product boundaries: valid enterprise account and services; optional compatible authorized BLE device or manual entry; completed valid version-4 formal plan with closed space; AI permission and credits; concept-only AI output; role-scoped data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6b30581984c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fb6054dbcd4cf1" /><Relationship Type="http://schemas.openxmlformats.org/officeDocument/2006/relationships/slideLayout" Target="/ppt/slideLayouts/slideLayout1.xml" Id="R4b6900885f4a4d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6900885f4a4d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e9cc3e68d4e1d" /><Relationship Type="http://schemas.openxmlformats.org/officeDocument/2006/relationships/image" Target="/ppt/media/image.png" Id="Rbbd70cf2f0d64bfb" /><Relationship Type="http://schemas.openxmlformats.org/officeDocument/2006/relationships/image" Target="/ppt/media/image2.png" Id="Re61303748d8c444f" /><Relationship Type="http://schemas.openxmlformats.org/officeDocument/2006/relationships/notesSlide" Target="/ppt/notesSlides/notesSlide1.xml" Id="Rb27a2e28d86749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44c5dfdf94bf2" /><Relationship Type="http://schemas.openxmlformats.org/officeDocument/2006/relationships/notesSlide" Target="/ppt/notesSlides/notesSlide2.xml" Id="Re397eeb1ab4f43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1f4304da142c4" /><Relationship Type="http://schemas.openxmlformats.org/officeDocument/2006/relationships/notesSlide" Target="/ppt/notesSlides/notesSlide3.xml" Id="R20a40f411b2c46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536e4870f48b1" /><Relationship Type="http://schemas.openxmlformats.org/officeDocument/2006/relationships/image" Target="/ppt/media/image3.png" Id="Rac904369b2974b66" /><Relationship Type="http://schemas.openxmlformats.org/officeDocument/2006/relationships/image" Target="/ppt/media/image4.png" Id="R5e32c053ca784ac8" /><Relationship Type="http://schemas.openxmlformats.org/officeDocument/2006/relationships/notesSlide" Target="/ppt/notesSlides/notesSlide4.xml" Id="Rc00ef6d9e0bb49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b91c9c40245c7" /><Relationship Type="http://schemas.openxmlformats.org/officeDocument/2006/relationships/image" Target="/ppt/media/image5.png" Id="R1f47c08dc7554774" /><Relationship Type="http://schemas.openxmlformats.org/officeDocument/2006/relationships/image" Target="/ppt/media/image6.png" Id="R114c6af3e3174675" /><Relationship Type="http://schemas.openxmlformats.org/officeDocument/2006/relationships/image" Target="/ppt/media/image7.png" Id="Rb14ec63086a5430e" /><Relationship Type="http://schemas.openxmlformats.org/officeDocument/2006/relationships/notesSlide" Target="/ppt/notesSlides/notesSlide5.xml" Id="R553501910a1547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57ae4fefc4628" /><Relationship Type="http://schemas.openxmlformats.org/officeDocument/2006/relationships/image" Target="/ppt/media/image.jpeg" Id="R26c2ee3d7e664614" /><Relationship Type="http://schemas.openxmlformats.org/officeDocument/2006/relationships/image" Target="/ppt/media/image2.jpeg" Id="Rc066fbe6041a439a" /><Relationship Type="http://schemas.openxmlformats.org/officeDocument/2006/relationships/image" Target="/ppt/media/image3.jpeg" Id="R13dacaf01921453f" /><Relationship Type="http://schemas.openxmlformats.org/officeDocument/2006/relationships/notesSlide" Target="/ppt/notesSlides/notesSlide6.xml" Id="R4275a3bd34a249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88334fa36484b" /><Relationship Type="http://schemas.openxmlformats.org/officeDocument/2006/relationships/image" Target="/ppt/media/image4.jpeg" Id="R6ff17042b6074203" /><Relationship Type="http://schemas.openxmlformats.org/officeDocument/2006/relationships/image" Target="/ppt/media/image5.jpeg" Id="R465f516f7a2e4cb4" /><Relationship Type="http://schemas.openxmlformats.org/officeDocument/2006/relationships/image" Target="/ppt/media/image6.jpeg" Id="R9cf0592bff634e2d" /><Relationship Type="http://schemas.openxmlformats.org/officeDocument/2006/relationships/notesSlide" Target="/ppt/notesSlides/notesSlide7.xml" Id="R5201810f190c44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bb4057e0a4640" /><Relationship Type="http://schemas.openxmlformats.org/officeDocument/2006/relationships/image" Target="/ppt/media/image8.png" Id="Rd1839c361d294c6d" /><Relationship Type="http://schemas.openxmlformats.org/officeDocument/2006/relationships/image" Target="/ppt/media/image9.png" Id="R12859656c6264af7" /><Relationship Type="http://schemas.openxmlformats.org/officeDocument/2006/relationships/notesSlide" Target="/ppt/notesSlides/notesSlide8.xml" Id="R3823ba2316b343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333cbd6e54a8e" /><Relationship Type="http://schemas.openxmlformats.org/officeDocument/2006/relationships/notesSlide" Target="/ppt/notesSlides/notesSlide9.xml" Id="Rc0e8cb9a21c443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009da62ac4d74" /><Relationship Type="http://schemas.openxmlformats.org/officeDocument/2006/relationships/image" Target="/ppt/media/image10.png" Id="R3c44e944242d4423" /><Relationship Type="http://schemas.openxmlformats.org/officeDocument/2006/relationships/notesSlide" Target="/ppt/notesSlides/notesSlide10.xml" Id="R176c2e2bb3de4d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69cc42ad3471c" /><Relationship Type="http://schemas.openxmlformats.org/officeDocument/2006/relationships/notesSlide" Target="/ppt/notesSlides/notesSlide11.xml" Id="R0672a58549dd46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86ee106d24640" /><Relationship Type="http://schemas.openxmlformats.org/officeDocument/2006/relationships/image" Target="/ppt/media/image11.png" Id="Rf13aa20f9b8d4a36" /><Relationship Type="http://schemas.openxmlformats.org/officeDocument/2006/relationships/notesSlide" Target="/ppt/notesSlides/notesSlide12.xml" Id="R684f873bf9774e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e48424b1a4054" /><Relationship Type="http://schemas.openxmlformats.org/officeDocument/2006/relationships/image" Target="/ppt/media/image7.jpeg" Id="R74bf080f66984ae2" /><Relationship Type="http://schemas.openxmlformats.org/officeDocument/2006/relationships/image" Target="/ppt/media/image8.jpeg" Id="R5278cd5998464544" /><Relationship Type="http://schemas.openxmlformats.org/officeDocument/2006/relationships/notesSlide" Target="/ppt/notesSlides/notesSlide13.xml" Id="R423fee47be6745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6fee2d7a04d1a" /><Relationship Type="http://schemas.openxmlformats.org/officeDocument/2006/relationships/image" Target="/ppt/media/image9.jpeg" Id="R0d0561c75ec243ef" /><Relationship Type="http://schemas.openxmlformats.org/officeDocument/2006/relationships/image" Target="/ppt/media/image10.jpeg" Id="R9c43d637cebb480f" /><Relationship Type="http://schemas.openxmlformats.org/officeDocument/2006/relationships/image" Target="/ppt/media/image11.jpeg" Id="R0576020698af4338" /><Relationship Type="http://schemas.openxmlformats.org/officeDocument/2006/relationships/notesSlide" Target="/ppt/notesSlides/notesSlide14.xml" Id="R9f1fdeab58904a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e3511f72746ee" /><Relationship Type="http://schemas.openxmlformats.org/officeDocument/2006/relationships/notesSlide" Target="/ppt/notesSlides/notesSlide15.xml" Id="R5a778a94e8a74d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8C9-FE97-4F4A-837C-4A4B82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70cf2f0d64bfb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303748d8c444f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E5B3-C790-4FA2-956D-D19B137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A4E6-E547-47A5-94E7-C67D31E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量房成果沉淀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设计直接接手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客户更快看方案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3E53-EA4E-4547-8CF4-7D717E7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4CA-4FD1-49C2-B045-021FE6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家客来把客户档案、正式量房、AI 方案和团队跟进连接成同一条服务主线。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4ECD-79D1-44B1-8FA2-556B004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2AE0-ED67-4CE1-8811-08C4604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同一客户  ·  同一户型  ·  持续设计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C6C8B-A78C-497C-837F-10F53E6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老板销售版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55659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3760-22F5-4CB7-B8A5-0F88A47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老板为什么需要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8B83-CE05-424A-84D4-79BB463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真正拖慢签单的，不是设计能力，而是交接断点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0F1-B83C-42C3-AF06-7219705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客户资料、现场尺寸、设计依据和跟进责任分散后，团队会重复劳动，客户也要重复等待。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2039-7793-4800-882B-AF91BC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老板决策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AA77-D90E-45CD-BA07-7640796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8557-0E15-4606-9554-E7360F8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B0B8-61DF-4BE7-A154-F2E0D9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484E-3A1E-404C-ADF2-BD1E5C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C18D-44FC-48C7-AF85-D75DB5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88D6-D366-4496-877B-89BE90A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微信、纸张、表格分开保存，接手的人看不到完整上下文。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B5FC9-167D-4C3C-8E73-D8BDD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F1F1-DA85-418D-900B-5AD3F34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4EEB-9775-4AC3-B9BB-22F3CB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C126-1557-49A0-A1C9-022ECD1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现场手抄、拍照、转述后再录入，耗时且容易失真。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45C5D-078C-40C9-9035-66F7C9A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D63F-660C-4DC0-A0DF-659232B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BE3B-F487-431A-9F77-DEEAE34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设计师重新确认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84F2-7764-47E9-93F8-B15610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客户需求和户型没有连接，设计接手仍要从头问起。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44E7-2469-4FF2-A854-93343C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E73DA-7EE2-4E78-9204-280C780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17964-CA6A-40CB-A668-CCFDECE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老板看不见下一步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87C41-95A3-466F-9411-8997E81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客户卡在哪一步、由谁负责、已经产出了什么都不够清楚。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9D29A-A29C-466C-AA61-1DE7E9C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FE541-9A56-4C85-BF3B-A5BE0CC4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家客来解决的不是“多一个工具”，而是让每一步成果继续被下一岗位使用。</a:t>
            </a:r>
          </a:p>
        </p:txBody>
      </p:sp>
    </p:spTree>
    <p:extLst>
      <p:ext uri="{BB962C8B-B14F-4D97-AF65-F5344CB8AC3E}">
        <p14:creationId xmlns:p14="http://schemas.microsoft.com/office/powerpoint/2010/main" val="1116544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37352-BD7A-4A87-8831-3519E00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一个客户走完整流程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315E-0E5D-4E89-AAC2-4A44B05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张女士只建一次档案，沿一条服务主线持续推进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7DBF-CB63-4CAC-A206-49B173B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同一位客户、同一份正式户型、同一组设计成果，贯穿业务、量房、设计和管理。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7B19-8B3C-4134-8FA7-6AB4E7C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68D9-8D2B-41FC-85CB-DD4E23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6213-2D08-4220-B553-02286F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49665-004F-44FE-B97E-13289E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A03C-CE1B-4016-9AB8-4AEFC90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D78F-D74B-48AE-9A15-1F8CFD8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9547-5DC3-4EFD-897C-96306E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38D92-C69E-4F65-8385-EB1E58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B529D-4357-4C43-BBB6-134A5E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092A-348B-4A58-8E3E-A59679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F73C-83E1-4DAA-916A-58DD4C9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5C41-C7E9-403E-909A-2CC895B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867-D88E-4F14-8E5C-FA1BFB9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394D-EF1E-4D57-940C-5627CB4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6F26E-9B47-42F0-ACE1-92F06FA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C597B-1383-4EAD-8AA9-36623F2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64656-8F6E-42B7-AA7E-199DE52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DB99-0F1A-4EB0-965F-CCD087F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3DBCE-A5EF-4184-95CB-1705F59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534-540B-4C76-971F-7622E62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E6793-1B5B-479D-BF77-FBC5E8C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34D56-B2F4-4665-A609-09048B7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90C0D-BE13-4E8B-A8EC-89F28AE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62F9-5B38-4091-91DF-0B79D0E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 AI 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A8B0B-A6E2-4005-8C0A-6C8BD58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25680-6193-4EFF-ADF7-B0ECEDE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2664-8F50-4FF6-84C6-8E1F10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多方案结果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FD9B-96DF-43D1-881B-F0DB90A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25D5-F99E-4AC9-A1F6-04CFF2A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034A-684B-4BDA-9013-7EB2898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沟通与深化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B921-076E-4BA9-AAEA-DC66219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78F25B-D1C2-4163-91A3-F4C13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385-385F-4214-95F5-E4E09E4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修改记录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16536-AD1B-431A-AC31-F19D6E7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4F41-37D2-40E5-9FE1-5E27E8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61AF8-A9C2-4BA3-8266-F49B1D6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8381D-8696-4A75-AF8E-649C5A1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9F650-79B0-4F24-8CDD-CBE11E2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79F38-2540-4EB0-BFB3-5196AE8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E5185-2CC0-46F9-9EFE-0843623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A0A6D-6586-47A2-9CBB-559CD12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一次建档  ·  一次量房  ·  多轮设计  ·  全程可追踪</a:t>
            </a:r>
          </a:p>
        </p:txBody>
      </p:sp>
    </p:spTree>
    <p:extLst>
      <p:ext uri="{BB962C8B-B14F-4D97-AF65-F5344CB8AC3E}">
        <p14:creationId xmlns:p14="http://schemas.microsoft.com/office/powerpoint/2010/main" val="89519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A8CE-E12F-4944-AE6F-5FF2EBD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94E9-6C03-437F-BF66-5EB88B7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一条客户线索，就是量房、设计和跟进的共同入口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0566-89DB-433E-A9F4-642E5AB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张女士的称呼、电话、小区、面积和偏好只录入一次，后续成果继续关联在同一客户下。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7A0F-E168-472C-ABDA-B3DA98F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717F-68AB-421E-90C1-4BAEE7B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04369b2974b66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2c053ca784ac8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FF6D-AE32-499B-810D-D3CB8A3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55BF-C403-4FBA-A529-026BBFE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1B5C-20C3-4B80-B1B0-FE04A65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客户资料一次建全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235C-5869-4524-9773-AEBADCC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称呼、电话、小区、面积、偏好与当前阶段集中保存。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6E6-CAD4-418D-A7E3-6E53B5E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7BF88-6E01-4B14-BBBA-E20C045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量房和方案继续关联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0DB6-ADA3-48D6-B918-BE1715A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正式户型、AI 方案和更新时间都回到同一客户档案。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1AAF-CDAB-4FA4-BECD-EA44ADD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22D5-796D-491A-9FE2-40C756B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下一步更清楚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B799-7A32-40A9-8B45-B24710E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按客户阶段筛选需要量房、设计、跟进或回访的人。</a:t>
            </a:r>
          </a:p>
        </p:txBody>
      </p:sp>
    </p:spTree>
    <p:extLst>
      <p:ext uri="{BB962C8B-B14F-4D97-AF65-F5344CB8AC3E}">
        <p14:creationId xmlns:p14="http://schemas.microsoft.com/office/powerpoint/2010/main" val="1792774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8AC0-F8D4-4F98-BE5B-676E5EA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C738-8B93-4BB5-9783-CFE9EDA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现场量房的成果，要能直接进入后续设计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36E-73B9-4785-8020-3F2937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手工录入或授权蓝牙都形成毫米制墙图；墙体、门窗和闭合空间保存到张女士的客户档案。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8920-F20E-4082-96CF-D8ABC92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798B-7AF1-4AC1-9003-D69CB9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7c08dc7554774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c6af3e3174675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ec63086a5430e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853-8881-4FCE-8A34-67DCDD1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2319-38F2-41F1-946B-AAEB3E8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7A61-E342-47E4-8078-75932A1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AB606-E98E-4EA0-A3F1-3D085D2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4103-FCC6-4A7E-9D7F-7FF9256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5A8A-D3ED-405F-9D9D-555ECE6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B124A-4115-470F-B837-93739B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AF88A-F9BD-4F4D-B477-D02740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637-6439-4222-BC6A-6EE9868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可继续量房或设计</a:t>
            </a:r>
          </a:p>
        </p:txBody>
      </p:sp>
    </p:spTree>
    <p:extLst>
      <p:ext uri="{BB962C8B-B14F-4D97-AF65-F5344CB8AC3E}">
        <p14:creationId xmlns:p14="http://schemas.microsoft.com/office/powerpoint/2010/main" val="394300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同空间多方案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同一间客厅，保持结构不变，直接比较三种设计语言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以下为张女士客厅的 AI 演示效果：使用同一空房基准，仅改变硬装、材质、家具与灯光。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方案比较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 · 温暖克制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现代法式 · 精致明亮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现代中式 · 沉静留白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同一份空间依据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同一镜头、结构与开口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只比较风格表达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用途说明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用于概念方案比较与客户沟通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不是施工图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2ee3d7e664614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6fbe6041a439a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acaf01921453f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C515-0403-4D4F-A2F6-D3BA2DB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持续深化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CF24-434D-40FD-9785-F893F1B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从空房到方案，再到局部材质修改，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同一客户可以持续深化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31F6-CFCA-4970-AD76-517576C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张女士客厅的每次生成都保留在同一设计旅程中，设计师可以比较、选择和继续修改。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08DA-6553-4DDB-9A4C-067C23D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持续深化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3BFF-A8F3-4263-986A-0983B95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5BE8-9666-42BA-A35B-75E186F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5722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71820"/>
          </a:solidFill>
          <a:ln xmlns:a="http://schemas.openxmlformats.org/drawingml/2006/main" w="9525">
            <a:solidFill>
              <a:srgbClr val="353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17042b6074203"/>
          <a:stretch xmlns:a="http://schemas.openxmlformats.org/drawingml/2006/main"/>
        </p:blipFill>
        <p:spPr>
          <a:xfrm xmlns:a="http://schemas.openxmlformats.org/drawingml/2006/main" flipH="0" flipV="0">
            <a:off x="664178" y="2095500"/>
            <a:ext cx="6272593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3367-B7C6-49B2-95ED-9195402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22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375B-05C8-4291-A343-B140C25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空房 → 现代奶油：建立第一版沟通方案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971E-A918-4179-9E23-DA9130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8120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f516f7a2e4cb4"/>
          <a:stretch xmlns:a="http://schemas.openxmlformats.org/drawingml/2006/main"/>
        </p:blipFill>
        <p:spPr>
          <a:xfrm xmlns:a="http://schemas.openxmlformats.org/drawingml/2006/main" flipH="0" flipV="0">
            <a:off x="7467600" y="207645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9168-9371-4D9A-9073-F38233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211455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0592bff634e2d"/>
          <a:stretch xmlns:a="http://schemas.openxmlformats.org/drawingml/2006/main"/>
        </p:blipFill>
        <p:spPr>
          <a:xfrm xmlns:a="http://schemas.openxmlformats.org/drawingml/2006/main" flipH="0" flipV="0">
            <a:off x="9639300" y="2336800"/>
            <a:ext cx="1962150" cy="1308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64568-0B20-4F22-8623-781639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45B6-EDDD-461D-9FDD-9138F86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同空间 · 第一版方案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B505-0227-4C3B-86A1-A01245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755F-74DD-40E8-8104-8680B7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624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同方案 · 局部材质替换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DEA4-3B89-4244-8B40-F2A4850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286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E367-C300-4205-85C1-2271FA7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D3C69-5FB5-4754-814F-676ABF1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E0DC-B6FA-4134-91C2-945B40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AAF2-4952-4E41-8111-2873C2A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41B5-70D4-49C5-AA79-F1C9CD6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15B10-E4B7-49B3-95D0-FDB6965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AI 演示效果；用于方案沟通与比较，不作为施工图。</a:t>
            </a:r>
          </a:p>
        </p:txBody>
      </p:sp>
    </p:spTree>
    <p:extLst>
      <p:ext uri="{BB962C8B-B14F-4D97-AF65-F5344CB8AC3E}">
        <p14:creationId xmlns:p14="http://schemas.microsoft.com/office/powerpoint/2010/main" val="1340416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60ED-0C83-4913-8B3E-192C2F4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实际任务链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D0CE-8BCD-4B1C-804F-9E67291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真实任务链同时管理素材、进度、点数与异常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B95D-08F8-419E-8987-473B8D8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设计师提交前看清所需图片、目标风格和点数预估；生成中持续查看进度，失败释放点数并可重试。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AD88-C9E8-4010-BC60-28A1D27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任务管理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84F4-906A-4CF7-AD48-0BAF867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0617-EE91-41B8-A43C-528F5AE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3638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39c361d294c6d"/>
          <a:stretch xmlns:a="http://schemas.openxmlformats.org/drawingml/2006/main"/>
        </p:blipFill>
        <p:spPr>
          <a:xfrm xmlns:a="http://schemas.openxmlformats.org/drawingml/2006/main">
            <a:off x="1315183" y="2019300"/>
            <a:ext cx="1617785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4FDC-61F1-4FAE-841D-A9FB2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423B-67A9-4F0E-8B47-68047A1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提交前：素材与范围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4B53B-0C02-41B6-82FC-AAC3162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762500" cy="3638550"/>
          </a:xfrm>
          <a:prstGeom xmlns:a="http://schemas.openxmlformats.org/drawingml/2006/main" prst="roundRect">
            <a:avLst>
              <a:gd name="adj" fmla="val 5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59656c6264af7"/>
          <a:stretch xmlns:a="http://schemas.openxmlformats.org/drawingml/2006/main"/>
        </p:blipFill>
        <p:spPr>
          <a:xfrm xmlns:a="http://schemas.openxmlformats.org/drawingml/2006/main">
            <a:off x="4724400" y="2019300"/>
            <a:ext cx="350520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9C1F-771A-4420-BED0-8052167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86425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CD58-5473-4DA8-A4BE-088EA6D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生成中：进度与异常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04CA6-1BBC-4BFA-812B-06613B4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24100" cy="32575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874D-40A3-47C0-AB88-5CC382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任务可控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DA52-5FD0-4DF9-BF1A-91AE94B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所需素材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目标风格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设计范围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点数预估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C7E-608C-4B15-A949-EF1068F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90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95B9-F57F-40B1-9FB9-04C645F1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成功扣点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失败释放 · 可重试</a:t>
            </a:r>
          </a:p>
        </p:txBody>
      </p:sp>
    </p:spTree>
    <p:extLst>
      <p:ext uri="{BB962C8B-B14F-4D97-AF65-F5344CB8AC3E}">
        <p14:creationId xmlns:p14="http://schemas.microsoft.com/office/powerpoint/2010/main" val="2129478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77740-D791-4D62-8E6E-9E0D8A8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团队接力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D905-B822-41C6-ABA4-60C6CC3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量房师、设计师和管理者围绕同一客户接力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2C97-3957-42CD-B1EB-7031FB5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张女士不需要重复建档；上一岗位交付的成果，直接成为下一岗位的工作起点。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9CAE-D55D-479C-999E-F9551AC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团队接力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5681-9132-4E47-AA64-CE0FF4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F13A-0A50-4886-9B44-41EBF52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869-3802-4619-B15F-6B19B4D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59A-AA0D-48B1-9895-F88CD5D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14C3-7E0E-4E5C-9F1D-2A9AA40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8279-7C7A-4324-9B5F-64DFB47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D8D7-5C4F-4BED-B02D-35C5867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4E54-74A5-411F-AE19-3F6D62C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FF73-6D77-4674-A844-56493D7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9357-CAB8-41BA-9E2D-EF92F77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C9973-A417-43F2-A292-EC77F9E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F6B49-A4A1-4CAF-8E73-30178C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CD2F-0925-4F03-9C9E-9428626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BD1D-0BE2-48B6-AEFD-AFB514A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接收正式户型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2CAA6-236A-4A4B-896E-6E58D99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C7543-D331-43E6-A376-2923687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承接：不重新录入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7E9B0-757F-41F0-830F-E0F1E46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6620-1C15-41DF-941F-B7F18C6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9C2D4-7FCA-4853-B2A4-64D0C55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4563-0AE1-4C95-ABB0-0E1B895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7F18-2C7A-48B8-8ED9-FE214D3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配置成员与权限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查看阶段与进展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E1B8-78AF-47D9-BA8C-370BA2A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E5990-F1BD-4ED5-A81D-3193600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保障：角色边界清晰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DFCA-1CFC-404A-B801-3747B4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6EDE0-2376-40B2-AE71-4937174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同一客户、同一空间依据、同一方案旅程。</a:t>
            </a:r>
          </a:p>
        </p:txBody>
      </p:sp>
    </p:spTree>
    <p:extLst>
      <p:ext uri="{BB962C8B-B14F-4D97-AF65-F5344CB8AC3E}">
        <p14:creationId xmlns:p14="http://schemas.microsoft.com/office/powerpoint/2010/main" val="1301371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CDB61-72F1-438B-BE42-DF78B4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两端分工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F19-2C31-4FD2-A3A1-067DD3C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小程序服务现场高频动作，企业后台负责组织与全局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E5D6E-01B5-4578-A1AB-A2CE62E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两端共享同一企业和客户上下文，但不把复杂管理工作塞进现场操作。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5B54-962A-4381-9593-09FE3B9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CCC-3DD3-4337-8DC1-0772F8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1049-7766-480D-8B5B-3B33421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AE13-FBCA-4539-A6E4-429BA02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5BD-1FC7-4D86-97A4-CECF6D7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高频执行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4e944242d4423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540B-1D2A-42D5-AE18-53E788F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B6DF-B1A3-4B5B-A039-5A4FF9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7921-8821-413B-A891-83B18CD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录入客户、进入正式量房、查看本人待办。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CBD1-7AC3-4980-8117-EF968F9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6D974-3EFE-474A-9882-55405A6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E183-E8DD-4339-B7DF-0D6EE90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查看正式户型、方案进度并继续当前任务。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FE78-2677-43DD-8AC8-6D930D0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ABB0-57C5-4ECA-8D03-78C05D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5057-23FC-470F-AB11-FA0691E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集中管理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FD-2C8C-4FC4-9497-549A490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547E6-B5BE-401C-9CD7-49D963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624A5-70A2-4412-88AC-AF6BBB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组织与权限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1924-08F4-4272-9CD0-4FC191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成员、岗位与访问范围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BB358-41CC-4536-BEE1-7743D24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27A2-AAB7-420B-B5DA-04F742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ECA94-CFC8-4488-B473-9CD2C7A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客户与资产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7A448-27EB-4178-AAF8-663151D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客户、正式户型、测量记录与阶段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3C5-CEB1-4ABA-994C-9902B3E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3C63C-52E5-4353-9EF2-6DCC5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B5B46-9382-4B40-ACD2-A3BA13B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创作与深化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6562F-7FED-48F0-B409-6D6CB5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方案版本、历史任务和后续深化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39D5E-BE2C-4D21-8E03-C8CEF9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老板看全局，员工做当下；客户和空间资料不重复建立。</a:t>
            </a:r>
          </a:p>
        </p:txBody>
      </p:sp>
    </p:spTree>
    <p:extLst>
      <p:ext uri="{BB962C8B-B14F-4D97-AF65-F5344CB8AC3E}">
        <p14:creationId xmlns:p14="http://schemas.microsoft.com/office/powerpoint/2010/main" val="438969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10 / 试点与采购构成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先用一个真实客户闭环验证，再决定扩大使用范围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建议以单门店、单小组为最小试点单元；正式报价按账号、AI 点数、可选设备和实施范围确认。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选择一家门店和一组真实客户流程。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参与角色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业务、量房、设计和管理各明确一名负责人。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企业账号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开通组织、角色与客户数据访问范围。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使用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确认可用点数、任务价格和失败释放规则。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可选设备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需要时配置兼容并授权的蓝牙测距设备。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实施支持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完成培训、现场演示与试点复盘。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试点方案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aa20f9b8d4a36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25C-D3F4-4767-9632-6516E7A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93A6-D6CF-48A8-B7C3-B351DAB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先走通张女士这一条真实客户流程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55D4-3AF2-41AB-A71E-2AE6965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不先讨论所有功能，先验证客户资料、正式量房、AI 方案和团队接续能否在一家门店顺利运行。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6BA6-5FC1-4391-AF16-EB180F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0C20-97A3-498D-AA98-B723E93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B451-7F7C-4B90-B148-6249465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E0BC-12F0-416B-9E3D-205B533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确认试点团队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4400-E73C-4BFC-A8A0-2FB7AFB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AA317-140D-43CD-916E-A7DE367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123E2-A6EC-4E5A-BFA5-AB76563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准备企业账号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028C-08B9-47EE-B60F-6FEE38F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04E5-017C-4BA2-BC90-CB34366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1AE69-CEB3-439F-81CD-7A86199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选择真实客户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BFF-6D0C-4F66-8201-2548FE2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EE49-3ABE-431A-9699-A03EE41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9D47-1514-4EF7-9862-63935CF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A948E-F8FF-47FE-8C0C-9C3925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DDBD-2532-4E2E-A99A-64FFB49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4B66-5CA3-46EA-ABB9-044992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生成并沟通方案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CE9F7-661B-4F43-97E8-17E2D0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9563-8A0C-4EB4-B1A9-C6DC9D3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B341-9FCB-4995-A78F-17A7D6C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复盘是否扩大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03B8C-69C9-48F1-9AC4-6590FCB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D5660-DF7C-4E45-85A5-BA1466A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试点成功标准：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9D58-46DB-4BB2-BBCC-5B4EEA3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不重复建档 · 正式户型可被设计直接使用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结果留在同一客户下 · 管理者看得见阶段与责任人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3ACF-0750-4EA7-9D29-8457285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老板销售版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C8C56-5EF7-494D-9C1B-92BA79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9140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2B67-369F-45BD-BC9C-C1E1ED5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A / 四类 AI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B82A-4257-4A5D-AD3F-69EFE24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常用家装任务已经模板化，设计师不必每次从零写提示词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37DF-C842-4DAA-A68A-D082159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主销售过程只讲客户最容易理解的四类能力；完整模板库按企业需要筛选使用。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69DB-B579-44FF-890A-4A61FBE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9033-F186-4D66-BC4D-C94B7C3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A874-4062-448B-9FA2-7D679A8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f080f66984ae2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A7E4-347D-47CE-9530-397CFD3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2762-81F9-46B9-A8D7-B66AC7E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毛坯变完整方案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DFF1-7D8E-4391-9013-33791F2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8cd5998464544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BFDF-E5AA-4640-B7CA-D2C264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DF86-267B-42BB-92C5-2A43A4A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户型与空间诊断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31D6-6698-47EB-8068-48147A5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1903-4D4B-43F1-98C0-5823EA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6C2A-B8ED-4FFB-B45E-6D449B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16C5-EB7D-4702-939F-E2166D2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毛坯装修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5C3E-2DAB-44D9-9D84-DD4E3B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从空房或毛坯底图生成完整硬装、家具与灯光表达。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7D260-8119-4DBA-8DD9-EE9FA7C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BB6A-D456-4412-8D5E-BAED4F2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FEC9-AA6C-430D-A4A2-6C3A88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CDB0B-388D-422D-91DC-9B8F4D2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4CEA-E39C-4794-81EE-BF4C584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沿用参考图的色彩、材质与家具语言，适配当前空间。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8BF8E-7DB9-4DB9-9D4C-7F482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BF407-1912-429C-8411-5CBE964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0877-F281-4FC0-BE03-EA656D5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4C9A4-3B9C-4375-AA31-F70155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平面与诊断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6C188-C112-44B9-AA4E-5F52083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彩化户型、识别布局问题，辅助整屋方案沟通。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DBCF0-9F87-4FC8-A227-79F07D2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2EEF-7CE9-4419-B461-D9E248C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69E4-BE6F-432F-9003-5674A5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CFEB3-6FF0-43B3-A62C-F9A1548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局部深化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6182B-A028-44BD-B7CD-2180CD4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材质替换、软装搭配与局部修改，支持持续迭代。</a:t>
            </a:r>
          </a:p>
        </p:txBody>
      </p:sp>
    </p:spTree>
    <p:extLst>
      <p:ext uri="{BB962C8B-B14F-4D97-AF65-F5344CB8AC3E}">
        <p14:creationId xmlns:p14="http://schemas.microsoft.com/office/powerpoint/2010/main" val="16969739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B / 模板库证据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模板数量不是卖点，稳定覆盖真实任务才有价值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当前启用 960 个模板；以下仅展示现代奶油、法式毛坯装修和户型问题诊断三个数据库示例。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561c75ec243ef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现代奶油毛坯装修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3d637cebb480f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法式毛坯装修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6020698af4338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户型问题诊断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当前模板库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2026-08-01 发布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960 个启用模板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筛选原则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家装优先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可比较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客户易理解</a:t>
            </a:r>
          </a:p>
        </p:txBody>
      </p:sp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附录 C / 使用条件与边界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账号、户型、权限与服务准备就绪后，才能顺利运行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这些是产品正常运行的前提，也是试点开始前需要共同确认的边界。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企业账号可正常使用，网络和服务连接有效。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使用兼容且已分配授权的设备；也可手工录入。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户型数据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墙体有效并形成闭合空间，方可进入对应设计流程。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企业已开通权限，并具备可用点数和有效服务配置。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方案用途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用于概念表达、方案比较和客户沟通，不作为施工图。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员工按企业角色和本人权限访问客户与户型数据。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2026-08-12T18:16:51.7170000Z</dcterms:created>
  <dcterms:modified xsi:type="dcterms:W3CDTF">2026-08-12T18:16:51.7170000Z</dcterms:modified>
</coreProperties>
</file>
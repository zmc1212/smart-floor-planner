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cf88185e72fb45e0" /><Relationship Type="http://schemas.openxmlformats.org/officeDocument/2006/relationships/extended-properties" Target="/docProps/app.xml" Id="Rd6cce077a8d14486" /><Relationship Type="http://schemas.openxmlformats.org/officeDocument/2006/relationships/officeDocument" Target="/ppt/presentation.xml" Id="R3760283bdeb14edd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01e1541a91841c2"/>
  </p:sldMasterIdLst>
  <p:notesMasterIdLst>
    <p:notesMasterId xmlns:r="http://schemas.openxmlformats.org/officeDocument/2006/relationships" r:id="R63d0950f95014e34"/>
  </p:notesMasterIdLst>
  <p:sldIdLst>
    <p:sldId xmlns:r="http://schemas.openxmlformats.org/officeDocument/2006/relationships" id="256" r:id="R490702e4bcd94daa"/>
    <p:sldId xmlns:r="http://schemas.openxmlformats.org/officeDocument/2006/relationships" id="257" r:id="R379d421ae35140bb"/>
    <p:sldId xmlns:r="http://schemas.openxmlformats.org/officeDocument/2006/relationships" id="258" r:id="Rd7d9000e8bbb4774"/>
    <p:sldId xmlns:r="http://schemas.openxmlformats.org/officeDocument/2006/relationships" id="259" r:id="Re19bf2c906ac4ca0"/>
    <p:sldId xmlns:r="http://schemas.openxmlformats.org/officeDocument/2006/relationships" id="260" r:id="Rba940bbd9f4f4241"/>
    <p:sldId xmlns:r="http://schemas.openxmlformats.org/officeDocument/2006/relationships" id="261" r:id="R18dae99ef4f74b7a"/>
    <p:sldId xmlns:r="http://schemas.openxmlformats.org/officeDocument/2006/relationships" id="262" r:id="R6997034e454c4967"/>
    <p:sldId xmlns:r="http://schemas.openxmlformats.org/officeDocument/2006/relationships" id="263" r:id="Rc3ee14b0793242df"/>
    <p:sldId xmlns:r="http://schemas.openxmlformats.org/officeDocument/2006/relationships" id="264" r:id="R3548e9bf6bfe45bf"/>
    <p:sldId xmlns:r="http://schemas.openxmlformats.org/officeDocument/2006/relationships" id="265" r:id="R238ff05e9ac14b77"/>
    <p:sldId xmlns:r="http://schemas.openxmlformats.org/officeDocument/2006/relationships" id="266" r:id="R49d2e79c938f4380"/>
    <p:sldId xmlns:r="http://schemas.openxmlformats.org/officeDocument/2006/relationships" id="267" r:id="R5b4e81fd5ac147f5"/>
    <p:sldId xmlns:r="http://schemas.openxmlformats.org/officeDocument/2006/relationships" id="268" r:id="R70827bc3e8fa4949"/>
    <p:sldId xmlns:r="http://schemas.openxmlformats.org/officeDocument/2006/relationships" id="269" r:id="Rc0d3be1b2a0a4d63"/>
    <p:sldId xmlns:r="http://schemas.openxmlformats.org/officeDocument/2006/relationships" id="270" r:id="R70e7cee50ef8464e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592d8116e8a14c09" /><Relationship Type="http://schemas.openxmlformats.org/officeDocument/2006/relationships/slideMaster" Target="/ppt/slideMasters/slideMaster1.xml" Id="R301e1541a91841c2" /><Relationship Type="http://schemas.openxmlformats.org/officeDocument/2006/relationships/notesMaster" Target="/ppt/notesMasters/notesMaster1.xml" Id="R63d0950f95014e34" /><Relationship Type="http://schemas.openxmlformats.org/officeDocument/2006/relationships/presProps" Target="/ppt/presProps.xml" Id="Rf311fc76d14c4f10" /><Relationship Type="http://schemas.openxmlformats.org/officeDocument/2006/relationships/tableStyles" Target="/ppt/tableStyles.xml" Id="R4b9b1e1853b24363" /><Relationship Type="http://schemas.openxmlformats.org/officeDocument/2006/relationships/slide" Target="/ppt/slides/slide1.xml" Id="R490702e4bcd94daa" /><Relationship Type="http://schemas.openxmlformats.org/officeDocument/2006/relationships/slide" Target="/ppt/slides/slide2.xml" Id="R379d421ae35140bb" /><Relationship Type="http://schemas.openxmlformats.org/officeDocument/2006/relationships/slide" Target="/ppt/slides/slide3.xml" Id="Rd7d9000e8bbb4774" /><Relationship Type="http://schemas.openxmlformats.org/officeDocument/2006/relationships/slide" Target="/ppt/slides/slide4.xml" Id="Re19bf2c906ac4ca0" /><Relationship Type="http://schemas.openxmlformats.org/officeDocument/2006/relationships/slide" Target="/ppt/slides/slide5.xml" Id="Rba940bbd9f4f4241" /><Relationship Type="http://schemas.openxmlformats.org/officeDocument/2006/relationships/slide" Target="/ppt/slides/slide6.xml" Id="R18dae99ef4f74b7a" /><Relationship Type="http://schemas.openxmlformats.org/officeDocument/2006/relationships/slide" Target="/ppt/slides/slide7.xml" Id="R6997034e454c4967" /><Relationship Type="http://schemas.openxmlformats.org/officeDocument/2006/relationships/slide" Target="/ppt/slides/slide8.xml" Id="Rc3ee14b0793242df" /><Relationship Type="http://schemas.openxmlformats.org/officeDocument/2006/relationships/slide" Target="/ppt/slides/slide9.xml" Id="R3548e9bf6bfe45bf" /><Relationship Type="http://schemas.openxmlformats.org/officeDocument/2006/relationships/slide" Target="/ppt/slides/slide10.xml" Id="R238ff05e9ac14b77" /><Relationship Type="http://schemas.openxmlformats.org/officeDocument/2006/relationships/slide" Target="/ppt/slides/slide11.xml" Id="R49d2e79c938f4380" /><Relationship Type="http://schemas.openxmlformats.org/officeDocument/2006/relationships/slide" Target="/ppt/slides/slide12.xml" Id="R5b4e81fd5ac147f5" /><Relationship Type="http://schemas.openxmlformats.org/officeDocument/2006/relationships/slide" Target="/ppt/slides/slide13.xml" Id="R70827bc3e8fa4949" /><Relationship Type="http://schemas.openxmlformats.org/officeDocument/2006/relationships/slide" Target="/ppt/slides/slide14.xml" Id="Rc0d3be1b2a0a4d63" /><Relationship Type="http://schemas.openxmlformats.org/officeDocument/2006/relationships/slide" Target="/ppt/slides/slide15.xml" Id="R70e7cee50ef8464e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fb2687b078304001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dffaa167876045e8" /><Relationship Type="http://schemas.openxmlformats.org/officeDocument/2006/relationships/notesMaster" Target="/ppt/notesMasters/notesMaster1.xml" Id="Rd877e1eaad1d48cc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f67042513a0545b3" /><Relationship Type="http://schemas.openxmlformats.org/officeDocument/2006/relationships/notesMaster" Target="/ppt/notesMasters/notesMaster1.xml" Id="Rb169b69e3c2d40f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d638709710ab4248" /><Relationship Type="http://schemas.openxmlformats.org/officeDocument/2006/relationships/notesMaster" Target="/ppt/notesMasters/notesMaster1.xml" Id="R9b7bf26a00ad4f19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775d811ce0304f79" /><Relationship Type="http://schemas.openxmlformats.org/officeDocument/2006/relationships/notesMaster" Target="/ppt/notesMasters/notesMaster1.xml" Id="R16d1d1f392054234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f7c2ac5f69ee4f1c" /><Relationship Type="http://schemas.openxmlformats.org/officeDocument/2006/relationships/notesMaster" Target="/ppt/notesMasters/notesMaster1.xml" Id="R78222cd855804ff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85938b5b3ea40c4" /><Relationship Type="http://schemas.openxmlformats.org/officeDocument/2006/relationships/notesMaster" Target="/ppt/notesMasters/notesMaster1.xml" Id="R98425b47e0194f84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6299364c6b5d464f" /><Relationship Type="http://schemas.openxmlformats.org/officeDocument/2006/relationships/notesMaster" Target="/ppt/notesMasters/notesMaster1.xml" Id="R4268e2b50cb646fc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d4012c26dbad47d1" /><Relationship Type="http://schemas.openxmlformats.org/officeDocument/2006/relationships/notesMaster" Target="/ppt/notesMasters/notesMaster1.xml" Id="R7bfd82f33f094689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267522151cc1411f" /><Relationship Type="http://schemas.openxmlformats.org/officeDocument/2006/relationships/notesMaster" Target="/ppt/notesMasters/notesMaster1.xml" Id="R86a95dbca1ae4640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639eac8ea35d4506" /><Relationship Type="http://schemas.openxmlformats.org/officeDocument/2006/relationships/notesMaster" Target="/ppt/notesMasters/notesMaster1.xml" Id="Re710045babec410a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2d449a3940524577" /><Relationship Type="http://schemas.openxmlformats.org/officeDocument/2006/relationships/notesMaster" Target="/ppt/notesMasters/notesMaster1.xml" Id="R71132e5c1b4245ec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4fbde18e515c4618" /><Relationship Type="http://schemas.openxmlformats.org/officeDocument/2006/relationships/notesMaster" Target="/ppt/notesMasters/notesMaster1.xml" Id="R50900335bf704151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f45a66f731eb414f" /><Relationship Type="http://schemas.openxmlformats.org/officeDocument/2006/relationships/notesMaster" Target="/ppt/notesMasters/notesMaster1.xml" Id="Rc777ea1d9a0d4d5c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05e4d766a034812" /><Relationship Type="http://schemas.openxmlformats.org/officeDocument/2006/relationships/notesMaster" Target="/ppt/notesMasters/notesMaster1.xml" Id="Rb172df3bd4754ade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6b6ea78b88964c96" /><Relationship Type="http://schemas.openxmlformats.org/officeDocument/2006/relationships/notesMaster" Target="/ppt/notesMasters/notesMaster1.xml" Id="Rfd1a88018ded46b9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Brand visuals extracted from the local source deck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Product screenshots extracted from source slide 9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Formal surveying screenshots extracted from source slide 10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OpenAI built-in image generation, same-space home-renovation demo set: empty room, modern cream, modern French, modern Chinese.</a:t>
            </a:r>
          </a:p>
          <a:p xmlns:a="http://schemas.openxmlformats.org/drawingml/2006/main">
            <a:r>
              <a:t>- AI-generated demonstration effects; not live Mini Program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PostgreSQL prompt library active revision 17 and template previews.</a:t>
            </a:r>
          </a:p>
          <a:p xmlns:a="http://schemas.openxmlformats.org/drawingml/2006/main">
            <a:r>
              <a:t>- OpenAI built-in image generation: before/after style and material-replacement examples.</a:t>
            </a:r>
          </a:p>
          <a:p xmlns:a="http://schemas.openxmlformats.org/drawingml/2006/main">
            <a:r>
              <a:t>- AI-generated demonstration effects; not live runtime screenshots.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Full approved design comps: all-pages-ip-v3/14-ai-design-create-v3.png; ai-design-project-state-matrix-v4.png; credit behavior verified against current AI requirements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Role and acquisition boundaries verified against measurer–designer acquisition contract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Mini Program screenshot extracted from source slide 9; admin responsibilities verified against current module inventory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Capability boundaries verified against current Mini Program, admin, formal surveying, and AI module documentation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PostgreSQL AI prompt library active revision 17 (published 2026-08-01): 960 enabled templates; examples include IDs 906, 420, 642, 930, and 618.</a:t>
            </a:r>
          </a:p>
          <a:p xmlns:a="http://schemas.openxmlformats.org/drawingml/2006/main">
            <a:r>
              <a:t>- Preview imagery from the same internal prompt-template records.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Internal PostgreSQL AI prompt library active revision 17 (published 2026-08-01), 960 enabled templates.</a:t>
            </a:r>
          </a:p>
          <a:p xmlns:a="http://schemas.openxmlformats.org/drawingml/2006/main">
            <a:r>
              <a:t>- Shown template previews: ID 906 modern cream rough-home renovation; ID 893 French rough-home renovation; ID 642 floor-plan renovation analysis.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[Sources]</a:t>
            </a:r>
          </a:p>
          <a:p xmlns:a="http://schemas.openxmlformats.org/drawingml/2006/main">
            <a:r>
              <a:t>- 家客来-客户演示稿-内容改进计划-2026-08.md</a:t>
            </a:r>
          </a:p>
          <a:p xmlns:a="http://schemas.openxmlformats.org/drawingml/2006/main">
            <a:r>
              <a:t>- 家客来-产品说明书-内容优化版-16比9横版-2026-08.pdf</a:t>
            </a:r>
          </a:p>
          <a:p xmlns:a="http://schemas.openxmlformats.org/drawingml/2006/main">
            <a:r>
              <a:t>- Current repository module inventories and runtime labels</a:t>
            </a:r>
          </a:p>
          <a:p xmlns:a="http://schemas.openxmlformats.org/drawingml/2006/main">
            <a:r>
              <a:t>- Capability boundaries verified against current Mini Program, admin, formal surveying, and AI module documentation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65acd508eb4b1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b7bee1348bf5452f" /><Relationship Type="http://schemas.openxmlformats.org/officeDocument/2006/relationships/slideLayout" Target="/ppt/slideLayouts/slideLayout1.xml" Id="Rc668337bd293483a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c668337bd293483a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5953b249794497e" /><Relationship Type="http://schemas.openxmlformats.org/officeDocument/2006/relationships/image" Target="/ppt/media/image.png" Id="R5374c53f37014970" /><Relationship Type="http://schemas.openxmlformats.org/officeDocument/2006/relationships/image" Target="/ppt/media/image2.png" Id="R2f2f8ffb29574f0d" /><Relationship Type="http://schemas.openxmlformats.org/officeDocument/2006/relationships/notesSlide" Target="/ppt/notesSlides/notesSlide1.xml" Id="R1f66b1a80ea44a24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8f4f2197bd24460" /><Relationship Type="http://schemas.openxmlformats.org/officeDocument/2006/relationships/notesSlide" Target="/ppt/notesSlides/notesSlide2.xml" Id="Rb636df393ce84310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ff4d81cdcb04e54" /><Relationship Type="http://schemas.openxmlformats.org/officeDocument/2006/relationships/notesSlide" Target="/ppt/notesSlides/notesSlide3.xml" Id="R07a09ce86fa047e8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864fd407cd64a4c" /><Relationship Type="http://schemas.openxmlformats.org/officeDocument/2006/relationships/image" Target="/ppt/media/image3.png" Id="Rd849068c5eee47b2" /><Relationship Type="http://schemas.openxmlformats.org/officeDocument/2006/relationships/image" Target="/ppt/media/image4.png" Id="R21b2406679f945d1" /><Relationship Type="http://schemas.openxmlformats.org/officeDocument/2006/relationships/notesSlide" Target="/ppt/notesSlides/notesSlide4.xml" Id="R0d846257218f42dc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f369debe61a471d" /><Relationship Type="http://schemas.openxmlformats.org/officeDocument/2006/relationships/image" Target="/ppt/media/image5.png" Id="Rbb68fafc734647f7" /><Relationship Type="http://schemas.openxmlformats.org/officeDocument/2006/relationships/image" Target="/ppt/media/image6.png" Id="R856aa4f946e74a0b" /><Relationship Type="http://schemas.openxmlformats.org/officeDocument/2006/relationships/image" Target="/ppt/media/image7.png" Id="Rb872721f6f0c4204" /><Relationship Type="http://schemas.openxmlformats.org/officeDocument/2006/relationships/notesSlide" Target="/ppt/notesSlides/notesSlide5.xml" Id="R7af601e8e8044ba9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b9247e7d764d42" /><Relationship Type="http://schemas.openxmlformats.org/officeDocument/2006/relationships/image" Target="/ppt/media/image.jpeg" Id="R56031797a57f4ac0" /><Relationship Type="http://schemas.openxmlformats.org/officeDocument/2006/relationships/image" Target="/ppt/media/image2.jpeg" Id="R78c7bb44dcfc4260" /><Relationship Type="http://schemas.openxmlformats.org/officeDocument/2006/relationships/image" Target="/ppt/media/image3.jpeg" Id="R7de1f056c36f4cdd" /><Relationship Type="http://schemas.openxmlformats.org/officeDocument/2006/relationships/notesSlide" Target="/ppt/notesSlides/notesSlide6.xml" Id="Ra5cbf392fa8d4e39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d18fb77c9334f5c" /><Relationship Type="http://schemas.openxmlformats.org/officeDocument/2006/relationships/image" Target="/ppt/media/image4.jpeg" Id="R38c04afa3bac4101" /><Relationship Type="http://schemas.openxmlformats.org/officeDocument/2006/relationships/image" Target="/ppt/media/image5.jpeg" Id="R2316db6c38ce41a4" /><Relationship Type="http://schemas.openxmlformats.org/officeDocument/2006/relationships/image" Target="/ppt/media/image6.jpeg" Id="R960bf337ce9d4036" /><Relationship Type="http://schemas.openxmlformats.org/officeDocument/2006/relationships/notesSlide" Target="/ppt/notesSlides/notesSlide7.xml" Id="R1e6920641c684986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175c3a23f41454e" /><Relationship Type="http://schemas.openxmlformats.org/officeDocument/2006/relationships/image" Target="/ppt/media/image8.png" Id="Re90c7b2fd60e4f02" /><Relationship Type="http://schemas.openxmlformats.org/officeDocument/2006/relationships/image" Target="/ppt/media/image9.png" Id="R7053cf3597314caa" /><Relationship Type="http://schemas.openxmlformats.org/officeDocument/2006/relationships/notesSlide" Target="/ppt/notesSlides/notesSlide8.xml" Id="R5455b1ab1db94cf5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e6a4c4072ca43da" /><Relationship Type="http://schemas.openxmlformats.org/officeDocument/2006/relationships/notesSlide" Target="/ppt/notesSlides/notesSlide9.xml" Id="R7fd4d474a05c4520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26568482a18408f" /><Relationship Type="http://schemas.openxmlformats.org/officeDocument/2006/relationships/image" Target="/ppt/media/image10.png" Id="Rd9771972e7424440" /><Relationship Type="http://schemas.openxmlformats.org/officeDocument/2006/relationships/notesSlide" Target="/ppt/notesSlides/notesSlide10.xml" Id="R04bcaacc189f4b0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99bae8a941a405e" /><Relationship Type="http://schemas.openxmlformats.org/officeDocument/2006/relationships/notesSlide" Target="/ppt/notesSlides/notesSlide11.xml" Id="Re757b0939a234f3d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c75061c7bc564b41" /><Relationship Type="http://schemas.openxmlformats.org/officeDocument/2006/relationships/image" Target="/ppt/media/image11.png" Id="Rc6aca90bde894e68" /><Relationship Type="http://schemas.openxmlformats.org/officeDocument/2006/relationships/notesSlide" Target="/ppt/notesSlides/notesSlide12.xml" Id="R54b6819d1aa147ac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1a053fce1ec4d44" /><Relationship Type="http://schemas.openxmlformats.org/officeDocument/2006/relationships/image" Target="/ppt/media/image7.jpeg" Id="R5c19a42b103140e4" /><Relationship Type="http://schemas.openxmlformats.org/officeDocument/2006/relationships/image" Target="/ppt/media/image8.jpeg" Id="R3c8eb13086e64364" /><Relationship Type="http://schemas.openxmlformats.org/officeDocument/2006/relationships/notesSlide" Target="/ppt/notesSlides/notesSlide13.xml" Id="Rbbd6ca0073cc4715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17e7364ad8844dc" /><Relationship Type="http://schemas.openxmlformats.org/officeDocument/2006/relationships/image" Target="/ppt/media/image.jpeg" Id="Rada32e4bbb614b3e" /><Relationship Type="http://schemas.openxmlformats.org/officeDocument/2006/relationships/image" Target="/ppt/media/image2.jpeg" Id="Ree22f0a47c134d09" /><Relationship Type="http://schemas.openxmlformats.org/officeDocument/2006/relationships/image" Target="/ppt/media/image3.jpeg" Id="R23ce74e474b740b5" /><Relationship Type="http://schemas.openxmlformats.org/officeDocument/2006/relationships/notesSlide" Target="/ppt/notesSlides/notesSlide14.xml" Id="R8e0bb6d038c44773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625fd881ece428a" /><Relationship Type="http://schemas.openxmlformats.org/officeDocument/2006/relationships/notesSlide" Target="/ppt/notesSlides/notesSlide15.xml" Id="Rc1f073ecf7b2482a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75A8C9-FE97-4F4A-837C-4A4B82D6D3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21920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374c53f37014970"/>
          <a:stretch xmlns:a="http://schemas.openxmlformats.org/drawingml/2006/main"/>
        </p:blipFill>
        <p:spPr>
          <a:xfrm xmlns:a="http://schemas.openxmlformats.org/drawingml/2006/main">
            <a:off x="6593025" y="1285875"/>
            <a:ext cx="4911450" cy="3905250"/>
          </a:xfrm>
          <a:prstGeom xmlns:a="http://schemas.openxmlformats.org/drawingml/2006/main" prst="rect">
            <a:avLst/>
          </a:prstGeom>
        </p:spPr>
      </p:pic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2f8ffb29574f0d"/>
          <a:stretch xmlns:a="http://schemas.openxmlformats.org/drawingml/2006/main"/>
        </p:blipFill>
        <p:spPr>
          <a:xfrm xmlns:a="http://schemas.openxmlformats.org/drawingml/2006/main">
            <a:off x="552450" y="457200"/>
            <a:ext cx="457200" cy="4572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EBEE5B3-C790-4FA2-956D-D19B137F0A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3000" y="552450"/>
            <a:ext cx="3048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DDF5E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DDF5E7"/>
                </a:solidFill>
                <a:latin typeface="Microsoft YaHei"/>
                <a:ea typeface="Microsoft YaHei"/>
                <a:cs typeface="Microsoft YaHei"/>
              </a:rPr>
              <a:t>家客来  JIAKELAI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F399A4E6-E547-47A5-94E7-C67D31E38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524000"/>
            <a:ext cx="5810250" cy="1809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582"/>
          </a:bodyPr>
          <a:lstStyle xmlns:a="http://schemas.openxmlformats.org/drawingml/2006/main"/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从客户建档到设计方案，</a:t>
            </a:r>
          </a:p>
          <a:p xmlns:a="http://schemas.openxmlformats.org/drawingml/2006/main">
            <a:pPr algn="l">
              <a:lnSpc>
                <a:spcPct val="96000"/>
              </a:lnSpc>
              <a:buNone/>
              <a:def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48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让家装服务连续推进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B333E53-EA4E-4547-8CF4-7D717E76BA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657600"/>
            <a:ext cx="10096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47625">
            <a:solidFill>
              <a:srgbClr val="18C66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9B7484CA-4FD1-49C2-B045-021FE65C09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3943350"/>
            <a:ext cx="56197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800" b="0">
                <a:solidFill>
                  <a:srgbClr val="D5E8D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0">
                <a:solidFill>
                  <a:srgbClr val="D5E8DF"/>
                </a:solidFill>
                <a:latin typeface="Microsoft YaHei"/>
                <a:ea typeface="Microsoft YaHei"/>
                <a:cs typeface="Microsoft YaHei"/>
              </a:rPr>
              <a:t>家客来连接客户档案、正式量房、AI 设计与团队跟进。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4F04ECD-79D1-44B1-8FA2-556B004451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953000"/>
            <a:ext cx="4095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4C3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7A752AE0-ED67-4CE1-8811-08C46040D7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019675"/>
            <a:ext cx="3867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C9F7DA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9F7DA"/>
                </a:solidFill>
                <a:latin typeface="Microsoft YaHei"/>
                <a:ea typeface="Microsoft YaHei"/>
                <a:cs typeface="Microsoft YaHei"/>
              </a:rPr>
              <a:t>客户档案  ·  正式户型  ·  设计方案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1C6C8B-A78C-497C-837F-10F53E6D0E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353175"/>
            <a:ext cx="37147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6A99B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6A99B"/>
                </a:solidFill>
                <a:latin typeface="Microsoft YaHei"/>
                <a:ea typeface="Microsoft YaHei"/>
                <a:cs typeface="Microsoft YaHei"/>
              </a:rPr>
              <a:t>客户演示稿  ·  16:9  ·  2026.08</a:t>
            </a:r>
          </a:p>
        </p:txBody>
      </p:sp>
    </p:spTree>
    <p:extLst>
      <p:ext uri="{BB962C8B-B14F-4D97-AF65-F5344CB8AC3E}">
        <p14:creationId xmlns:p14="http://schemas.microsoft.com/office/powerpoint/2010/main" val="556591743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BD83760-22F5-4CB7-B8A5-0F88A47CED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02 / 为什么需要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BB8B83-CE05-424A-84D4-79BB4630A4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问题不在工具少，而在工作成果经常断开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EEB60F1-B83C-42C3-AF06-72197051C1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客户资料、现场尺寸、设计依据和跟进责任一旦分散，团队就会反复确认同一件事。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A772039-7793-4800-882B-AF91BCA0D9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1AB7AA77-D90E-45CD-BA07-764079684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27F8557-0E15-4606-9554-E7360F8CE4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2050" y="2400300"/>
            <a:ext cx="0" cy="276225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38100">
            <a:solidFill>
              <a:srgbClr val="C9D6D0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ACEB0B8-61DF-4BE7-A154-F2E0D9BC342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2288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B73484E-3A1E-404C-ADF2-BD1E5C4E16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3622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1C15C18D-44FC-48C7-AF85-D75DB58269C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21336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客户资料散落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63588D6-D366-4496-877B-89BE90AB2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526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个人微信、纸张和表格彼此分离，团队无法共享完整上下文。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55B5FC9-167D-4C3C-8E73-D8BDD5EAFD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1051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EE7F1F1-DA85-418D-900B-5AD3F34C8D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2385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02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9F54EEB-9775-4AC3-B9BB-22F3CB1B84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0099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现场尺寸反复录入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40EC126-1557-49A0-A1C9-022ECD11CC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0289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手抄、拍照、转述后再录入，正式空间依据难以延续。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645C5D-078C-40C9-9035-66F7C9A44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39814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A48D63F-660C-4DC0-A0DF-659232B7A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1148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10CBE3B-F487-431A-9F77-DEEAE3412A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38862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设计接手仍要重问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A09B84F2-7764-47E9-93F8-B156103F27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39052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客户需求与户型信息没有连起来，设计师只能重新确认。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FF4744E7-2469-4FF2-A854-93343C9E1C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857750"/>
            <a:ext cx="476250" cy="4762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95E73DA-7EE2-4E78-9204-280C780794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91100"/>
            <a:ext cx="476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83E17964-CA6A-40CB-A668-CCFDECE28D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4762500"/>
            <a:ext cx="3143250" cy="323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8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管理者看不见下一步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1787C41-95A3-466F-9411-8997E81AC5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4781550"/>
            <a:ext cx="61912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客户卡在哪一步、由谁接手、产出了什么都不够清晰。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5A39D29A-A29C-466C-AA61-1DE7E9C4F7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714500" y="5734050"/>
            <a:ext cx="9525000" cy="476250"/>
          </a:xfrm>
          <a:prstGeom xmlns:a="http://schemas.openxmlformats.org/drawingml/2006/main" prst="roundRect">
            <a:avLst>
              <a:gd name="adj" fmla="val 36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A63FE541-9A56-4C85-BF3B-A5BE0CC4B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5857875"/>
            <a:ext cx="9029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0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家客来把断开的工作接起来：每一步都留下可继续使用的成果。</a:t>
            </a:r>
          </a:p>
        </p:txBody>
      </p:sp>
    </p:spTree>
    <p:extLst>
      <p:ext uri="{BB962C8B-B14F-4D97-AF65-F5344CB8AC3E}">
        <p14:creationId xmlns:p14="http://schemas.microsoft.com/office/powerpoint/2010/main" val="1116544457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3E237352-BD7A-4A87-8831-3519E004A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03 / 单一客户主线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691315E-0E5D-4E89-AAC2-4A44B051EB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张女士的装修需求，沿一条路径持续推进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7CA7DBF-CB63-4CAC-A206-49B173B933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这条路径是整套演示的导航：每一步同时明确负责人和产生的成果。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2627B19-8B3C-4134-8FA7-6AB4E7C85C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客户主线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0D968D9-8D2B-41FC-85CB-DD4E23D9A6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04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3D26213-2D08-4220-B553-02286F72EA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14650"/>
            <a:ext cx="9525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76200">
            <a:solidFill>
              <a:srgbClr val="B9DCCA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5849665-004F-44FE-B97E-13289EC495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2DE7A03C-CE1B-4016-9AB8-4AEFC901F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5B5D78F-D74B-48AE-9A15-1F8CFD883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建立客户档案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4CF9547-5DC3-4EFD-897C-96306E694D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E1838D92-C69E-4F65-8385-EB1E58E693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业务人员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ECFB529D-4357-4C43-BBB6-134A5E1BE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客户资料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BFC092A-348B-4A58-8E3E-A5967907AA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93DF73C-83E1-4DAA-916A-58DD4C934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7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3C55C41-C7E9-403E-909A-2CC895B95E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09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正式量房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87F8867-D88E-4F14-8E5C-FA1BFB9EF3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7A5D394D-EF1E-4D57-940C-5627CB43EF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CB06F26E-9B47-42F0-ACE1-92F06FA687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6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测量墙图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0D8C597B-1383-4EAD-8AA9-36623F29C2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75D64656-8F6E-42B7-AA7E-199DE52C70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13DB99-0F1A-4EB0-965F-CCD087F4A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保存正式户型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4D63DBCE-A5EF-4184-95CB-1705F591F8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D3A3534-540B-4C76-971F-7622E62837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EB5E6793-1B5B-479D-BF77-FBC5E8C6CC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空间资产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CA34D56-B2F4-4665-A609-09048B7834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D390C0D-BE13-4E8B-A8EC-89F28AE8B6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251262F9-5B38-4091-91DF-0B79D0E05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0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发起 AI 设计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F4A8B0B-A6E2-4005-8C0A-6C8BD5877A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0CD25680-6193-4EFF-ADF7-B0ECEDE234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5D662664-8F50-4FF6-84C6-8E1F10A57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7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设计任务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54FFD9B-96DF-43D1-881B-F0DB90AB94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1D8225D5-F99E-4AC9-A1F6-04CFF2A474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1E2034A-684B-4BDA-9013-7EB2898F42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沟通与优化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CDBAB921-076E-4BA9-AAEA-DC66219DB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A878F25B-D1C2-4163-91A3-F4C13C886A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96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75ED4385-385F-4214-95F5-E4E09E4A9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981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概念方案</a:t>
            </a:r>
          </a:p>
        </p:txBody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F2216536-AD1B-431A-AC31-F19D6E7FD8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667000"/>
            <a:ext cx="647700" cy="6477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8114F41-37D2-40E5-9FE1-5E27E86BC4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91750" y="2828925"/>
            <a:ext cx="6477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ctr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57C61AF8-A9C2-4BA3-8266-F49B1D6411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3543300"/>
            <a:ext cx="1600200" cy="4762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更新客户阶段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7798381D-8696-4A75-AF8E-649C5A11B5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133850"/>
            <a:ext cx="12573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10D9F650-79B0-4F24-8CDD-CBE11E2B4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4200525"/>
            <a:ext cx="10287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团队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6ED79F38-2540-4EB0-BFB3-5196AE8BE1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86950" y="4629150"/>
            <a:ext cx="1257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8C63E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8C63E8"/>
                </a:solidFill>
                <a:latin typeface="Microsoft YaHei"/>
                <a:ea typeface="Microsoft YaHei"/>
                <a:cs typeface="Microsoft YaHei"/>
              </a:rPr>
              <a:t>跟进记录</a:t>
            </a:r>
          </a:p>
        </p:txBody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110E5185-2CC0-46F9-9EFE-084362356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429250"/>
            <a:ext cx="10839450" cy="552450"/>
          </a:xfrm>
          <a:prstGeom xmlns:a="http://schemas.openxmlformats.org/drawingml/2006/main" prst="roundRect">
            <a:avLst>
              <a:gd name="adj" fmla="val 34483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0DDA0A6D-6586-47A2-9CBB-559CD12E85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5591175"/>
            <a:ext cx="103441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570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客户档案是入口  ·  正式户型是空间依据  ·  设计方案是沟通成果</a:t>
            </a:r>
          </a:p>
        </p:txBody>
      </p:sp>
    </p:spTree>
    <p:extLst>
      <p:ext uri="{BB962C8B-B14F-4D97-AF65-F5344CB8AC3E}">
        <p14:creationId xmlns:p14="http://schemas.microsoft.com/office/powerpoint/2010/main" val="8951948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4A45A8CE-E12F-4944-AE6F-5FF2EBD2A6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04 / 客户档案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B51E94E9-6C03-437F-BF66-5EB88B715C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一条客户线索，就是后续服务的入口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0E00566-89DB-433E-A9F4-642E5ABC684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先把“为谁做、房子在哪里、现在进行到哪一步”说清楚，再进入量房与设计。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F637A0F-E168-472C-ABDA-B3DA98FB13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客户档案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231717F-68AB-421E-90C1-4BAEE7B7BA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05</a:t>
            </a:r>
          </a:p>
        </p:txBody>
      </p:sp>
      <p:pic>
        <p:nvPicPr>
          <p:cNvPr id="2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849068c5eee47b2"/>
          <a:srcRect xmlns:a="http://schemas.openxmlformats.org/drawingml/2006/main" l="0" t="7888" r="0" b="788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71500" y="2019300"/>
            <a:ext cx="2724150" cy="4076700"/>
          </a:xfrm>
          <a:prstGeom xmlns:a="http://schemas.openxmlformats.org/drawingml/2006/main" prst="roundRect">
            <a:avLst>
              <a:gd name="adj" fmla="val 9091"/>
            </a:avLst>
          </a:prstGeom>
        </p:spPr>
      </p:pic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b2406679f945d1"/>
          <a:srcRect xmlns:a="http://schemas.openxmlformats.org/drawingml/2006/main" l="0" t="15352" r="0" b="1535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3524250" y="2286000"/>
            <a:ext cx="2428875" cy="3638550"/>
          </a:xfrm>
          <a:prstGeom xmlns:a="http://schemas.openxmlformats.org/drawingml/2006/main" prst="roundRect">
            <a:avLst>
              <a:gd name="adj" fmla="val 9412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251FF6D-AE32-499B-810D-D3CB8A34A6E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14550"/>
            <a:ext cx="4762500" cy="3733800"/>
          </a:xfrm>
          <a:prstGeom xmlns:a="http://schemas.openxmlformats.org/drawingml/2006/main" prst="roundRect">
            <a:avLst>
              <a:gd name="adj" fmla="val 71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E9855BF-C403-4FBA-A529-026BBFE140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25050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0631B5C-20C3-4B80-B1B0-FE04A6550D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4574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建立完整档案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15D7235C-5869-4524-9773-AEBADCC04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7813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记录称呼、电话、小区、面积和偏好。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FF806E6-CAD4-418D-A7E3-6E53B5E2F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35718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667BF88-6E01-4B14-BBBA-E20C0455B5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5242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关联核心成果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B45D0DB6-ADA3-48D6-B918-BE1715AC60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481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同一客户下查看正式户型、设计方案和更新时间。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31D1AAF-CDAB-4FA4-BECD-EA44ADD837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34200" y="46386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E98722D5-796D-491A-9FE2-40C756B754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37147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找到下一步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ECFB799-7A32-40A9-8B45-B24710E48AE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37147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通过搜索与客户阶段筛选，定位需要继续处理的客户。</a:t>
            </a:r>
          </a:p>
        </p:txBody>
      </p:sp>
    </p:spTree>
    <p:extLst>
      <p:ext uri="{BB962C8B-B14F-4D97-AF65-F5344CB8AC3E}">
        <p14:creationId xmlns:p14="http://schemas.microsoft.com/office/powerpoint/2010/main" val="1792774745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77C8AC0-F8D4-4F98-BE5B-676E5EA11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05 / 正式量房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7556C738-8B93-4BB5-9783-CFE9EDA17D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现场量房的成果，是一份可继续使用的正式户型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1F5436E-73B9-4785-8020-3F29375E171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设备只是输入方式；真正重要的是墙体、门窗、尺寸与闭合空间被保存到客户档案。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8778920-F20E-4082-96CF-D8ABC9239C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正式量房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87E798B-7AF1-4AC1-9003-D69CB9B2BE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06</a:t>
            </a:r>
          </a:p>
        </p:txBody>
      </p:sp>
      <p:pic>
        <p:nvPicPr>
          <p:cNvPr id="2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b68fafc734647f7"/>
          <a:srcRect xmlns:a="http://schemas.openxmlformats.org/drawingml/2006/main" l="0" t="25068" r="0" b="25068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14350" y="2000250"/>
            <a:ext cx="3790950" cy="4095750"/>
          </a:xfrm>
          <a:prstGeom xmlns:a="http://schemas.openxmlformats.org/drawingml/2006/main" prst="roundRect">
            <a:avLst>
              <a:gd name="adj" fmla="val 7035"/>
            </a:avLst>
          </a:prstGeom>
        </p:spPr>
      </p:pic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56aa4f946e74a0b"/>
          <a:srcRect xmlns:a="http://schemas.openxmlformats.org/drawingml/2006/main" l="0" t="15584" r="0" b="155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4552950" y="2286000"/>
            <a:ext cx="2381250" cy="3543300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pic>
        <p:nvPicPr>
          <p:cNvPr id="2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872721f6f0c4204"/>
          <a:srcRect xmlns:a="http://schemas.openxmlformats.org/drawingml/2006/main" l="0" t="15584" r="0" b="15584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81850" y="2286000"/>
            <a:ext cx="2381250" cy="3543300"/>
          </a:xfrm>
          <a:prstGeom xmlns:a="http://schemas.openxmlformats.org/drawingml/2006/main" prst="roundRect">
            <a:avLst>
              <a:gd name="adj" fmla="val 9600"/>
            </a:avLst>
          </a:prstGeom>
        </p:spPr>
      </p:pic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DE2B853-8881-4FCE-8A34-67DCDD10F4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650" y="2324100"/>
            <a:ext cx="1847850" cy="3448050"/>
          </a:xfrm>
          <a:prstGeom xmlns:a="http://schemas.openxmlformats.org/drawingml/2006/main" prst="roundRect">
            <a:avLst>
              <a:gd name="adj" fmla="val 12371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82F2319-38F2-41F1-946B-AAEB3E8665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2628900"/>
            <a:ext cx="13716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两种输入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0987A61-E342-47E4-8078-75932A12C9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1813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71DAB606-E98E-4EA0-A3F1-3D085D23F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2480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rPr>
              <a:t>手工录入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804103-FCC6-4A7E-9D7F-7FF9256F72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638550"/>
            <a:ext cx="14287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C5B42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0F5D5A8A-D3ED-405F-9D9D-555ECE637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3705225"/>
            <a:ext cx="12001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D4F8E1"/>
                </a:solidFill>
                <a:latin typeface="Microsoft YaHei"/>
                <a:ea typeface="Microsoft YaHei"/>
                <a:cs typeface="Microsoft YaHei"/>
              </a:rPr>
              <a:t>授权蓝牙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A29B124A-4115-470F-B837-93739BA273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267200"/>
            <a:ext cx="135255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377A62"/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FBDAF88A-F9BD-4F4D-B477-D0274059D6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20300" y="4514850"/>
            <a:ext cx="13716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0">
                <a:solidFill>
                  <a:srgbClr val="9EDCB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9EDCB9"/>
                </a:solidFill>
                <a:latin typeface="Microsoft YaHei"/>
                <a:ea typeface="Microsoft YaHei"/>
                <a:cs typeface="Microsoft YaHei"/>
              </a:rPr>
              <a:t>统一结果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74C637-6439-4222-BC6A-6EE9868672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4933950"/>
            <a:ext cx="15240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1987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毫米制墙图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门窗与闭合空间</a:t>
            </a:r>
          </a:p>
          <a:p xmlns:a="http://schemas.openxmlformats.org/drawingml/2006/main">
            <a:pPr algn="ctr">
              <a:lnSpc>
                <a:spcPct val="135000"/>
              </a:lnSpc>
              <a:buNone/>
              <a:def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可继续量房</a:t>
            </a:r>
          </a:p>
        </p:txBody>
      </p:sp>
    </p:spTree>
    <p:extLst>
      <p:ext uri="{BB962C8B-B14F-4D97-AF65-F5344CB8AC3E}">
        <p14:creationId xmlns:p14="http://schemas.microsoft.com/office/powerpoint/2010/main" val="39430039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6A72C-02FF-445D-806F-C6F581E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09 / 同空间多方案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55C58-68B7-4E26-95DB-64B001AF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同一空间保持几何不变，快速比较三种设计语言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7CBD5-FE2F-4D57-9C53-79C0D07E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演示以同一空房为基准，仅改变硬装、材质、家具与灯光，方案差异一眼可见。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C583B-C677-49E3-BBB7-79C06784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F4ABB-1F59-465A-92B0-C34B70AA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10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2BB7-87B8-4D39-AAE8-E409A69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6031797a57f4ac0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7D604-7901-4A7E-A9AA-01FF9A0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5F263-2672-4684-A362-CA377188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输入 · 原始空间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C37A3-43CC-41C1-9BE0-B55991F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8c7bb44dcfc4260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306E0-10A1-49F4-9276-9D578018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BC6F5-FB50-4042-B4D0-909EE62E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方案 A · 现代奶油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7ED09-E8E9-46C2-BE57-F7ABE5B3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de1f056c36f4cdd"/>
          <a:stretch xmlns:a="http://schemas.openxmlformats.org/drawingml/2006/main"/>
        </p:blipFill>
        <p:spPr>
          <a:xfrm xmlns:a="http://schemas.openxmlformats.org/drawingml/2006/main" flipH="0" flipV="0">
            <a:off x="64198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7A9AA-EB54-4575-AF24-38FF05BF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D55B7-7A2B-461D-A705-C9D7E218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方案 B · 现代法式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2D0C9-B9DB-43EF-98F0-98E8665D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400300" cy="32575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03ED4-C905-4C87-A316-4524503F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 C · 现代中式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FF36E-F78D-4F6C-A2DA-9948795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384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深色胡桃木、纸灯与克制留白，氛围沉静。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60E25-2FCF-40AB-A5B5-F5DF9F8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71900"/>
            <a:ext cx="18669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793CA-B4A4-4749-8015-F537937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38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rPr>
              <a:t>演示价值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4D25E-FFC4-4D3E-ACD4-7D6C50F3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767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统一镜头下直接比较，减少客户对风格想象的偏差。</a:t>
            </a:r>
          </a:p>
        </p:txBody>
      </p:sp>
    </p:spTree>
    <p:extLst>
      <p:ext uri="{BB962C8B-B14F-4D97-AF65-F5344CB8AC3E}">
        <p14:creationId xmlns:p14="http://schemas.microsoft.com/office/powerpoint/2010/main" val="639602433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94AC515-0403-4D4F-A2F6-D3BA2DB64D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14 / 企业后台 AI 工作台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69FCF24-434D-40FD-9785-F893F1BDF6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1257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AI 工作台不止一种效果，而是一套可复用的家装模板库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497F31F6-CFCA-4970-AD76-517576C8E3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695450"/>
            <a:ext cx="10668000" cy="400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当前数据库启用 960 个模板；家装演示优先呈现毛坯装修、风格迁移、材质替换与软装分析。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89B08DA-6553-4DDB-9A4C-067C23D5DA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8A103BFF-A8F3-4263-986A-0983B957EC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15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84285BE8-9666-42BA-A35B-75E186FCCD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000250"/>
            <a:ext cx="6572250" cy="3009900"/>
          </a:xfrm>
          <a:prstGeom xmlns:a="http://schemas.openxmlformats.org/drawingml/2006/main" prst="roundRect">
            <a:avLst>
              <a:gd name="adj" fmla="val 7595"/>
            </a:avLst>
          </a:prstGeom>
          <a:solidFill xmlns:a="http://schemas.openxmlformats.org/drawingml/2006/main">
            <a:srgbClr val="171820"/>
          </a:solidFill>
          <a:ln xmlns:a="http://schemas.openxmlformats.org/drawingml/2006/main" w="9525">
            <a:solidFill>
              <a:srgbClr val="35374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8c04afa3bac4101"/>
          <a:stretch xmlns:a="http://schemas.openxmlformats.org/drawingml/2006/main"/>
        </p:blipFill>
        <p:spPr>
          <a:xfrm xmlns:a="http://schemas.openxmlformats.org/drawingml/2006/main" flipH="0" flipV="0">
            <a:off x="664178" y="2095500"/>
            <a:ext cx="6272593" cy="28194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9E13367-B7C6-49B2-95ED-91954025EC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85800" y="5162550"/>
            <a:ext cx="622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B47375B-05C8-4291-A343-B140C259D4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229225"/>
            <a:ext cx="600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示例：现代奶油毛坯装修 · 从空房到完整客厅方案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C73971E-A918-4179-9E23-DA91308FA3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2000250"/>
            <a:ext cx="1981200" cy="1981200"/>
          </a:xfrm>
          <a:prstGeom xmlns:a="http://schemas.openxmlformats.org/drawingml/2006/main" prst="roundRect">
            <a:avLst>
              <a:gd name="adj" fmla="val 10577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pic>
        <p:nvPicPr>
          <p:cNvPr id="3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16db6c38ce41a4"/>
          <a:stretch xmlns:a="http://schemas.openxmlformats.org/drawingml/2006/main"/>
        </p:blipFill>
        <p:spPr>
          <a:xfrm xmlns:a="http://schemas.openxmlformats.org/drawingml/2006/main" flipH="0" flipV="0">
            <a:off x="7467600" y="2076450"/>
            <a:ext cx="1828800" cy="18288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7A79168-9371-4D9A-9073-F38233A3C0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2000250"/>
            <a:ext cx="2114550" cy="1981200"/>
          </a:xfrm>
          <a:prstGeom xmlns:a="http://schemas.openxmlformats.org/drawingml/2006/main" prst="roundRect">
            <a:avLst>
              <a:gd name="adj" fmla="val 10577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pic>
        <p:nvPicPr>
          <p:cNvPr id="4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960bf337ce9d4036"/>
          <a:stretch xmlns:a="http://schemas.openxmlformats.org/drawingml/2006/main"/>
        </p:blipFill>
        <p:spPr>
          <a:xfrm xmlns:a="http://schemas.openxmlformats.org/drawingml/2006/main" flipH="0" flipV="0">
            <a:off x="9639300" y="2336800"/>
            <a:ext cx="1962150" cy="1308100"/>
          </a:xfrm>
          <a:prstGeom xmlns:a="http://schemas.openxmlformats.org/drawingml/2006/main" prst="rect">
            <a:avLst/>
          </a:prstGeom>
        </p:spPr>
      </p:pic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CE64568-0B20-4F22-8623-7816395D9F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67600" y="4095750"/>
            <a:ext cx="18288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BAF45B6-EDDD-461D-9FDD-9138F86BFB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81900" y="4162425"/>
            <a:ext cx="16002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同空间 · 毛坯 → 方案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8C6B505-0227-4C3B-86A1-A012451FF0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39300" y="4095750"/>
            <a:ext cx="19621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AF3C755F-74DD-40E8-8104-8680B7649C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62425"/>
            <a:ext cx="17335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局部深化 · 材质替换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E6BDEA4-3B89-4244-8B40-F2A485039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391400" y="4629150"/>
            <a:ext cx="4286250" cy="114300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7A9E367-C300-4205-85C1-2271FA7C90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895850"/>
            <a:ext cx="7239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选择模板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438D3C69-5FB5-4754-814F-676ABF1140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24850" y="48958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11CE0DC-B6FA-4134-91C2-945B40A148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10600" y="4895850"/>
            <a:ext cx="12001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参数化提示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B36AAF2-4952-4E41-8111-2873C2AC770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810750" y="4895850"/>
            <a:ext cx="26670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82E2A9"/>
                </a:solidFill>
                <a:latin typeface="Microsoft YaHei"/>
                <a:ea typeface="Microsoft YaHei"/>
                <a:cs typeface="Microsoft YaHei"/>
              </a:rPr>
              <a:t>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60041B5-70D4-49C5-AA79-F1C9CD6413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4895850"/>
            <a:ext cx="9715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继续深化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9015B10-E4B7-49B3-95D0-FDB6965FD8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14950"/>
            <a:ext cx="382905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8889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25000"/>
              </a:lnSpc>
              <a:buNone/>
              <a:def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可组合空间类型、目标风格、硬装材质、家具与灯光要求；历史任务继续保留并可再次生成。</a:t>
            </a:r>
          </a:p>
        </p:txBody>
      </p:sp>
    </p:spTree>
    <p:extLst>
      <p:ext uri="{BB962C8B-B14F-4D97-AF65-F5344CB8AC3E}">
        <p14:creationId xmlns:p14="http://schemas.microsoft.com/office/powerpoint/2010/main" val="1340416092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BFE60ED-0C83-4913-8B3E-192C2F41CC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12 / 创建任务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9931D0CE-8BCD-4B1C-804F-9E6729173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从准备素材到生成方案，每一步都有明确提示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B53B95D-08F8-419E-8987-473B8D8FB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完整页面展示素材、风格与范围；不同任务状态则集中在项目列表中持续反馈。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6E6AD88-C9E8-4010-BC60-28A1D2779B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B79C84F4-906A-4CF7-AD48-0BAF8674AF8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13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B070617-EE91-41B8-A43C-528F5AECFE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3143250" cy="3638550"/>
          </a:xfrm>
          <a:prstGeom xmlns:a="http://schemas.openxmlformats.org/drawingml/2006/main" prst="roundRect">
            <a:avLst>
              <a:gd name="adj" fmla="val 6667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2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90c7b2fd60e4f02"/>
          <a:stretch xmlns:a="http://schemas.openxmlformats.org/drawingml/2006/main"/>
        </p:blipFill>
        <p:spPr>
          <a:xfrm xmlns:a="http://schemas.openxmlformats.org/drawingml/2006/main">
            <a:off x="1315183" y="2019300"/>
            <a:ext cx="1617785" cy="3505200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D5F4FDC-61F1-4FAE-841D-A9FB2EE794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5686425"/>
            <a:ext cx="29908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F2D9423B-67A9-4F0E-8B47-68047A1D81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5753100"/>
            <a:ext cx="27622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准备素材与风格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B44B53B-0C02-41B6-82FC-AAC316263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95750" y="1952625"/>
            <a:ext cx="4762500" cy="3638550"/>
          </a:xfrm>
          <a:prstGeom xmlns:a="http://schemas.openxmlformats.org/drawingml/2006/main" prst="roundRect">
            <a:avLst>
              <a:gd name="adj" fmla="val 575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053cf3597314caa"/>
          <a:stretch xmlns:a="http://schemas.openxmlformats.org/drawingml/2006/main"/>
        </p:blipFill>
        <p:spPr>
          <a:xfrm xmlns:a="http://schemas.openxmlformats.org/drawingml/2006/main">
            <a:off x="4724400" y="2019300"/>
            <a:ext cx="3505200" cy="3505200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D1639C1F-771A-4420-BED0-805216729B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71950" y="5686425"/>
            <a:ext cx="4610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C3DCD58-5473-4DA8-A4BE-088EA6D3B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286250" y="5753100"/>
            <a:ext cx="4381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生成进度与异常处理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DAF04CA6-1BBC-4BFA-812B-06613B4FAB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2095500"/>
            <a:ext cx="2324100" cy="3257550"/>
          </a:xfrm>
          <a:prstGeom xmlns:a="http://schemas.openxmlformats.org/drawingml/2006/main" prst="roundRect">
            <a:avLst>
              <a:gd name="adj" fmla="val 9836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7592874D-40A3-47C0-AB88-5CC382FB8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362200"/>
            <a:ext cx="17907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提交前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EC0DA52-5FD0-4DF9-BF1A-91AE94BB4B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2800350"/>
            <a:ext cx="1790700" cy="1428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9606"/>
          </a:bodyPr>
          <a:lstStyle xmlns:a="http://schemas.openxmlformats.org/drawingml/2006/main"/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任务类型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所需图片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目标风格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设计范围</a:t>
            </a:r>
          </a:p>
          <a:p xmlns:a="http://schemas.openxmlformats.org/drawingml/2006/main">
            <a:pPr algn="l">
              <a:lnSpc>
                <a:spcPct val="155000"/>
              </a:lnSpc>
              <a:buNone/>
              <a:def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C9DFD6"/>
                </a:solidFill>
                <a:latin typeface="Microsoft YaHei"/>
                <a:ea typeface="Microsoft YaHei"/>
                <a:cs typeface="Microsoft YaHei"/>
              </a:rPr>
              <a:t>点数预估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294FC7E-608C-4B15-A949-EF1068F360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438650"/>
            <a:ext cx="1790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3F6795B9-F57F-40B1-9FB9-04C645F1D8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05950" y="4667250"/>
            <a:ext cx="1790700" cy="552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  <a:def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rPr>
              <a:t>成功扣点</a:t>
            </a:r>
          </a:p>
          <a:p xmlns:a="http://schemas.openxmlformats.org/drawingml/2006/main">
            <a:pPr algn="l">
              <a:lnSpc>
                <a:spcPct val="135000"/>
              </a:lnSpc>
              <a:buNone/>
              <a:def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F3C27E"/>
                </a:solidFill>
                <a:latin typeface="Microsoft YaHei"/>
                <a:ea typeface="Microsoft YaHei"/>
                <a:cs typeface="Microsoft YaHei"/>
              </a:rPr>
              <a:t>失败释放 · 允许重试</a:t>
            </a:r>
          </a:p>
        </p:txBody>
      </p:sp>
    </p:spTree>
    <p:extLst>
      <p:ext uri="{BB962C8B-B14F-4D97-AF65-F5344CB8AC3E}">
        <p14:creationId xmlns:p14="http://schemas.microsoft.com/office/powerpoint/2010/main" val="2129478778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77B77740-D791-4D62-8E6E-9E0D8A8C8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15 / 团队接续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5A4D905-B822-41C6-ABA4-60C6CC3431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三个角色围绕同一客户接力，不重复建档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5F272C97-3957-42CD-B1EB-7031FB506A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AI 成果回到客户方案后，量房师、设计师和企业管理者都能在各自职责内继续推进。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5A09CAE-D55D-479C-999E-F9551AC23B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团队跟进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3B25681-9132-4E47-AA64-CE0FF4D961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16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84BF13A-0A50-4886-9B44-41EBF528D9F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257550"/>
            <a:ext cx="72390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57150">
            <a:solidFill>
              <a:srgbClr val="CBE3D7"/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5CF7869-3802-4619-B15F-6B19B4D868A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FE36659A-AA0D-48B1-9895-F88CD5D7CA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A0114C3-7E0E-4E5C-9F1D-2A9AA403DC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86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D07E8279-7C7A-4324-9B5F-64DFB47F5B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量房师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89F5D8D7-5C4F-4BED-B02D-35C586721A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建立或接收客户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完成正式量房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2C094E54-74A5-411F-AE19-3F6D62C976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D53DFF73-6D77-4674-A844-56493D7256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交付：客户资料 + 正式户型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6E89357-CAB8-41BA-9E2D-EF92F77EFC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F42C9973-A417-43F2-A292-EC77F9E191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0EF6B49-A4A1-4CAF-8E73-30178C00CA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67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B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A9ACD2F-0925-4F03-9C9E-9428626E67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设计师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E99FBD1D-0BE2-48B6-AEFD-AFB514ABE3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接收客户与空间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生成并优化方案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D3A2CAA6-236A-4A4B-896E-6E58D99BC7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74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F45C7543-D331-43E6-A376-2923687F72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85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承接：不重新建档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467E9B0-757F-41F0-830F-E0F1E46B4B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86750" y="2266950"/>
            <a:ext cx="3238500" cy="3295650"/>
          </a:xfrm>
          <a:prstGeom xmlns:a="http://schemas.openxmlformats.org/drawingml/2006/main" prst="roundRect">
            <a:avLst>
              <a:gd name="adj" fmla="val 8235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1E8E3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5A6620-1C15-41DF-941F-B7F18C6C3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571750"/>
            <a:ext cx="838200" cy="8382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E969C2D4-7FCA-4853-B2A4-64D0C55841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2800350"/>
            <a:ext cx="8382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4664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C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4F024563-0AE1-4C95-ABB0-0E1B8952C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3581400"/>
            <a:ext cx="2476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0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企业管理者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10E7F18-2C7A-48B8-8ED9-FE214D3CC2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4152900"/>
            <a:ext cx="247650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管理成员与权限</a:t>
            </a:r>
          </a:p>
          <a:p xmlns:a="http://schemas.openxmlformats.org/drawingml/2006/main">
            <a:pPr algn="ctr">
              <a:lnSpc>
                <a:spcPct val="130000"/>
              </a:lnSpc>
              <a:buNone/>
              <a:def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查看进展与配置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082E1B8-78AF-47D9-BA8C-370BA2A4D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553450" y="4972050"/>
            <a:ext cx="27051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BAE5990-F1BD-4ED5-A81D-3193600A20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67750" y="5038725"/>
            <a:ext cx="24765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保障：角色能完成工作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6335DFCA-1CFC-404A-B801-3747B45F07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14600" y="5791200"/>
            <a:ext cx="7162800" cy="419100"/>
          </a:xfrm>
          <a:prstGeom xmlns:a="http://schemas.openxmlformats.org/drawingml/2006/main" prst="roundRect">
            <a:avLst>
              <a:gd name="adj" fmla="val 36364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716EDE0-2376-40B2-AE71-493717487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686050" y="5905500"/>
            <a:ext cx="68199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获客确认与提成独立记录，不改变客户处于量房或设计的业务阶段。</a:t>
            </a:r>
          </a:p>
        </p:txBody>
      </p:sp>
    </p:spTree>
    <p:extLst>
      <p:ext uri="{BB962C8B-B14F-4D97-AF65-F5344CB8AC3E}">
        <p14:creationId xmlns:p14="http://schemas.microsoft.com/office/powerpoint/2010/main" val="1301371450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52BCDB61-72F1-438B-BE42-DF78B41DEF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16 / 两端分工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D8B43F19-2C31-4FD2-A3A1-067DD3C22C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小程序跑现场，企业后台管组织与全局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42E5D6E-01B5-4578-A1AB-A2CE62EEB3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两端共享同一企业与客户上下文，但分别服务高频执行和集中管理。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9A65B54-962A-4381-9593-09FE3B9E05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两端协作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9B62CCC-3DD3-4337-8DC1-0772F83A8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17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A201049-7766-480D-8B5B-3B3342160C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2114550"/>
            <a:ext cx="5381625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E0E7E2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DE3FAE13-FBCA-4539-A6E4-429BA02D27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00300"/>
            <a:ext cx="20002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D38D95BD-1FC7-4D86-97A4-CECF6D73C9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" y="2466975"/>
            <a:ext cx="17716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小程序 · 高频执行</a:t>
            </a:r>
          </a:p>
        </p:txBody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9771972e7424440"/>
          <a:srcRect xmlns:a="http://schemas.openxmlformats.org/drawingml/2006/main" l="0" t="7790" r="0" b="779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819150" y="2876550"/>
            <a:ext cx="1752600" cy="2628900"/>
          </a:xfrm>
          <a:prstGeom xmlns:a="http://schemas.openxmlformats.org/drawingml/2006/main" prst="roundRect">
            <a:avLst>
              <a:gd name="adj" fmla="val 10870"/>
            </a:avLst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ECC540B-1D2A-42D5-AE18-53E788F90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298132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146B6DF-B1A3-4B5B-A039-5A4FF9BC5C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293370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客户与量房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12407921-8821-413B-A891-83B18CD396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325755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录入客户、进入正式量房、查看个人待办。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CD53CBD1-7AC3-4980-8117-EF968F9A9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876550" y="4105275"/>
            <a:ext cx="104775" cy="104775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FFC6D974-3EFE-474A-9882-55405A654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057650"/>
            <a:ext cx="23812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6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现场跟进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725E183-E8DD-4339-B7DF-0D6EE90A8E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05150" y="4381500"/>
            <a:ext cx="2381250" cy="5143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0000"/>
              </a:lnSpc>
              <a:buNone/>
              <a:def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查看客户、正式户型、待办与方案进展。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404AFE78-2677-43DD-8AC8-6D930D086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96025" y="2114550"/>
            <a:ext cx="5381625" cy="3752850"/>
          </a:xfrm>
          <a:prstGeom xmlns:a="http://schemas.openxmlformats.org/drawingml/2006/main" prst="roundRect">
            <a:avLst>
              <a:gd name="adj" fmla="val 761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458ABB0-57C5-4ECA-8D03-78C05D9370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10350" y="2400300"/>
            <a:ext cx="217170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0B5941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23535057-23FC-470F-AB11-FA0691ED51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724650" y="2466975"/>
            <a:ext cx="194310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CFF6D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CFF6DE"/>
                </a:solidFill>
                <a:latin typeface="Microsoft YaHei"/>
                <a:ea typeface="Microsoft YaHei"/>
                <a:cs typeface="Microsoft YaHei"/>
              </a:rPr>
              <a:t>企业后台 · 集中管理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14121FD-2C8C-4FC4-9497-549A490D23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0670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9A5547E6-B5BE-401C-9CD7-49D963044B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1527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B89624A5-70A2-4412-88AC-AF6BBBB787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0289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组织与权限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C3D81924-08F4-4272-9CD0-4FC191B66C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3528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成员、岗位与访问范围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DEFBB358-41CC-4536-BEE1-7743D246C0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84810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740827A2-AAB7-420B-B5DA-04F7422AB8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393382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70ECA94-CFC8-4488-B473-9CD2C7A8CB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81000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客户与户型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DD7A448-27EB-4178-AAF8-663151DF05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13385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正式户型、测量记录与进展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EAEC63C5-CEB1-4ABA-994C-9902B3EC44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629150"/>
            <a:ext cx="342900" cy="3429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7C13C63C-52E5-4353-9EF2-6DCC5B17F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4714875"/>
            <a:ext cx="3429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57B5B46-9382-4B40-ACD2-A3BA13B63E8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591050"/>
            <a:ext cx="19050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创作与深化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A8A6562F-7FED-48F0-B409-6D6CB5CD9A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3714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BFD9CF"/>
                </a:solidFill>
                <a:latin typeface="Microsoft YaHei"/>
                <a:ea typeface="Microsoft YaHei"/>
                <a:cs typeface="Microsoft YaHei"/>
              </a:rPr>
              <a:t>情绪板、方案版本与后续深化管理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44339D5E-BE2C-4D21-8E03-C8CEF9666A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29400" y="5429250"/>
            <a:ext cx="447675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1">
                <a:solidFill>
                  <a:srgbClr val="9BE0B8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1">
                <a:solidFill>
                  <a:srgbClr val="9BE0B8"/>
                </a:solidFill>
                <a:latin typeface="Microsoft YaHei"/>
                <a:ea typeface="Microsoft YaHei"/>
                <a:cs typeface="Microsoft YaHei"/>
              </a:rPr>
              <a:t>不重复建档，只保留客户企业内部的组织、资产与服务配置。</a:t>
            </a:r>
          </a:p>
        </p:txBody>
      </p:sp>
    </p:spTree>
    <p:extLst>
      <p:ext uri="{BB962C8B-B14F-4D97-AF65-F5344CB8AC3E}">
        <p14:creationId xmlns:p14="http://schemas.microsoft.com/office/powerpoint/2010/main" val="438969648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0BA5CE-25D2-4B81-AA5F-5847424A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rPr>
              <a:t>17 / 使用条件与产品边界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A760E-EB7F-4E44-9F0B-85F9A5A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顺利完成量房与设计，需要先具备这些条件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7E202-C899-4919-A674-85A7D8F0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rPr>
              <a:t>账号、户型、权限和服务配置准备就绪后，团队即可沿客户流程继续推进。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4D2C0-AB96-4525-9D5C-B799E2E7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2B3E5-6C6B-4149-A6BF-9A6B98B5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028D1-2FB1-4A17-B90F-C985307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C76BB-0954-4D73-83D7-F1817375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账号与服务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FB92A-1130-4126-AD00-0159D009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企业账号可正常使用，网络和服务连接有效。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D76AB-568B-426F-965F-C0C978EA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FE564-E146-4B7C-98EA-C4BC9E14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EFFDF-3A7F-443A-B4A2-55DC86AC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BCBF0-C558-4080-A87B-4444C42D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蓝牙测距（可选）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5E1AF-E8D4-43AA-8E3F-C4D3DA9C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使用兼容且已分配授权的设备；也可手工录入。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A3CE7-6769-4882-A996-6DE1B6C6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E47C9-20B8-455D-9E70-BC614B81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B220B-0536-45AD-A4F8-6730090E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D8754-6D2F-4786-BA5B-4BB67EA8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户型数据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7A40A-EE07-44AF-96DB-A95299FF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墙体有效并形成闭合空间，方可进入对应设计流程。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DD4F3-B9B6-4E33-A9E8-4B64CAB8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78CC2-0E42-4DFF-A4C9-3DCD6216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1B9C0-BAED-4910-8FD7-61349844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A9345-F810-4CD0-BF72-20A2088D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设计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A36C4-64CE-4C7F-B56B-8BE95A92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企业已开通权限，并具备可用点数和有效服务配置。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997EE-E831-492F-A53A-0C4C9A6D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22AB57-CC80-4EE7-8693-AE1BA4C6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58D41-030A-43A5-AE23-730F0355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E17505-57E3-4960-A1C7-F3EAD729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方案用途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F24C5-3F94-42BC-93B5-C1E676C8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用于概念表达、方案比较和客户沟通，不作为施工图。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A856B-9332-44DD-8CDC-1DE1BB62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F597F-6A94-4137-B50A-AAB19F28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9B149B-630D-4439-A12A-AEFA712C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D7C6B6-F6DA-46EA-9B75-C5EF9C31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数据访问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43BB69-7442-4D12-A757-67041197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员工按企业角色和本人权限访问客户与户型数据。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C6289F-189D-40B2-AD01-564898D5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家客来 JIAKELAI  ·  产品边界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68E895-A72F-49C3-B44E-2A7FE541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34433213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3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c6aca90bde894e68"/>
          <a:stretch xmlns:a="http://schemas.openxmlformats.org/drawingml/2006/main"/>
        </p:blipFill>
        <p:spPr>
          <a:xfrm xmlns:a="http://schemas.openxmlformats.org/drawingml/2006/main">
            <a:off x="552450" y="400050"/>
            <a:ext cx="495300" cy="495300"/>
          </a:xfrm>
          <a:prstGeom xmlns:a="http://schemas.openxmlformats.org/drawingml/2006/main" prst="rect">
            <a:avLst/>
          </a:prstGeom>
        </p:spPr>
      </p:pic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A39225C-D3F4-4767-9632-6516E7AB0A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00150" y="514350"/>
            <a:ext cx="209550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3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3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现场演示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075C93A6-D6CF-48A8-B7C3-B351DABA9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200150"/>
            <a:ext cx="8096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827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6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60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接下来，用一位客户走完整流程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FB855D4-3AF2-41AB-A71E-2AE69654AF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24050"/>
            <a:ext cx="10287000" cy="342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从建档、量房到 AI 设计和团队接续，所有步骤围绕同一份客户资料推进。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9C556BA6-5FC1-4391-AF16-EB180F7412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0600" y="2952750"/>
            <a:ext cx="97917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66675">
            <a:solidFill>
              <a:srgbClr val="C0DDCD"/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3660C20-97A3-498D-AA98-B723E9313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705CB451-7F7C-4B90-B148-6249465BEC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81FEE0BC-12F0-416B-9E3D-205B533BBF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86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创建客户档案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5714400-E73C-4BFC-A8A0-2FB7AFBE4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6BDAA317-140D-43CD-916E-A7DE367A9F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527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72F123E2-A6EC-4E5A-BFA5-AB76563EF5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145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进入正式量房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467F028C-08B9-47EE-B60F-6FEE38FBD3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5A04E5-017C-4BA2-BC90-CB343663B1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386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13E1AE69-CEB3-439F-81CD-7A86199D9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0005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保存正式户型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EB9EBFF-6D0C-4F66-8201-2548FE2F3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5362EE49-3ABE-431A-9699-A03EE41646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284A9D47-1514-4EF7-9862-63935CFC0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864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发起 AI 设计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8A948E-F8FF-47FE-8C0C-9C3925DCE8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FDADDBD-2532-4E2E-A99A-64FFB493E4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21055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F0E4B66-5CA3-46EA-ABB9-044992D56B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查看方案成果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602CE9F7-661B-4F43-97E8-17E2D0BEE2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647950"/>
            <a:ext cx="628650" cy="6286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3849563-8A0C-4EB4-B1A9-C6DC9D3FB6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0" y="2819400"/>
            <a:ext cx="628650" cy="228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0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CDF2B341-9FCB-4995-A78F-17A7D6C6FC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658350" y="3543300"/>
            <a:ext cx="1504950" cy="4953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42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查看团队接续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E603B8C-69C9-48F1-9AC4-6590FCBD6B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4514850"/>
            <a:ext cx="11087100" cy="1428750"/>
          </a:xfrm>
          <a:prstGeom xmlns:a="http://schemas.openxmlformats.org/drawingml/2006/main" prst="roundRect">
            <a:avLst>
              <a:gd name="adj" fmla="val 20000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CDD5660-DF7C-4E45-85A5-BA1466A968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4819650"/>
            <a:ext cx="5905500" cy="381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2100" b="1">
                <a:solidFill>
                  <a:srgbClr val="B7F3CD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2100" b="1">
                <a:solidFill>
                  <a:srgbClr val="B7F3CD"/>
                </a:solidFill>
                <a:latin typeface="Microsoft YaHei"/>
                <a:ea typeface="Microsoft YaHei"/>
                <a:cs typeface="Microsoft YaHei"/>
              </a:rPr>
              <a:t>您将看到：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6B69D58-46DB-4BB2-BBCC-5B4EEA3999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300" y="5238750"/>
            <a:ext cx="9810750" cy="609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86919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客户资料如何沉淀为正式户型，</a:t>
            </a:r>
          </a:p>
          <a:p xmlns:a="http://schemas.openxmlformats.org/drawingml/2006/main">
            <a:pPr algn="l">
              <a:lnSpc>
                <a:spcPct val="118000"/>
              </a:lnSpc>
              <a:buNone/>
              <a:def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9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并继续生成可沟通、可优化的设计方案。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1B473ACF-0750-4EA7-9D29-8457285E229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6457950"/>
            <a:ext cx="4953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客户演示稿  ·  2026.08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67C8C56-5EF7-494D-9C1B-92BA7990258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5795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19</a:t>
            </a:r>
          </a:p>
        </p:txBody>
      </p:sp>
    </p:spTree>
    <p:extLst>
      <p:ext uri="{BB962C8B-B14F-4D97-AF65-F5344CB8AC3E}">
        <p14:creationId xmlns:p14="http://schemas.microsoft.com/office/powerpoint/2010/main" val="2039140391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FFFFFF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93D92B67-369F-45BD-BC9C-C1E1ED540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08 / 四类 AI 任务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0633B82A-4257-4A5D-AD3F-69EFE24A91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数据库里的家装模板，把一次生成扩展为多种能力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223637DF-C842-4DAA-A68A-D082159C57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当前启用模板库共 960 项；这里筛选最适合客户沟通的四类家装能力。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BD6C69DB-B579-44FF-890A-4A61FBE383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0609033-F186-4D66-BC4D-C94B7C309C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09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949A874-4062-448B-9FA2-7D679A83A4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571750" cy="36385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c19a42b103140e4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770A7E4-347D-47CE-9530-397CFD36F7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1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A2EF2762-81F9-46B9-A8D7-B66AC7EE25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毛坯变完整方案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F4BFDFF1-7D8E-4391-9013-33791F2BE9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9950" y="1952625"/>
            <a:ext cx="2571750" cy="3638550"/>
          </a:xfrm>
          <a:prstGeom xmlns:a="http://schemas.openxmlformats.org/drawingml/2006/main" prst="roundRect">
            <a:avLst>
              <a:gd name="adj" fmla="val 8148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8eb13086e64364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AD50BFDF-E5AA-4640-B7CA-D2C264880C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86150" y="5686425"/>
            <a:ext cx="24193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020CDF86-267B-42BB-92C5-2A43A4ABD7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00450" y="5753100"/>
            <a:ext cx="21907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户型与空间诊断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4ED431D6-6698-47EB-8068-48147A509F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19526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04071903-4D4B-43F1-98C0-5823EAFEDC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181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0BAF55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60F6C2A-B8ED-4FFB-B45E-6D449BFC95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295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5DC116C5-EB7D-4702-939F-E2166D2CDF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2190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毛坯装修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0FF5C3E-2DAB-44D9-9D84-DD4E3BB474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27336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从空房或毛坯底图生成完整硬装、家具与灯光表达。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39B7D260-8119-4DBA-8DD9-EE9FA7C5A9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19526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7F6F1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196DBB6A-D456-4412-8D5E-BAED4F2796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1812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5E9DFEC9-AA6C-430D-A4A2-6C3A88E2EE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2955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B0CDB0B-388D-422D-91DC-9B8F4D2AB9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21907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风格迁移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A59A4CEA-E39C-4794-81EE-BF4C584CA5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7336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沿用参考图的色彩、材质与家具语言，适配当前空间。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9DC8BF8E-7DB9-4DB9-9D4C-7F48206E9F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43650" y="38957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913BF407-1912-429C-8411-5CBE9641A7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124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3C350877-F281-4FC0-BE03-EA656D569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2386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FA94C9A4-3B9C-4375-AA31-F701552611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05650" y="41338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平面与诊断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306C188-C112-44B9-AA4E-5F52083A2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72250" y="46767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彩化户型、识别布局问题，辅助整屋方案沟通。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BE8DBCF0-9F87-4FC8-A227-79F07D2069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91600" y="3895725"/>
            <a:ext cx="2419350" cy="1752600"/>
          </a:xfrm>
          <a:prstGeom xmlns:a="http://schemas.openxmlformats.org/drawingml/2006/main" prst="roundRect">
            <a:avLst>
              <a:gd name="adj" fmla="val 13043"/>
            </a:avLst>
          </a:prstGeom>
          <a:solidFill xmlns:a="http://schemas.openxmlformats.org/drawingml/2006/main">
            <a:srgbClr val="F4F6F4"/>
          </a:solidFill>
          <a:ln xmlns:a="http://schemas.openxmlformats.org/drawingml/2006/main" w="9525">
            <a:solidFill>
              <a:srgbClr val="E0E6E2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9BDC2EEF-7CE9-4419-B461-D9E248C808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124325"/>
            <a:ext cx="400050" cy="40005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093469E4-BE6F-432F-9003-5674A5A1982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238625"/>
            <a:ext cx="40005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3ECFEB3-6FF0-43B3-A62C-F9A1548C8D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53600" y="4133850"/>
            <a:ext cx="142875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局部深化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0CB6182B-A028-44BD-B7CD-2180CD4162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4676775"/>
            <a:ext cx="1981200" cy="7048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  <a:def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材质替换、软装搭配与局部修改，支持持续迭代。</a:t>
            </a:r>
          </a:p>
        </p:txBody>
      </p:sp>
    </p:spTree>
    <p:extLst>
      <p:ext uri="{BB962C8B-B14F-4D97-AF65-F5344CB8AC3E}">
        <p14:creationId xmlns:p14="http://schemas.microsoft.com/office/powerpoint/2010/main" val="169697391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7F6F1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DED6A72C-02FF-445D-806F-C6F581E6A1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11 / 家装模板库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A55C58-68B7-4E26-95DB-64B001AF47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85800"/>
            <a:ext cx="10668000" cy="590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95000"/>
              </a:lnSpc>
              <a:buNone/>
              <a:def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10231C"/>
                </a:solidFill>
                <a:latin typeface="Microsoft YaHei"/>
                <a:ea typeface="Microsoft YaHei"/>
                <a:cs typeface="Microsoft YaHei"/>
              </a:rPr>
              <a:t>把模板做成可选择的能力，而不是一条固定提示词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0D7CBD5-FE2F-4D57-9C53-79C0D07E0B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352550"/>
            <a:ext cx="10668000" cy="419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15000"/>
              </a:lnSpc>
              <a:buNone/>
              <a:def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66756F"/>
                </a:solidFill>
                <a:latin typeface="Microsoft YaHei"/>
                <a:ea typeface="Microsoft YaHei"/>
                <a:cs typeface="Microsoft YaHei"/>
              </a:rPr>
              <a:t>真实数据库示例：现代奶油毛坯装修、法式毛坯装修、户型问题诊断。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35C583B-C677-49E3-BBB7-79C067841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38100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家客来 JIAKELAI  ·  AI 能力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80F4ABB-1F59-465A-92B0-C34B70AAD2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8AA097"/>
                </a:solidFill>
                <a:latin typeface="Microsoft YaHei"/>
                <a:ea typeface="Microsoft YaHei"/>
                <a:cs typeface="Microsoft YaHei"/>
              </a:rPr>
              <a:t>12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B2D2BB7-87B8-4D39-AAE8-E409A69C64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24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4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da32e4bbb614b3e"/>
          <a:stretch xmlns:a="http://schemas.openxmlformats.org/drawingml/2006/main"/>
        </p:blipFill>
        <p:spPr>
          <a:xfrm xmlns:a="http://schemas.openxmlformats.org/drawingml/2006/main" flipH="0" flipV="0">
            <a:off x="6667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A37D604-7901-4A7E-A9AA-01FF9A058A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86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EAF8E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2735F263-2672-4684-A362-CA377188A2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429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0BAF55"/>
                </a:solidFill>
                <a:latin typeface="Microsoft YaHei"/>
                <a:ea typeface="Microsoft YaHei"/>
                <a:cs typeface="Microsoft YaHei"/>
              </a:rPr>
              <a:t>现代奶油毛坯装修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99C37A3-43CC-41C1-9BE0-B55991FFD2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2900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38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e22f0a47c134d09"/>
          <a:stretch xmlns:a="http://schemas.openxmlformats.org/drawingml/2006/main"/>
        </p:blipFill>
        <p:spPr>
          <a:xfrm xmlns:a="http://schemas.openxmlformats.org/drawingml/2006/main" flipH="0" flipV="0">
            <a:off x="354330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D6306E0-10A1-49F4-9276-9D57801869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0520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A14BC6F5-FB50-4042-B4D0-909EE62E5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1950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F5A623"/>
                </a:solidFill>
                <a:latin typeface="Microsoft YaHei"/>
                <a:ea typeface="Microsoft YaHei"/>
                <a:cs typeface="Microsoft YaHei"/>
              </a:rPr>
              <a:t>法式毛坯装修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7B97ED09-E8E9-46C2-BE57-F7ABE5B3DA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05550" y="1952625"/>
            <a:ext cx="2609850" cy="3638550"/>
          </a:xfrm>
          <a:prstGeom xmlns:a="http://schemas.openxmlformats.org/drawingml/2006/main" prst="roundRect">
            <a:avLst>
              <a:gd name="adj" fmla="val 8029"/>
            </a:avLst>
          </a:prstGeom>
          <a:solidFill xmlns:a="http://schemas.openxmlformats.org/drawingml/2006/main">
            <a:srgbClr val="FFFFFF"/>
          </a:solidFill>
          <a:ln xmlns:a="http://schemas.openxmlformats.org/drawingml/2006/main" w="9525">
            <a:solidFill>
              <a:srgbClr val="DDE5E0"/>
            </a:solidFill>
            <a:prstDash val="solid"/>
          </a:ln>
        </p:spPr>
        <p:style>
          <a:lnRef xmlns:a="http://schemas.openxmlformats.org/drawingml/2006/main" idx="0"/>
          <a:fillRef xmlns:a="http://schemas.openxmlformats.org/drawingml/2006/main" idx="0"/>
          <a:effectRef xmlns:a="http://schemas.openxmlformats.org/drawingml/2006/main" idx="4"/>
          <a:fontRef xmlns:a="http://schemas.openxmlformats.org/drawingml/2006/main" idx="major"/>
        </p:style>
      </p:sp>
      <p:pic>
        <p:nvPicPr>
          <p:cNvPr id="42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3ce74e474b740b5"/>
          <a:stretch xmlns:a="http://schemas.openxmlformats.org/drawingml/2006/main"/>
        </p:blipFill>
        <p:spPr>
          <a:xfrm xmlns:a="http://schemas.openxmlformats.org/drawingml/2006/main" flipH="0" flipV="0">
            <a:off x="6419850" y="2333625"/>
            <a:ext cx="2381250" cy="2333625"/>
          </a:xfrm>
          <a:prstGeom xmlns:a="http://schemas.openxmlformats.org/drawingml/2006/main" prst="rect">
            <a:avLst/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CE7A9AA-EB54-4575-AF24-38FF05BF60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81750" y="4829175"/>
            <a:ext cx="2457450" cy="3238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F1E0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7CD55B7-7A2B-461D-A705-C9D7E218DA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96050" y="4895850"/>
            <a:ext cx="2228850" cy="190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050" b="1">
                <a:solidFill>
                  <a:srgbClr val="4F7DF3"/>
                </a:solidFill>
                <a:latin typeface="Microsoft YaHei"/>
                <a:ea typeface="Microsoft YaHei"/>
                <a:cs typeface="Microsoft YaHei"/>
              </a:rPr>
              <a:t>户型问题诊断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102D0C9-B9DB-43EF-98F0-98E8665D34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01150" y="2095500"/>
            <a:ext cx="2400300" cy="3257550"/>
          </a:xfrm>
          <a:prstGeom xmlns:a="http://schemas.openxmlformats.org/drawingml/2006/main" prst="roundRect">
            <a:avLst>
              <a:gd name="adj" fmla="val 9524"/>
            </a:avLst>
          </a:prstGeom>
          <a:solidFill xmlns:a="http://schemas.openxmlformats.org/drawingml/2006/main">
            <a:srgbClr val="06372A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6603ED4-C905-4C87-A316-4524503FBA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38125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7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当前提示词库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98FF36E-F78D-4F6C-A2DA-9948795584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2838450"/>
            <a:ext cx="1866900" cy="7239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  <a:def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75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2026-08-01 发布；共 960 个启用模板。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1E60E25-2FCF-40AB-A5B5-F5DF9F8557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3771900"/>
            <a:ext cx="1866900" cy="0"/>
          </a:xfrm>
          <a:prstGeom xmlns:a="http://schemas.openxmlformats.org/drawingml/2006/main" prst="line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19050">
            <a:solidFill>
              <a:srgbClr val="2D6B56"/>
            </a:solidFill>
            <a:prstDash val="solid"/>
          </a:ln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6D793CA-B4A4-4749-8015-F537937A40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038600"/>
            <a:ext cx="1866900" cy="285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A9D8FF"/>
                </a:solidFill>
                <a:latin typeface="Microsoft YaHei"/>
                <a:ea typeface="Microsoft YaHei"/>
                <a:cs typeface="Microsoft YaHei"/>
              </a:rPr>
              <a:t>演示筛选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B4D4D25E-FFC4-4D3E-ACD4-7D6C50F353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67850" y="4476750"/>
            <a:ext cx="1866900" cy="6667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28000"/>
              </a:lnSpc>
              <a:buNone/>
              <a:def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8DDD4"/>
                </a:solidFill>
                <a:latin typeface="Microsoft YaHei"/>
                <a:ea typeface="Microsoft YaHei"/>
                <a:cs typeface="Microsoft YaHei"/>
              </a:rPr>
              <a:t>优先家装、可比较、客户易理解的模板。</a:t>
            </a:r>
          </a:p>
        </p:txBody>
      </p:sp>
    </p:spTree>
    <p:extLst>
      <p:ext uri="{BB962C8B-B14F-4D97-AF65-F5344CB8AC3E}">
        <p14:creationId xmlns:p14="http://schemas.microsoft.com/office/powerpoint/2010/main" val="639602433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06372A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6B0BA5CE-25D2-4B81-AA5F-5847424AF7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323850"/>
            <a:ext cx="4953000" cy="2095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75" b="1">
                <a:solidFill>
                  <a:srgbClr val="6EE39E"/>
                </a:solidFill>
                <a:latin typeface="Microsoft YaHei"/>
                <a:ea typeface="Microsoft YaHei"/>
                <a:cs typeface="Microsoft YaHei"/>
              </a:rPr>
              <a:t>17 / 使用条件与产品边界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43A760E-EB7F-4E44-9F0B-85F9A5A10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742950"/>
            <a:ext cx="10763250" cy="5715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3450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顺利完成量房与设计，需要先具备这些条件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6A7E202-C899-4919-A674-85A7D8F05A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1428750"/>
            <a:ext cx="10668000" cy="3619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0">
                <a:solidFill>
                  <a:srgbClr val="BFD7CE"/>
                </a:solidFill>
                <a:latin typeface="Microsoft YaHei"/>
                <a:ea typeface="Microsoft YaHei"/>
                <a:cs typeface="Microsoft YaHei"/>
              </a:rPr>
              <a:t>账号、户型、权限和服务配置准备就绪后，团队即可沿客户流程继续推进。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704D2C0-AB96-4525-9D5C-B799E2E75D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312B3E5-6C6B-4149-A6BF-9A6B98B54B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669028D1-2FB1-4A17-B90F-C9853075E8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1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B43C76BB-0954-4D73-83D7-F181737524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账号与服务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57FB92A-1130-4126-AD00-0159D009E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企业账号可正常使用，网络和服务连接有效。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07D76AB-568B-426F-965F-C0C978EAC73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2152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E8FE564-E146-4B7C-98EA-C4BC9E14D9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381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4F7DF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7EFFDF-3A7F-443A-B4A2-55DC86AC8A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2505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2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FCEBCBF0-C558-4080-A87B-4444C42DA4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324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蓝牙测距（可选）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9835E1AF-E8D4-43AA-8E3F-C4D3DA9C6C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2628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使用兼容且已分配授权的设备；也可手工录入。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93DA3CE7-6769-4882-A996-6DE1B6C67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C07E47C9-20B8-455D-9E70-BC614B8100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F5A623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D40B220B-0536-45AD-A4F8-6730090EA6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3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3DED8754-6D2F-4786-BA5B-4BB67EA81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户型数据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5E7A40A-EE07-44AF-96DB-A95299FFFC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墙体有效并形成闭合空间，方可进入对应设计流程。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CF8DD4F3-B9B6-4E33-A9E8-4B64CAB8CA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3295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09378CC2-0E42-4DFF-A4C9-3DCD62166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524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8C63E8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2B1B9C0-BAED-4910-8FD7-61349844407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3648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4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D15A9345-F810-4CD0-BF72-20A2088D98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467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AI 设计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277A36C4-64CE-4C7F-B56B-8BE95A92E8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3771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企业已开通权限，并具备可用点数和有效服务配置。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8BC997EE-E831-492F-A53A-0C4C9A6D8A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34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A4937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4F22AB57-CC80-4EE7-8693-AE1BA4C64B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E45A4F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2C158D41-030A-43A5-AE23-730F03556C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5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DDE17505-57E3-4960-A1C7-F3EAD7299F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方案用途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FFAF24C5-3F94-42BC-93B5-C1E676C847A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716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用于概念表达、方案比较和客户沟通，不作为施工图。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15CA856B-9332-44DD-8CDC-1DE1BB62DC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24600" y="4438650"/>
            <a:ext cx="5334000" cy="876300"/>
          </a:xfrm>
          <a:prstGeom xmlns:a="http://schemas.openxmlformats.org/drawingml/2006/main" prst="roundRect">
            <a:avLst>
              <a:gd name="adj" fmla="val 26087"/>
            </a:avLst>
          </a:prstGeom>
          <a:solidFill xmlns:a="http://schemas.openxmlformats.org/drawingml/2006/main">
            <a:srgbClr val="0B4032"/>
          </a:solidFill>
          <a:ln xmlns:a="http://schemas.openxmlformats.org/drawingml/2006/main" w="9525">
            <a:solidFill>
              <a:srgbClr val="23624E"/>
            </a:solidFill>
            <a:prstDash val="solid"/>
          </a:ln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61F597F-6A94-4137-B50A-AAB19F28F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667250"/>
            <a:ext cx="419100" cy="419100"/>
          </a:xfrm>
          <a:prstGeom xmlns:a="http://schemas.openxmlformats.org/drawingml/2006/main" prst="ellipse">
            <a:avLst/>
          </a:prstGeom>
          <a:solidFill xmlns:a="http://schemas.openxmlformats.org/drawingml/2006/main">
            <a:srgbClr val="18C667"/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FF9B149B-630D-4439-A12A-AEFA712C04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553200" y="4791075"/>
            <a:ext cx="4191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4340"/>
          </a:bodyPr>
          <a:lstStyle xmlns:a="http://schemas.openxmlformats.org/drawingml/2006/main"/>
          <a:p xmlns:a="http://schemas.openxmlformats.org/drawingml/2006/main">
            <a:pPr algn="ctr">
              <a:lnSpc>
                <a:spcPct val="106000"/>
              </a:lnSpc>
              <a:buNone/>
              <a:def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12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6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BD7C6B6-F6DA-46EA-9B75-C5EF9C3167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610100"/>
            <a:ext cx="1638300" cy="2476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97335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575" b="1">
                <a:solidFill>
                  <a:srgbClr val="FFFFFF"/>
                </a:solidFill>
                <a:latin typeface="Microsoft YaHei"/>
                <a:ea typeface="Microsoft YaHei"/>
                <a:cs typeface="Microsoft YaHei"/>
              </a:rPr>
              <a:t>数据访问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F543BB69-7442-4D12-A757-67041197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62800" y="4914900"/>
            <a:ext cx="4171950" cy="266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1200" b="0">
                <a:solidFill>
                  <a:srgbClr val="C6DDD4"/>
                </a:solidFill>
                <a:latin typeface="Microsoft YaHei"/>
                <a:ea typeface="Microsoft YaHei"/>
                <a:cs typeface="Microsoft YaHei"/>
              </a:rPr>
              <a:t>员工按企业角色和本人权限访问客户与户型数据。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1EC6289F-189D-40B2-AD01-564898D517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14350" y="6477000"/>
            <a:ext cx="40005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l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家客来 JIAKELAI  ·  产品边界</a:t>
            </a:r>
          </a:p>
        </p:txBody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EE68E895-A72F-49C3-B44E-2A7FE541ED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239500" y="6477000"/>
            <a:ext cx="457200" cy="1714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0000">
              <a:alpha val="0"/>
            </a:srgbClr>
          </a:solidFill>
          <a:ln xmlns:a="http://schemas.openxmlformats.org/drawingml/2006/main" w="0">
            <a:solidFill>
              <a:srgbClr val="000000">
                <a:alpha val="0"/>
              </a:srgbClr>
            </a:solidFill>
            <a:prstDash val="solid"/>
          </a:ln>
        </p:spPr>
        <p:txBody>
          <a:bodyPr xmlns:a="http://schemas.openxmlformats.org/drawingml/2006/main" lIns="0" tIns="0" rIns="0" bIns="0" anchor="t">
            <a:normAutofit fontScale="100000"/>
          </a:bodyPr>
          <a:lstStyle xmlns:a="http://schemas.openxmlformats.org/drawingml/2006/main"/>
          <a:p xmlns:a="http://schemas.openxmlformats.org/drawingml/2006/main">
            <a:pPr algn="r">
              <a:lnSpc>
                <a:spcPct val="106000"/>
              </a:lnSpc>
              <a:buNone/>
              <a:def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defRPr>
            </a:pPr>
            <a:r>
              <a:rPr sz="900" b="0">
                <a:solidFill>
                  <a:srgbClr val="789D8F"/>
                </a:solidFill>
                <a:latin typeface="Microsoft YaHei"/>
                <a:ea typeface="Microsoft YaHei"/>
                <a:cs typeface="Microsoft YaHei"/>
              </a:rPr>
              <a:t>18</a:t>
            </a:r>
          </a:p>
        </p:txBody>
      </p:sp>
    </p:spTree>
    <p:extLst>
      <p:ext uri="{BB962C8B-B14F-4D97-AF65-F5344CB8AC3E}">
        <p14:creationId xmlns:p14="http://schemas.microsoft.com/office/powerpoint/2010/main" val="834433213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2026-08-12T17:34:56.5860000Z</dcterms:created>
  <dcterms:modified xsi:type="dcterms:W3CDTF">2026-08-12T17:34:56.5860000Z</dcterms:modified>
</coreProperties>
</file>
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ef0560a94c430b" /><Relationship Type="http://schemas.openxmlformats.org/officeDocument/2006/relationships/extended-properties" Target="/docProps/app.xml" Id="R99bd407faed44d20" /><Relationship Type="http://schemas.openxmlformats.org/officeDocument/2006/relationships/officeDocument" Target="/ppt/presentation.xml" Id="Rfc838a85f3934c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bdc9afd24f420d"/>
  </p:sldMasterIdLst>
  <p:notesMasterIdLst>
    <p:notesMasterId xmlns:r="http://schemas.openxmlformats.org/officeDocument/2006/relationships" r:id="Ra36064e373744c01"/>
  </p:notesMasterIdLst>
  <p:sldIdLst>
    <p:sldId xmlns:r="http://schemas.openxmlformats.org/officeDocument/2006/relationships" id="256" r:id="Rf47615a246f14d93"/>
    <p:sldId xmlns:r="http://schemas.openxmlformats.org/officeDocument/2006/relationships" id="257" r:id="Reca10f82744c401f"/>
    <p:sldId xmlns:r="http://schemas.openxmlformats.org/officeDocument/2006/relationships" id="258" r:id="R649dd1d813634a60"/>
    <p:sldId xmlns:r="http://schemas.openxmlformats.org/officeDocument/2006/relationships" id="259" r:id="R85ceb73c934f4e5a"/>
    <p:sldId xmlns:r="http://schemas.openxmlformats.org/officeDocument/2006/relationships" id="260" r:id="Re7c49e84e32d4820"/>
    <p:sldId xmlns:r="http://schemas.openxmlformats.org/officeDocument/2006/relationships" id="261" r:id="Rcbdc471ad15044d6"/>
    <p:sldId xmlns:r="http://schemas.openxmlformats.org/officeDocument/2006/relationships" id="262" r:id="R5b8968f2e30c4347"/>
    <p:sldId xmlns:r="http://schemas.openxmlformats.org/officeDocument/2006/relationships" id="263" r:id="Rb2df8f75523a4cd1"/>
    <p:sldId xmlns:r="http://schemas.openxmlformats.org/officeDocument/2006/relationships" id="264" r:id="R9a0da4860e55478a"/>
    <p:sldId xmlns:r="http://schemas.openxmlformats.org/officeDocument/2006/relationships" id="265" r:id="Rcd6de9c95f6c47a0"/>
    <p:sldId xmlns:r="http://schemas.openxmlformats.org/officeDocument/2006/relationships" id="266" r:id="Rf1fd0523d41143a7"/>
    <p:sldId xmlns:r="http://schemas.openxmlformats.org/officeDocument/2006/relationships" id="267" r:id="R49b4d91598834eb8"/>
    <p:sldId xmlns:r="http://schemas.openxmlformats.org/officeDocument/2006/relationships" id="268" r:id="R0601cd2c824e4f0a"/>
    <p:sldId xmlns:r="http://schemas.openxmlformats.org/officeDocument/2006/relationships" id="269" r:id="R10be57bd066b4f33"/>
    <p:sldId xmlns:r="http://schemas.openxmlformats.org/officeDocument/2006/relationships" id="270" r:id="R4d4b91961e4241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6354c0429f470b" /><Relationship Type="http://schemas.openxmlformats.org/officeDocument/2006/relationships/slideMaster" Target="/ppt/slideMasters/slideMaster1.xml" Id="Rebbdc9afd24f420d" /><Relationship Type="http://schemas.openxmlformats.org/officeDocument/2006/relationships/notesMaster" Target="/ppt/notesMasters/notesMaster1.xml" Id="Ra36064e373744c01" /><Relationship Type="http://schemas.openxmlformats.org/officeDocument/2006/relationships/presProps" Target="/ppt/presProps.xml" Id="R93ed5eae917649a1" /><Relationship Type="http://schemas.openxmlformats.org/officeDocument/2006/relationships/tableStyles" Target="/ppt/tableStyles.xml" Id="R9573882dc9c74028" /><Relationship Type="http://schemas.openxmlformats.org/officeDocument/2006/relationships/slide" Target="/ppt/slides/slide1.xml" Id="Rf47615a246f14d93" /><Relationship Type="http://schemas.openxmlformats.org/officeDocument/2006/relationships/slide" Target="/ppt/slides/slide2.xml" Id="Reca10f82744c401f" /><Relationship Type="http://schemas.openxmlformats.org/officeDocument/2006/relationships/slide" Target="/ppt/slides/slide3.xml" Id="R649dd1d813634a60" /><Relationship Type="http://schemas.openxmlformats.org/officeDocument/2006/relationships/slide" Target="/ppt/slides/slide4.xml" Id="R85ceb73c934f4e5a" /><Relationship Type="http://schemas.openxmlformats.org/officeDocument/2006/relationships/slide" Target="/ppt/slides/slide5.xml" Id="Re7c49e84e32d4820" /><Relationship Type="http://schemas.openxmlformats.org/officeDocument/2006/relationships/slide" Target="/ppt/slides/slide6.xml" Id="Rcbdc471ad15044d6" /><Relationship Type="http://schemas.openxmlformats.org/officeDocument/2006/relationships/slide" Target="/ppt/slides/slide7.xml" Id="R5b8968f2e30c4347" /><Relationship Type="http://schemas.openxmlformats.org/officeDocument/2006/relationships/slide" Target="/ppt/slides/slide8.xml" Id="Rb2df8f75523a4cd1" /><Relationship Type="http://schemas.openxmlformats.org/officeDocument/2006/relationships/slide" Target="/ppt/slides/slide9.xml" Id="R9a0da4860e55478a" /><Relationship Type="http://schemas.openxmlformats.org/officeDocument/2006/relationships/slide" Target="/ppt/slides/slide10.xml" Id="Rcd6de9c95f6c47a0" /><Relationship Type="http://schemas.openxmlformats.org/officeDocument/2006/relationships/slide" Target="/ppt/slides/slide11.xml" Id="Rf1fd0523d41143a7" /><Relationship Type="http://schemas.openxmlformats.org/officeDocument/2006/relationships/slide" Target="/ppt/slides/slide12.xml" Id="R49b4d91598834eb8" /><Relationship Type="http://schemas.openxmlformats.org/officeDocument/2006/relationships/slide" Target="/ppt/slides/slide13.xml" Id="R0601cd2c824e4f0a" /><Relationship Type="http://schemas.openxmlformats.org/officeDocument/2006/relationships/slide" Target="/ppt/slides/slide14.xml" Id="R10be57bd066b4f33" /><Relationship Type="http://schemas.openxmlformats.org/officeDocument/2006/relationships/slide" Target="/ppt/slides/slide15.xml" Id="R4d4b91961e4241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472d2e345040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7137f3260143f7" /><Relationship Type="http://schemas.openxmlformats.org/officeDocument/2006/relationships/notesMaster" Target="/ppt/notesMasters/notesMaster1.xml" Id="R6c8f9aad1fca4a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7e69fbc41a41c8" /><Relationship Type="http://schemas.openxmlformats.org/officeDocument/2006/relationships/notesMaster" Target="/ppt/notesMasters/notesMaster1.xml" Id="Rc69611ce4f4846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a8ddc8af174516" /><Relationship Type="http://schemas.openxmlformats.org/officeDocument/2006/relationships/notesMaster" Target="/ppt/notesMasters/notesMaster1.xml" Id="R957a9264a51242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0c78c6794d4615" /><Relationship Type="http://schemas.openxmlformats.org/officeDocument/2006/relationships/notesMaster" Target="/ppt/notesMasters/notesMaster1.xml" Id="R0f9055de05ca43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2646164d3f4a70" /><Relationship Type="http://schemas.openxmlformats.org/officeDocument/2006/relationships/notesMaster" Target="/ppt/notesMasters/notesMaster1.xml" Id="R32fe6d2e1f3346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31b0af36604ca1" /><Relationship Type="http://schemas.openxmlformats.org/officeDocument/2006/relationships/notesMaster" Target="/ppt/notesMasters/notesMaster1.xml" Id="Rde7c33c8440841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a55d558efa44e5" /><Relationship Type="http://schemas.openxmlformats.org/officeDocument/2006/relationships/notesMaster" Target="/ppt/notesMasters/notesMaster1.xml" Id="Rf07a67ddbf6045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c91e8671574332" /><Relationship Type="http://schemas.openxmlformats.org/officeDocument/2006/relationships/notesMaster" Target="/ppt/notesMasters/notesMaster1.xml" Id="Ra07c32cd2c4d44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0281467bff4878" /><Relationship Type="http://schemas.openxmlformats.org/officeDocument/2006/relationships/notesMaster" Target="/ppt/notesMasters/notesMaster1.xml" Id="R7aa3c59935d248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243a364ec2416b" /><Relationship Type="http://schemas.openxmlformats.org/officeDocument/2006/relationships/notesMaster" Target="/ppt/notesMasters/notesMaster1.xml" Id="Rc2ffcb70939d4f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d2862365224dab" /><Relationship Type="http://schemas.openxmlformats.org/officeDocument/2006/relationships/notesMaster" Target="/ppt/notesMasters/notesMaster1.xml" Id="Re0a2d7e4e28c45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d349c263f4479b" /><Relationship Type="http://schemas.openxmlformats.org/officeDocument/2006/relationships/notesMaster" Target="/ppt/notesMasters/notesMaster1.xml" Id="Rd6a010e231e045d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bb69c7acba4ae3" /><Relationship Type="http://schemas.openxmlformats.org/officeDocument/2006/relationships/notesMaster" Target="/ppt/notesMasters/notesMaster1.xml" Id="R354e107c505c42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383a35f44347f2" /><Relationship Type="http://schemas.openxmlformats.org/officeDocument/2006/relationships/notesMaster" Target="/ppt/notesMasters/notesMaster1.xml" Id="R1c52182468f644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42cd12f0c44804" /><Relationship Type="http://schemas.openxmlformats.org/officeDocument/2006/relationships/notesMaster" Target="/ppt/notesMasters/notesMaster1.xml" Id="R4a5e2edda1044f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repository module inventories for customer records, formal surveying, AI design, team roles, and product boundaries.</a:t>
            </a:r>
          </a:p>
          <a:p xmlns:a="http://schemas.openxmlformats.org/drawingml/2006/main">
            <a:r>
              <a:t>- Brand hero and logo inherited from the supplied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repository customer-record and surveying module inventories.</a:t>
            </a:r>
          </a:p>
          <a:p xmlns:a="http://schemas.openxmlformats.org/drawingml/2006/main">
            <a:r>
              <a:t>- This slide describes operating pain and does not claim measured financial or conversion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customer-stage, formal-floor-plan, AI workflow, and role-handoff contracts in the repository module inventories.</a:t>
            </a:r>
          </a:p>
          <a:p xmlns:a="http://schemas.openxmlformats.org/drawingml/2006/main">
            <a:r>
              <a:t>- 张女士 is the deck's illustrative customer identity, not a claimed customer case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screenshots inherited from the supplied source deck.</a:t>
            </a:r>
          </a:p>
          <a:p xmlns:a="http://schemas.openxmlformats.org/drawingml/2006/main">
            <a:r>
              <a:t>- Current Mini Program customer-record and formal-plan association contracts.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screenshots inherited from the supplied source deck.</a:t>
            </a:r>
          </a:p>
          <a:p xmlns:a="http://schemas.openxmlformats.org/drawingml/2006/main">
            <a:r>
              <a:t>- docs/surveying-module/README.md and formal-surveying.md: millimetre wall graph, manual/BLE input, doors/openings, closed spaces, and formal-plan persistence.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demonstration images produced with OpenAI built-in image generation from the same empty-room reference: owner-sales-modern-cream-v2.jpg, owner-sales-modern-french-v2.jpg, owner-sales-modern-chinese-v2.jpg.</a:t>
            </a:r>
          </a:p>
          <a:p xmlns:a="http://schemas.openxmlformats.org/drawingml/2006/main">
            <a:r>
              <a:t>- Images demonstrate concept comparison only; they are not runtime screenshots or construction drawings.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demonstration assets inherited from the supplied source deck: empty-room to modern-cream comparison and local material replacement.</a:t>
            </a:r>
          </a:p>
          <a:p xmlns:a="http://schemas.openxmlformats.org/drawingml/2006/main">
            <a:r>
              <a:t>- Current AI workflow contract: successful results remain in the customer/formal-plan workflow and may be continued by supported stages.</a:t>
            </a:r>
          </a:p>
          <a:p xmlns:a="http://schemas.openxmlformats.org/drawingml/2006/main">
            <a:r>
              <a:t>- Demonstration images are not construction drawings.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screenshots inherited from the supplied source deck.</a:t>
            </a:r>
          </a:p>
          <a:p xmlns:a="http://schemas.openxmlformats.org/drawingml/2006/main">
            <a:r>
              <a:t>- Current Mini Program AI contract: required inputs, target context, progress, enterprise credits, success deduction, failure release, and retry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role, permission, customer-stage, formal-plan, and AI workflow contracts in the repository module inventories.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 inherited from the supplied source deck.</a:t>
            </a:r>
          </a:p>
          <a:p xmlns:a="http://schemas.openxmlformats.org/drawingml/2006/main">
            <a:r>
              <a:t>- Current Mini Program and Admin module inventories for field execution, organization, permissions, customers, formal plans, and AI workflow management.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Proposed pilot and purchasing checklist for customer discussion.</a:t>
            </a:r>
          </a:p>
          <a:p xmlns:a="http://schemas.openxmlformats.org/drawingml/2006/main">
            <a:r>
              <a:t>- Product facts grounded in current enterprise-account, role-permission, AI-credit, optional BLE-device, and service-configuration contracts.</a:t>
            </a:r>
          </a:p>
          <a:p xmlns:a="http://schemas.openxmlformats.org/drawingml/2006/main">
            <a:r>
              <a:t>- No fixed price, duration, or performance outcome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Proposed next-step and observable pilot acceptance criteria.</a:t>
            </a:r>
          </a:p>
          <a:p xmlns:a="http://schemas.openxmlformats.org/drawingml/2006/main">
            <a:r>
              <a:t>- No customer outcome or conversion metric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Mini Program and Admin AI capabilities: reference recreation, whole-space style transformation, formal-floor-plan concept rendering, and soft-furnishing refinement.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PostgreSQL prompt-library active revision published 2026-08-01 with 960 enabled templates.</a:t>
            </a:r>
          </a:p>
          <a:p xmlns:a="http://schemas.openxmlformats.org/drawingml/2006/main">
            <a:r>
              <a:t>- Shown inherited preview assets correspond to modern-cream rough-home renovation, French rough-home renovation, and floor-plan problem diagnosis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repository product boundaries: valid enterprise account and services; optional compatible authorized BLE device or manual entry; completed valid version-4 formal plan with closed space; AI permission and credits; concept-only AI output; role-scoped data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024761724346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e96c6c43fd43a7" /><Relationship Type="http://schemas.openxmlformats.org/officeDocument/2006/relationships/slideLayout" Target="/ppt/slideLayouts/slideLayout1.xml" Id="R3db44989d9ec40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b44989d9ec40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d42f8f6ea4199" /><Relationship Type="http://schemas.openxmlformats.org/officeDocument/2006/relationships/image" Target="/ppt/media/image.png" Id="R3e3f3ddbc8194ed9" /><Relationship Type="http://schemas.openxmlformats.org/officeDocument/2006/relationships/image" Target="/ppt/media/image2.png" Id="R0800b1cb52454b42" /><Relationship Type="http://schemas.openxmlformats.org/officeDocument/2006/relationships/notesSlide" Target="/ppt/notesSlides/notesSlide1.xml" Id="R4a3ff53f32ac48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c5c1c64f74bfd" /><Relationship Type="http://schemas.openxmlformats.org/officeDocument/2006/relationships/notesSlide" Target="/ppt/notesSlides/notesSlide2.xml" Id="Rf2a52f94573b41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1f14453b346b1" /><Relationship Type="http://schemas.openxmlformats.org/officeDocument/2006/relationships/notesSlide" Target="/ppt/notesSlides/notesSlide3.xml" Id="Rd294d1171c7041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48afcb65148fa" /><Relationship Type="http://schemas.openxmlformats.org/officeDocument/2006/relationships/image" Target="/ppt/media/image3.png" Id="Reff9d7cbdf704172" /><Relationship Type="http://schemas.openxmlformats.org/officeDocument/2006/relationships/image" Target="/ppt/media/image4.png" Id="Rd4e91ff33d4b4c52" /><Relationship Type="http://schemas.openxmlformats.org/officeDocument/2006/relationships/notesSlide" Target="/ppt/notesSlides/notesSlide4.xml" Id="R3def49239aad41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f24f498e0454d" /><Relationship Type="http://schemas.openxmlformats.org/officeDocument/2006/relationships/image" Target="/ppt/media/image5.png" Id="Rc33f67d98cf448ab" /><Relationship Type="http://schemas.openxmlformats.org/officeDocument/2006/relationships/image" Target="/ppt/media/image6.png" Id="R1d62fe12ad7744ce" /><Relationship Type="http://schemas.openxmlformats.org/officeDocument/2006/relationships/image" Target="/ppt/media/image7.png" Id="R70321da545374087" /><Relationship Type="http://schemas.openxmlformats.org/officeDocument/2006/relationships/notesSlide" Target="/ppt/notesSlides/notesSlide5.xml" Id="Rd61c9418737042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d9e106f0249a4" /><Relationship Type="http://schemas.openxmlformats.org/officeDocument/2006/relationships/image" Target="/ppt/media/image.jpeg" Id="R70cabc7d85244006" /><Relationship Type="http://schemas.openxmlformats.org/officeDocument/2006/relationships/image" Target="/ppt/media/image2.jpeg" Id="Rfa696fbeaff64351" /><Relationship Type="http://schemas.openxmlformats.org/officeDocument/2006/relationships/image" Target="/ppt/media/image3.jpeg" Id="R7646492421fb4cac" /><Relationship Type="http://schemas.openxmlformats.org/officeDocument/2006/relationships/notesSlide" Target="/ppt/notesSlides/notesSlide6.xml" Id="Rf667eeb4ee6444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c88b7c4d3405c" /><Relationship Type="http://schemas.openxmlformats.org/officeDocument/2006/relationships/image" Target="/ppt/media/image4.jpeg" Id="Raf56e643e53e45ae" /><Relationship Type="http://schemas.openxmlformats.org/officeDocument/2006/relationships/image" Target="/ppt/media/image5.jpeg" Id="R255894da331a4995" /><Relationship Type="http://schemas.openxmlformats.org/officeDocument/2006/relationships/image" Target="/ppt/media/image6.jpeg" Id="R843ecb58fe3d4711" /><Relationship Type="http://schemas.openxmlformats.org/officeDocument/2006/relationships/notesSlide" Target="/ppt/notesSlides/notesSlide7.xml" Id="R3ccf28388a7040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ad3ce6f2b4342" /><Relationship Type="http://schemas.openxmlformats.org/officeDocument/2006/relationships/image" Target="/ppt/media/image8.png" Id="Rbcec1d05b8104458" /><Relationship Type="http://schemas.openxmlformats.org/officeDocument/2006/relationships/image" Target="/ppt/media/image9.png" Id="R337be0c236334292" /><Relationship Type="http://schemas.openxmlformats.org/officeDocument/2006/relationships/notesSlide" Target="/ppt/notesSlides/notesSlide8.xml" Id="Rf39d515ab87448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ee751e4334921" /><Relationship Type="http://schemas.openxmlformats.org/officeDocument/2006/relationships/notesSlide" Target="/ppt/notesSlides/notesSlide9.xml" Id="R215a891e023649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8834e12f84295" /><Relationship Type="http://schemas.openxmlformats.org/officeDocument/2006/relationships/image" Target="/ppt/media/image10.png" Id="Rbbb99f79fd3d4193" /><Relationship Type="http://schemas.openxmlformats.org/officeDocument/2006/relationships/notesSlide" Target="/ppt/notesSlides/notesSlide10.xml" Id="R754efb3e1c4343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c6bee20f74ac4" /><Relationship Type="http://schemas.openxmlformats.org/officeDocument/2006/relationships/notesSlide" Target="/ppt/notesSlides/notesSlide11.xml" Id="Raea7b86d3e6846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c3844a9e14d49" /><Relationship Type="http://schemas.openxmlformats.org/officeDocument/2006/relationships/image" Target="/ppt/media/image11.png" Id="R098ad30aa03044e9" /><Relationship Type="http://schemas.openxmlformats.org/officeDocument/2006/relationships/notesSlide" Target="/ppt/notesSlides/notesSlide12.xml" Id="R2e29b8b966444a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193c8427b4df8" /><Relationship Type="http://schemas.openxmlformats.org/officeDocument/2006/relationships/image" Target="/ppt/media/image7.jpeg" Id="R67b0700b01ec4f1d" /><Relationship Type="http://schemas.openxmlformats.org/officeDocument/2006/relationships/image" Target="/ppt/media/image8.jpeg" Id="Ra265f2ec9d4245ec" /><Relationship Type="http://schemas.openxmlformats.org/officeDocument/2006/relationships/notesSlide" Target="/ppt/notesSlides/notesSlide13.xml" Id="R9147f5ced6654b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21351f1e0427c" /><Relationship Type="http://schemas.openxmlformats.org/officeDocument/2006/relationships/image" Target="/ppt/media/image9.jpeg" Id="R4d38273ec14540d1" /><Relationship Type="http://schemas.openxmlformats.org/officeDocument/2006/relationships/image" Target="/ppt/media/image10.jpeg" Id="Rc317fd19a4294d0a" /><Relationship Type="http://schemas.openxmlformats.org/officeDocument/2006/relationships/image" Target="/ppt/media/image11.jpeg" Id="R1e610435274c4954" /><Relationship Type="http://schemas.openxmlformats.org/officeDocument/2006/relationships/notesSlide" Target="/ppt/notesSlides/notesSlide14.xml" Id="R3be7618007424b0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5644dedf84ef7" /><Relationship Type="http://schemas.openxmlformats.org/officeDocument/2006/relationships/notesSlide" Target="/ppt/notesSlides/notesSlide15.xml" Id="Re6b8437914fa41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5A8C9-FE97-4F4A-837C-4A4B82D6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f3ddbc8194ed9"/>
          <a:stretch xmlns:a="http://schemas.openxmlformats.org/drawingml/2006/main"/>
        </p:blipFill>
        <p:spPr>
          <a:xfrm xmlns:a="http://schemas.openxmlformats.org/drawingml/2006/main">
            <a:off x="6593025" y="1285875"/>
            <a:ext cx="4911450" cy="39052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0b1cb52454b42"/>
          <a:stretch xmlns:a="http://schemas.openxmlformats.org/drawingml/2006/main"/>
        </p:blipFill>
        <p:spPr>
          <a:xfrm xmlns:a="http://schemas.openxmlformats.org/drawingml/2006/main">
            <a:off x="552450" y="45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EE5B3-C790-4FA2-956D-D19B137F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rPr>
              <a:t>家客来  JIAKELAI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9A4E6-E547-47A5-94E7-C67D31E3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5810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9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量房成果沉淀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设计直接接手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客户更快看方案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33E53-EA4E-4547-8CF4-7D717E76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009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47625">
            <a:solidFill>
              <a:srgbClr val="18C6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484CA-4FD1-49C2-B045-021FE65C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61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rPr>
              <a:t>家客来把客户档案、正式量房、AI 方案和团队跟进连接成同一条服务主线。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04ECD-79D1-44B1-8FA2-556B0044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095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C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52AE0-ED67-4CE1-8811-08C46040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rPr>
              <a:t>同一客户  ·  同一户型  ·  持续设计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C6C8B-A78C-497C-837F-10F53E6D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5317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rPr>
              <a:t>老板销售版  ·  16:9  ·  2026.08</a:t>
            </a:r>
          </a:p>
        </p:txBody>
      </p:sp>
    </p:spTree>
    <p:extLst>
      <p:ext uri="{BB962C8B-B14F-4D97-AF65-F5344CB8AC3E}">
        <p14:creationId xmlns:p14="http://schemas.microsoft.com/office/powerpoint/2010/main" val="5565917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83760-22F5-4CB7-B8A5-0F88A47C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01 / 老板为什么需要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B8B83-CE05-424A-84D4-79BB4630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真正拖慢签单的，不是设计能力，而是交接断点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B60F1-B83C-42C3-AF06-72197051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客户资料、现场尺寸、设计依据和跟进责任分散后，团队会重复劳动，客户也要重复等待。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72039-7793-4800-882B-AF91BCA0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老板决策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7AA77-D90E-45CD-BA07-76407968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F8557-0E15-4606-9554-E7360F8C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0300"/>
            <a:ext cx="0" cy="2762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C9D6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EB0B8-61DF-4BE7-A154-F2E0D9BC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3484E-3A1E-404C-ADF2-BD1E5C4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5C18D-44FC-48C7-AF85-D75DB582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336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客户资料散落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588D6-D366-4496-877B-89BE90AB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微信、纸张、表格分开保存，接手的人看不到完整上下文。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B5FC9-167D-4C3C-8E73-D8BDD5EA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7F1F1-DA85-418D-900B-5AD3F34C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54EEB-9775-4AC3-B9BB-22F3CB1B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99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尺寸反复录入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EC126-1557-49A0-A1C9-022ECD11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现场手抄、拍照、转述后再录入，耗时且容易失真。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45C5D-078C-40C9-9035-66F7C9A4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8D63F-660C-4DC0-A0DF-659232B7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CBE3B-F487-431A-9F77-DEEAE341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862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设计师重新确认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B84F2-7764-47E9-93F8-B156103F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客户需求和户型没有连接，设计接手仍要从头问起。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744E7-2469-4FF2-A854-93343C9E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E73DA-7EE2-4E78-9204-280C7807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E17964-CA6A-40CB-A668-CCFDECE2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老板看不见下一步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87C41-95A3-466F-9411-8997E81A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15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客户卡在哪一步、由谁负责、已经产出了什么都不够清楚。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9D29A-A29C-466C-AA61-1DE7E9C4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95250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3FE541-9A56-4C85-BF3B-A5BE0CC4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57875"/>
            <a:ext cx="902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家客来解决的不是“多一个工具”，而是让每一步成果继续被下一岗位使用。</a:t>
            </a:r>
          </a:p>
        </p:txBody>
      </p:sp>
    </p:spTree>
    <p:extLst>
      <p:ext uri="{BB962C8B-B14F-4D97-AF65-F5344CB8AC3E}">
        <p14:creationId xmlns:p14="http://schemas.microsoft.com/office/powerpoint/2010/main" val="1116544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237352-BD7A-4A87-8831-3519E004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02 / 一个客户走完整流程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1315E-0E5D-4E89-AAC2-4A44B051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张女士只建一次档案，沿一条服务主线持续推进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A7DBF-CB63-4CAC-A206-49B173B9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同一位客户、同一份正式户型、同一组设计成果，贯穿业务、量房、设计和管理。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27B19-8B3C-4134-8FA7-6AB4E7C8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张女士客户主线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968D9-8D2B-41FC-85CB-DD4E23D9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26213-2D08-4220-B553-02286F72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9525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0">
            <a:solidFill>
              <a:srgbClr val="B9DC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49665-004F-44FE-B97E-13289EC4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7A03C-CE1B-4016-9AB8-4AEFC901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5D78F-D74B-48AE-9A15-1F8CFD88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建立客户档案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F9547-5DC3-4EFD-897C-96306E69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38D92-C69E-4F65-8385-EB1E58E6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业务人员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B529D-4357-4C43-BBB6-134A5E1B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客户资料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C092A-348B-4A58-8E3E-A5967907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DF73C-83E1-4DAA-916A-58DD4C93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55C41-C7E9-403E-909A-2CC895B9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进入正式量房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F8867-D88E-4F14-8E5C-FA1BFB9E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D394D-EF1E-4D57-940C-5627CB43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6F26E-9B47-42F0-ACE1-92F06FA6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测量墙图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C597B-1383-4EAD-8AA9-36623F29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64656-8F6E-42B7-AA7E-199DE52C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3DB99-0F1A-4EB0-965F-CCD087F4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保存正式户型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63DBCE-A5EF-4184-95CB-1705F591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A3534-540B-4C76-971F-7622E628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E6793-1B5B-479D-BF77-FBC5E8C6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空间依据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A34D56-B2F4-4665-A609-09048B78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390C0D-BE13-4E8B-A8EC-89F28AE8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1262F9-5B38-4091-91DF-0B79D0E0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生成 AI 方案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4A8B0B-A6E2-4005-8C0A-6C8BD587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D25680-6193-4EFF-ADF7-B0ECEDE2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662664-8F50-4FF6-84C6-8E1F10A5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多方案结果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4FFD9B-96DF-43D1-881B-F0DB90AB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8225D5-F99E-4AC9-A1F6-04CFF2A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E2034A-684B-4BDA-9013-7EB2898F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沟通与深化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BAB921-076E-4BA9-AAEA-DC66219D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78F25B-D1C2-4163-91A3-F4C13C88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ED4385-385F-4214-95F5-E4E09E4A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修改记录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216536-AD1B-431A-AC31-F19D6E7F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114F41-37D2-40E5-9FE1-5E27E86B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C61AF8-A9C2-4BA3-8266-F49B1D64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更新客户阶段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98381D-8696-4A75-AF8E-649C5A11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D9F650-79B0-4F24-8CDD-CBE11E2B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团队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D79F38-2540-4EB0-BFB3-5196AE8B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rPr>
              <a:t>跟进状态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0E5185-2CC0-46F9-9EFE-08436235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3945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DA0A6D-6586-47A2-9CBB-559CD12E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91175"/>
            <a:ext cx="1034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一次建档  ·  一次量房  ·  多轮设计  ·  全程可追踪</a:t>
            </a:r>
          </a:p>
        </p:txBody>
      </p:sp>
    </p:spTree>
    <p:extLst>
      <p:ext uri="{BB962C8B-B14F-4D97-AF65-F5344CB8AC3E}">
        <p14:creationId xmlns:p14="http://schemas.microsoft.com/office/powerpoint/2010/main" val="895194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5A8CE-E12F-4944-AE6F-5FF2EBD2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03 / 客户档案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E94E9-6C03-437F-BF66-5EB88B71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一条客户线索，就是量房、设计和跟进的共同入口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00566-89DB-433E-A9F4-642E5ABC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张女士的称呼、电话、小区、面积和偏好只录入一次，后续成果继续关联在同一客户下。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37A0F-E168-472C-ABDA-B3DA98FB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张女士客户档案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1717F-68AB-421E-90C1-4BAEE7B7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9d7cbdf704172"/>
          <a:srcRect xmlns:a="http://schemas.openxmlformats.org/drawingml/2006/main" l="0" t="7888" r="0" b="78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019300"/>
            <a:ext cx="2724150" cy="4076700"/>
          </a:xfrm>
          <a:prstGeom xmlns:a="http://schemas.openxmlformats.org/drawingml/2006/main" prst="roundRect">
            <a:avLst>
              <a:gd name="adj" fmla="val 9091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91ff33d4b4c52"/>
          <a:srcRect xmlns:a="http://schemas.openxmlformats.org/drawingml/2006/main" l="0" t="15352" r="0" b="153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4250" y="2286000"/>
            <a:ext cx="2428875" cy="3638550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1FF6D-AE32-499B-810D-D3CB8A34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762500" cy="3733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855BF-C403-4FBA-A529-026BBFE1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1B5C-20C3-4B80-B1B0-FE04A655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客户资料一次建全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7235C-5869-4524-9773-AEBADCC0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称呼、电话、小区、面积、偏好与当前阶段集中保存。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806E6-CAD4-418D-A7E3-6E53B5E2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7BF88-6E01-4B14-BBBA-E20C0455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242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量房和方案继续关联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D0DB6-ADA3-48D6-B918-BE1715AC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正式户型、AI 方案和更新时间都回到同一客户档案。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D1AAF-CDAB-4FA4-BECD-EA44ADD8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38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722D5-796D-491A-9FE2-40C756B7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下一步更清楚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FB799-7A32-40A9-8B45-B24710E4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按客户阶段筛选需要量房、设计、跟进或回访的人。</a:t>
            </a:r>
          </a:p>
        </p:txBody>
      </p:sp>
    </p:spTree>
    <p:extLst>
      <p:ext uri="{BB962C8B-B14F-4D97-AF65-F5344CB8AC3E}">
        <p14:creationId xmlns:p14="http://schemas.microsoft.com/office/powerpoint/2010/main" val="17927747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C8AC0-F8D4-4F98-BE5B-676E5EA1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04 / 正式量房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6C738-8B93-4BB5-9783-CFE9EDA1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现场量房的成果，要能直接进入后续设计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5436E-73B9-4785-8020-3F29375E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手工录入或授权蓝牙都形成毫米制墙图；墙体、门窗和闭合空间保存到张女士的客户档案。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78920-F20E-4082-96CF-D8ABC923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正式量房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E798B-7AF1-4AC1-9003-D69CB9B2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f67d98cf448ab"/>
          <a:srcRect xmlns:a="http://schemas.openxmlformats.org/drawingml/2006/main" l="0" t="25068" r="0" b="250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000250"/>
            <a:ext cx="3790950" cy="4095750"/>
          </a:xfrm>
          <a:prstGeom xmlns:a="http://schemas.openxmlformats.org/drawingml/2006/main" prst="roundRect">
            <a:avLst>
              <a:gd name="adj" fmla="val 7035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2fe12ad7744ce"/>
          <a:srcRect xmlns:a="http://schemas.openxmlformats.org/drawingml/2006/main" l="0" t="15584" r="0" b="15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950" y="2286000"/>
            <a:ext cx="2381250" cy="354330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21da545374087"/>
          <a:srcRect xmlns:a="http://schemas.openxmlformats.org/drawingml/2006/main" l="0" t="15584" r="0" b="15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2286000"/>
            <a:ext cx="2381250" cy="354330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2B853-8881-4FCE-8A34-67DCDD10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24100"/>
            <a:ext cx="1847850" cy="34480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F2319-38F2-41F1-946B-AAEB3E86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2890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两种输入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87A61-E342-47E4-8078-75932A12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813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AB606-E98E-4EA0-A3F1-3D085D23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480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手工录入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04103-FCC6-4A7E-9D7F-7FF9256F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385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D5A8A-D3ED-405F-9D9D-555ECE6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052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授权蓝牙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B124A-4115-470F-B837-93739BA2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67200"/>
            <a:ext cx="13525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77A6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AF88A-F9BD-4F4D-B477-D0274059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148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rPr>
              <a:t>统一结果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4C637-6439-4222-BC6A-6EE98686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339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9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毫米制墙图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门窗与闭合空间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可继续量房或设计</a:t>
            </a:r>
          </a:p>
        </p:txBody>
      </p:sp>
    </p:spTree>
    <p:extLst>
      <p:ext uri="{BB962C8B-B14F-4D97-AF65-F5344CB8AC3E}">
        <p14:creationId xmlns:p14="http://schemas.microsoft.com/office/powerpoint/2010/main" val="3943003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2C-02FF-445D-806F-C6F581E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05 / 同空间多方案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55C58-68B7-4E26-95DB-64B001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同一间客厅，保持结构不变，直接比较三种设计语言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CBD5-FE2F-4D57-9C53-79C0D07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以下为张女士客厅的 AI 演示效果：使用同一空房基准，仅改变硬装、材质、家具与灯光。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583B-C677-49E3-BBB7-79C0678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方案比较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4ABB-1F59-465A-92B0-C34B70A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2BB7-87B8-4D39-AAE8-E409A69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D604-7901-4A7E-A9AA-01FF9A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F263-2672-4684-A362-CA37718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现代奶油 · 温暖克制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37A3-43CC-41C1-9BE0-B55991F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06E0-10A1-49F4-9276-9D5780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C6F5-FB50-4042-B4D0-909EE62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现代法式 · 精致明亮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ED09-E8E9-46C2-BE57-F7ABE5B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7A9AA-EB54-4575-AF24-38FF05B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D55B7-7A2B-461D-A705-C9D7E21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现代中式 · 沉静留白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D0C9-B9DB-43EF-98F0-98E8665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400300" cy="3257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3ED4-C905-4C87-A316-4524503F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同一份空间依据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F36E-F78D-4F6C-A2DA-9948795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同一镜头、结构与开口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只比较风格表达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60E25-2FCF-40AB-A5B5-F5DF9F8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866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93CA-B4A4-4749-8015-F53793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用途说明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4D25E-FFC4-4D3E-ACD4-7D6C50F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9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用于概念方案比较与客户沟通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不是施工图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abc7d85244006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96fbeaff64351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6492421fb4cac"/>
          <a:stretch xmlns:a="http://schemas.openxmlformats.org/drawingml/2006/main"/>
        </p:blipFill>
        <p:spPr>
          <a:xfrm xmlns:a="http://schemas.openxmlformats.org/drawingml/2006/main" flipH="0" flipV="0">
            <a:off x="6419850" y="2333625"/>
            <a:ext cx="2381250" cy="2333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024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AC515-0403-4D4F-A2F6-D3BA2DB6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06 / 持续深化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FCF24-434D-40FD-9785-F893F1BD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从空房到方案，再到局部材质修改，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同一客户可以持续深化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F31F6-CFCA-4970-AD76-517576C8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张女士客厅的每次生成都保留在同一设计旅程中，设计师可以比较、选择和继续修改。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B08DA-6553-4DDB-9A4C-067C23D5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持续深化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03BFF-A8F3-4263-986A-0983B957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85BE8-9666-42BA-A35B-75E186FC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6572250" cy="300990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71820"/>
          </a:solidFill>
          <a:ln xmlns:a="http://schemas.openxmlformats.org/drawingml/2006/main" w="9525">
            <a:solidFill>
              <a:srgbClr val="3537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6e643e53e45ae"/>
          <a:stretch xmlns:a="http://schemas.openxmlformats.org/drawingml/2006/main"/>
        </p:blipFill>
        <p:spPr>
          <a:xfrm xmlns:a="http://schemas.openxmlformats.org/drawingml/2006/main" flipH="0" flipV="0">
            <a:off x="664178" y="2095500"/>
            <a:ext cx="6272593" cy="2819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13367-B7C6-49B2-95ED-91954025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622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7375B-05C8-4291-A343-B140C259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29225"/>
            <a:ext cx="600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空房 → 现代奶油：建立第一版沟通方案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3971E-A918-4179-9E23-DA91308F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00250"/>
            <a:ext cx="1981200" cy="1981200"/>
          </a:xfrm>
          <a:prstGeom xmlns:a="http://schemas.openxmlformats.org/drawingml/2006/main" prst="roundRect">
            <a:avLst>
              <a:gd name="adj" fmla="val 10577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894da331a4995"/>
          <a:stretch xmlns:a="http://schemas.openxmlformats.org/drawingml/2006/main"/>
        </p:blipFill>
        <p:spPr>
          <a:xfrm xmlns:a="http://schemas.openxmlformats.org/drawingml/2006/main" flipH="0" flipV="0">
            <a:off x="7467600" y="2076450"/>
            <a:ext cx="1828800" cy="18288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79168-9371-4D9A-9073-F38233A3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00250"/>
            <a:ext cx="2114550" cy="1981200"/>
          </a:xfrm>
          <a:prstGeom xmlns:a="http://schemas.openxmlformats.org/drawingml/2006/main" prst="roundRect">
            <a:avLst>
              <a:gd name="adj" fmla="val 10577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ecb58fe3d4711"/>
          <a:stretch xmlns:a="http://schemas.openxmlformats.org/drawingml/2006/main"/>
        </p:blipFill>
        <p:spPr>
          <a:xfrm xmlns:a="http://schemas.openxmlformats.org/drawingml/2006/main" flipH="0" flipV="0">
            <a:off x="9639300" y="2336800"/>
            <a:ext cx="1962150" cy="13081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64568-0B20-4F22-8623-7816395D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95750"/>
            <a:ext cx="1828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F45B6-EDDD-461D-9FDD-9138F86B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62425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同空间 · 第一版方案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6B505-0227-4C3B-86A1-A012451F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962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C755F-74DD-40E8-8104-8680B764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6242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同方案 · 局部材质替换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BDEA4-3B89-4244-8B40-F2A48503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29150"/>
            <a:ext cx="428625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9E367-C300-4205-85C1-2271FA7C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958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8D3C69-5FB5-4754-814F-676ABF1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95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1CE0DC-B6FA-4134-91C2-945B40A1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958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生成方案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6AAF2-4952-4E41-8111-2873C2AC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95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041B5-70D4-49C5-AA79-F1C9CD64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9585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继续深化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015B10-E4B7-49B3-95D0-FDB6965F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14950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AI 演示效果；用于方案沟通与比较，不作为施工图。</a:t>
            </a:r>
          </a:p>
        </p:txBody>
      </p:sp>
    </p:spTree>
    <p:extLst>
      <p:ext uri="{BB962C8B-B14F-4D97-AF65-F5344CB8AC3E}">
        <p14:creationId xmlns:p14="http://schemas.microsoft.com/office/powerpoint/2010/main" val="13404160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E60ED-0C83-4913-8B3E-192C2F41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07 / AI 生产可控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1D0CE-8BCD-4B1C-804F-9E672917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AI 不是黑盒：进度看得见，失败不白扣点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3B95D-08F8-419E-8987-473B8D8F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老板关心的是稳定交付：提交前知道要什么，生成中知道到哪，失败有原因，成功才扣点。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6AD88-C9E8-4010-BC60-28A1D277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任务管理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C84F4-906A-4CF7-AD48-0BAF8674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70617-EE91-41B8-A43C-528F5AEC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143250" cy="36385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c1d05b8104458"/>
          <a:stretch xmlns:a="http://schemas.openxmlformats.org/drawingml/2006/main"/>
        </p:blipFill>
        <p:spPr>
          <a:xfrm xmlns:a="http://schemas.openxmlformats.org/drawingml/2006/main">
            <a:off x="1315183" y="2019300"/>
            <a:ext cx="1617785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F4FDC-61F1-4FAE-841D-A9FB2EE7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2990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9423B-67A9-4F0E-8B47-68047A1D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提交前：需求一次说清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4B53B-0C02-41B6-82FC-AAC31626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4762500" cy="3638550"/>
          </a:xfrm>
          <a:prstGeom xmlns:a="http://schemas.openxmlformats.org/drawingml/2006/main" prst="roundRect">
            <a:avLst>
              <a:gd name="adj" fmla="val 5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be0c236334292"/>
          <a:stretch xmlns:a="http://schemas.openxmlformats.org/drawingml/2006/main"/>
        </p:blipFill>
        <p:spPr>
          <a:xfrm xmlns:a="http://schemas.openxmlformats.org/drawingml/2006/main">
            <a:off x="4724400" y="2019300"/>
            <a:ext cx="3505200" cy="35052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39C1F-771A-4420-BED0-80521672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86425"/>
            <a:ext cx="4610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DCD58-5473-4DA8-A4BE-088EA6D3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531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生成中：进度随时可查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04CA6-1BBC-4BFA-812B-06613B4F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324100" cy="32575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2874D-40A3-47C0-AB88-5CC382FB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622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老板能管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0DA52-5FD0-4DF9-BF1A-91AE94BB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00350"/>
            <a:ext cx="1790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素材齐不齐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进度到哪步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本次耗几点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失败为何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4FC7E-608C-4B15-A949-EF1068F3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38650"/>
            <a:ext cx="1790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6795B9-F57F-40B1-9FB9-04C645F1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672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rPr>
              <a:t>成功才扣点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rPr>
              <a:t>失败释放 · 随时重试</a:t>
            </a:r>
          </a:p>
        </p:txBody>
      </p:sp>
    </p:spTree>
    <p:extLst>
      <p:ext uri="{BB962C8B-B14F-4D97-AF65-F5344CB8AC3E}">
        <p14:creationId xmlns:p14="http://schemas.microsoft.com/office/powerpoint/2010/main" val="21294787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B77740-D791-4D62-8E6E-9E0D8A8C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08 / 团队接力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4D905-B822-41C6-ABA4-60C6CC34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量房师、设计师和管理者围绕同一客户接力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72C97-3957-42CD-B1EB-7031FB50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张女士不需要重复建档；上一岗位交付的成果，直接成为下一岗位的工作起点。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09CAE-D55D-479C-999E-F9551AC2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团队接力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25681-9132-4E47-AA64-CE0FF4D9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BF13A-0A50-4886-9B44-41EBF528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57550"/>
            <a:ext cx="7239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0">
            <a:solidFill>
              <a:srgbClr val="CBE3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F7869-3802-4619-B15F-6B19B4D8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6659A-AA0D-48B1-9895-F88CD5D7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114C3-7E0E-4E5C-9F1D-2A9AA403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E8279-7C7A-4324-9B5F-64DFB47F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5D8D7-5C4F-4BED-B02D-35C58672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接收客户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完成正式量房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94E54-74A5-411F-AE19-3F6D62C9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DFF73-6D77-4674-A844-56493D72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交付：客户资料 + 正式户型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89357-CAB8-41BA-9E2D-EF92F77E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C9973-A417-43F2-A292-EC77F9E1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F6B49-A4A1-4CAF-8E73-30178C00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ACD2F-0925-4F03-9C9E-9428626E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FBD1D-0BE2-48B6-AEFD-AFB514AB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接收正式户型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生成并优化方案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2CAA6-236A-4A4B-896E-6E58D99B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5C7543-D331-43E6-A376-2923687F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承接：不重新录入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7E9B0-757F-41F0-830F-E0F1E46B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A6620-1C15-41DF-941F-B7F18C6C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69C2D4-7FCA-4853-B2A4-64D0C558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024563-0AE1-4C95-ABB0-0E1B895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企业管理者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E7F18-2C7A-48B8-8ED9-FE214D3C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配置成员与权限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查看阶段与进展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82E1B8-78AF-47D9-BA8C-370BA2A4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AE5990-F1BD-4ED5-A81D-3193600A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保障：角色边界清晰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35DFCA-1CFC-404A-B801-3747B45F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91200"/>
            <a:ext cx="71628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16EDE0-2376-40B2-AE71-49371748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905500"/>
            <a:ext cx="681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同一客户、同一空间依据、同一方案旅程。</a:t>
            </a:r>
          </a:p>
        </p:txBody>
      </p:sp>
    </p:spTree>
    <p:extLst>
      <p:ext uri="{BB962C8B-B14F-4D97-AF65-F5344CB8AC3E}">
        <p14:creationId xmlns:p14="http://schemas.microsoft.com/office/powerpoint/2010/main" val="13013714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BCDB61-72F1-438B-BE42-DF78B41D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09 / 一线轻、老板清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43F19-2C31-4FD2-A3A1-067DD3C2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一线少填表，老板仍能看清客户、方案与进度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E5D6E-01B5-4578-A1AB-A2CE62EE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员工在小程序完成高频动作；后台沉淀组织、权限和全局数据，扩店时不用重新搭流程。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65B54-962A-4381-9593-09FE3B9E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两端协作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62CCC-3DD3-4337-8DC1-0772F83A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01049-7766-480D-8B5B-3B334216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FAE13-FBCA-4539-A6E4-429BA02D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D95BD-1FC7-4D86-97A4-CECF6D73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小程序 · 一线执行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99f79fd3d4193"/>
          <a:srcRect xmlns:a="http://schemas.openxmlformats.org/drawingml/2006/main" l="0" t="7790" r="0" b="77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876550"/>
            <a:ext cx="1752600" cy="2628900"/>
          </a:xfrm>
          <a:prstGeom xmlns:a="http://schemas.openxmlformats.org/drawingml/2006/main" prst="roundRect">
            <a:avLst>
              <a:gd name="adj" fmla="val 1087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C540B-1D2A-42D5-AE18-53E788F9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6B6DF-B1A3-4B5B-A039-5A4FF9BC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33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接待与量房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07921-8821-413B-A891-83B18CD3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57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客户建档、正式量房，一次完成。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3CBD1-7AC3-4980-8117-EF968F9A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6D974-3EFE-474A-9882-55405A65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576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方案与跟进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5E183-E8DD-4339-B7DF-0D6EE90A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815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查看户型、发起设计，继续当前客户。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AFE78-2677-43DD-8AC8-6D930D08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8ABB0-57C5-4ECA-8D03-78C05D93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2171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35057-23FC-470F-AB11-FA0691ED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66975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rPr>
              <a:t>企业后台 · 老板看全局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121FD-2C8C-4FC4-9497-549A490D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547E6-B5BE-401C-9CD7-49D96304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527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9624A5-70A2-4412-88AC-AF6BBBB7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客户进展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81924-08F4-4272-9CD0-4FC191B6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52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谁在跟、走到哪、是否停滞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BB358-41CC-4536-BEE1-7743D246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48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0827A2-AAB7-420B-B5DA-04F7422A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3382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0ECA94-CFC8-4488-B473-9CD2C7A8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100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团队与权限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D7A448-27EB-4178-AAF8-663151DF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338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成员、岗位与数据边界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EC63C5-CEB1-4ABA-994C-9902B3EC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3C63C-52E5-4353-9EF2-6DCC5B17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148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7B5B46-9382-4B40-ACD2-A3BA13B6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方案与成本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A6562F-7FED-48F0-B409-6D6CB5C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任务记录、结果版本与 AI 点数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339D5E-BE2C-4D21-8E03-C8CEF966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2925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rPr>
              <a:t>一线操作更轻，老板管理更清，门店复制更容易。</a:t>
            </a:r>
          </a:p>
        </p:txBody>
      </p:sp>
    </p:spTree>
    <p:extLst>
      <p:ext uri="{BB962C8B-B14F-4D97-AF65-F5344CB8AC3E}">
        <p14:creationId xmlns:p14="http://schemas.microsoft.com/office/powerpoint/2010/main" val="4389696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0BA5CE-25D2-4B81-AA5F-5847424A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rPr>
              <a:t>10 / 试点与采购构成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A760E-EB7F-4E44-9F0B-85F9A5A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先用一个真实客户闭环验证，再决定扩大使用范围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7E202-C899-4919-A674-85A7D8F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rPr>
              <a:t>建议以单门店、单小组为最小试点单元；正式报价按账号、AI 点数、可选设备和实施范围确认。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4D2C0-AB96-4525-9D5C-B799E2E7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2B3E5-6C6B-4149-A6BF-9A6B98B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28D1-2FB1-4A17-B90F-C985307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C76BB-0954-4D73-83D7-F1817375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试点范围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FB92A-1130-4126-AD00-0159D009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选择一家门店和一组真实客户流程。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D76AB-568B-426F-965F-C0C978EA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E564-E146-4B7C-98EA-C4BC9E14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EFFDF-3A7F-443A-B4A2-55DC86AC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BCBF0-C558-4080-A87B-4444C42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参与角色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5E1AF-E8D4-43AA-8E3F-C4D3DA9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业务、量房、设计和管理各明确一名负责人。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A3CE7-6769-4882-A996-6DE1B6C6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E47C9-20B8-455D-9E70-BC614B8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B220B-0536-45AD-A4F8-6730090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D8754-6D2F-4786-BA5B-4BB67EA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企业账号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7A40A-EE07-44AF-96DB-A95299FF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开通组织、角色与客户数据访问范围。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DD4F3-B9B6-4E33-A9E8-4B64CAB8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78CC2-0E42-4DFF-A4C9-3DCD621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1B9C0-BAED-4910-8FD7-6134984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A9345-F810-4CD0-BF72-20A2088D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使用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A36C4-64CE-4C7F-B56B-8BE95A9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确认可用点数、任务价格和失败释放规则。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997EE-E831-492F-A53A-0C4C9A6D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2AB57-CC80-4EE7-8693-AE1BA4C6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58D41-030A-43A5-AE23-730F035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17505-57E3-4960-A1C7-F3EAD72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可选设备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F24C5-3F94-42BC-93B5-C1E676C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需要时配置兼容并授权的蓝牙测距设备。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A856B-9332-44DD-8CDC-1DE1BB6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F597F-6A94-4137-B50A-AAB19F28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9B149B-630D-4439-A12A-AEFA712C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7C6B6-F6DA-46EA-9B75-C5EF9C3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实施支持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3BB69-7442-4D12-A757-6704119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完成培训、现场演示与试点复盘。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6289F-189D-40B2-AD01-564898D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家客来 JIAKELAI  ·  试点方案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8E895-A72F-49C3-B44E-2A7FE541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344332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ad30aa03044e9"/>
          <a:stretch xmlns:a="http://schemas.openxmlformats.org/drawingml/2006/main"/>
        </p:blipFill>
        <p:spPr>
          <a:xfrm xmlns:a="http://schemas.openxmlformats.org/drawingml/2006/main">
            <a:off x="552450" y="4000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9225C-D3F4-4767-9632-6516E7AB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C93A6-D6CF-48A8-B7C3-B351DABA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809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先走通张女士这一条真实客户流程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855D4-3AF2-41AB-A71E-2AE69654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不先讨论所有功能，先验证客户资料、正式量房、AI 方案和团队接续能否在一家门店顺利运行。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56BA6-5FC1-4391-AF16-EB180F74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9791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66675">
            <a:solidFill>
              <a:srgbClr val="C0DD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60C20-97A3-498D-AA98-B723E931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CB451-7F7C-4B90-B148-6249465B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EE0BC-12F0-416B-9E3D-205B533B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确认试点团队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14400-E73C-4BFC-A8A0-2FB7AFBE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AA317-140D-43CD-916E-A7DE367A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123E2-A6EC-4E5A-BFA5-AB76563E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准备企业账号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F028C-08B9-47EE-B60F-6FEE38FB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A04E5-017C-4BA2-BC90-CB343663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1AE69-CEB3-439F-81CD-7A86199D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选择真实客户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9EBFF-6D0C-4F66-8201-2548FE2F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2EE49-3ABE-431A-9699-A03EE416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A9D47-1514-4EF7-9862-63935CFC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完成正式量房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A948E-F8FF-47FE-8C0C-9C3925DC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ADDBD-2532-4E2E-A99A-64FFB493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E4B66-5CA3-46EA-ABB9-044992D5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生成并沟通方案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CE9F7-661B-4F43-97E8-17E2D0BE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49563-8A0C-4EB4-B1A9-C6DC9D3F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F2B341-9FCB-4995-A78F-17A7D6C6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复盘是否扩大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03B8C-69C9-48F1-9AC4-6590FCBD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87100" cy="1428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DD5660-DF7C-4E45-85A5-BA1466A9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590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rPr>
              <a:t>试点成功标准：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B69D58-46DB-4BB2-BBCC-5B4EEA39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981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9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不重复建档 · 正式户型可被设计直接使用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结果留在同一客户下 · 管理者看得见阶段与责任人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73ACF-0750-4EA7-9D29-8457285E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老板销售版  ·  2026.08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7C8C56-5EF7-494D-9C1B-92BA7990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391403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D92B67-369F-45BD-BC9C-C1E1ED54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附录 A / 四类 AI 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3B82A-4257-4A5D-AD3F-69EFE24A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常用家装任务已经模板化，设计师不必每次从零写提示词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637DF-C842-4DAA-A68A-D082159C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主销售过程只讲客户最容易理解的四类能力；完整模板库按企业需要筛选使用。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C69DB-B579-44FF-890A-4A61FBE3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产品附录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09033-F186-4D66-BC4D-C94B7C30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9A874-4062-448B-9FA2-7D679A83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571750" cy="36385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0700b01ec4f1d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0A7E4-347D-47CE-9530-397CFD36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F2762-81F9-46B9-A8D7-B66AC7EE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毛坯变完整方案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FDFF1-7D8E-4391-9013-33791F2B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2571750" cy="36385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5f2ec9d4245ec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0BFDF-E5AA-4640-B7CA-D2C26488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86425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CDF86-267B-42BB-92C5-2A43A4AB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7531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户型与空间诊断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431D6-6698-47EB-8068-48147A50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526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71903-4D4B-43F1-98C0-5823EAFE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F6C2A-B8ED-4FFB-B45E-6D449BFC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95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116C5-EB7D-4702-939F-E2166D2C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90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毛坯装修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F5C3E-2DAB-44D9-9D84-DD4E3BB4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336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从空房或毛坯底图生成完整硬装、家具与灯光表达。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7D260-8119-4DBA-8DD9-EE9FA7C5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526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DBB6A-D456-4412-8D5E-BAED4F27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DFEC9-AA6C-430D-A4A2-6C3A88E2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95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CDB0B-388D-422D-91DC-9B8F4D2A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90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风格迁移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9A4CEA-E39C-4794-81EE-BF4C584C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336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沿用参考图的色彩、材质与家具语言，适配当前空间。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C8BF8E-7DB9-4DB9-9D4C-7F48206E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957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BF407-1912-429C-8411-5CBE9641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24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50877-F281-4FC0-BE03-EA656D5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94C9A4-3B9C-4375-AA31-F7015526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33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平面与诊断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06C188-C112-44B9-AA4E-5F52083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767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彩化户型、识别布局问题，辅助整屋方案沟通。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8DBCF0-9F87-4FC8-A227-79F07D20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957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DC2EEF-7CE9-4419-B461-D9E248C8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24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3469E4-BE6F-432F-9003-5674A5A1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386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ECFEB3-6FF0-43B3-A62C-F9A1548C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33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局部深化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B6182B-A028-44BD-B7CD-2180CD41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767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材质替换、软装搭配与局部修改，支持持续迭代。</a:t>
            </a:r>
          </a:p>
        </p:txBody>
      </p:sp>
    </p:spTree>
    <p:extLst>
      <p:ext uri="{BB962C8B-B14F-4D97-AF65-F5344CB8AC3E}">
        <p14:creationId xmlns:p14="http://schemas.microsoft.com/office/powerpoint/2010/main" val="16969739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2C-02FF-445D-806F-C6F581E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附录 B / 模板库证据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55C58-68B7-4E26-95DB-64B001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模板数量不是卖点，稳定覆盖真实任务才有价值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CBD5-FE2F-4D57-9C53-79C0D07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当前启用 960 个模板；以下仅展示现代奶油、法式毛坯装修和户型问题诊断三个数据库示例。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583B-C677-49E3-BBB7-79C0678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产品附录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4ABB-1F59-465A-92B0-C34B70A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2BB7-87B8-4D39-AAE8-E409A69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D604-7901-4A7E-A9AA-01FF9A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F263-2672-4684-A362-CA37718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现代奶油毛坯装修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37A3-43CC-41C1-9BE0-B55991F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8273ec14540d1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06E0-10A1-49F4-9276-9D5780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C6F5-FB50-4042-B4D0-909EE62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法式毛坯装修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ED09-E8E9-46C2-BE57-F7ABE5B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7fd19a4294d0a"/>
          <a:stretch xmlns:a="http://schemas.openxmlformats.org/drawingml/2006/main"/>
        </p:blipFill>
        <p:spPr>
          <a:xfrm xmlns:a="http://schemas.openxmlformats.org/drawingml/2006/main" flipH="0" flipV="0">
            <a:off x="64198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7A9AA-EB54-4575-AF24-38FF05B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D55B7-7A2B-461D-A705-C9D7E21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户型问题诊断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D0C9-B9DB-43EF-98F0-98E8665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400300" cy="3257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3ED4-C905-4C87-A316-4524503F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当前模板库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F36E-F78D-4F6C-A2DA-9948795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2026-08-01 发布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960 个启用模板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60E25-2FCF-40AB-A5B5-F5DF9F8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866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93CA-B4A4-4749-8015-F53793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筛选原则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4D25E-FFC4-4D3E-ACD4-7D6C50F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9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家装优先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可比较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客户易理解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10435274c4954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024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0BA5CE-25D2-4B81-AA5F-5847424A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rPr>
              <a:t>附录 C / 使用条件与边界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A760E-EB7F-4E44-9F0B-85F9A5A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账号、户型、权限与服务准备就绪后，才能顺利运行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7E202-C899-4919-A674-85A7D8F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rPr>
              <a:t>这些是产品正常运行的前提，也是试点开始前需要共同确认的边界。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4D2C0-AB96-4525-9D5C-B799E2E7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2B3E5-6C6B-4149-A6BF-9A6B98B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28D1-2FB1-4A17-B90F-C985307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C76BB-0954-4D73-83D7-F1817375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账号与服务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FB92A-1130-4126-AD00-0159D009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企业账号可正常使用，网络和服务连接有效。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D76AB-568B-426F-965F-C0C978EA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E564-E146-4B7C-98EA-C4BC9E14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EFFDF-3A7F-443A-B4A2-55DC86AC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BCBF0-C558-4080-A87B-4444C42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蓝牙测距（可选）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5E1AF-E8D4-43AA-8E3F-C4D3DA9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使用兼容且已分配授权的设备；也可手工录入。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A3CE7-6769-4882-A996-6DE1B6C6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E47C9-20B8-455D-9E70-BC614B8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B220B-0536-45AD-A4F8-6730090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D8754-6D2F-4786-BA5B-4BB67EA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户型数据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7A40A-EE07-44AF-96DB-A95299FF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墙体有效并形成闭合空间，方可进入对应设计流程。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DD4F3-B9B6-4E33-A9E8-4B64CAB8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78CC2-0E42-4DFF-A4C9-3DCD621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1B9C0-BAED-4910-8FD7-6134984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A9345-F810-4CD0-BF72-20A2088D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设计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A36C4-64CE-4C7F-B56B-8BE95A9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企业已开通权限，并具备可用点数和有效服务配置。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997EE-E831-492F-A53A-0C4C9A6D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2AB57-CC80-4EE7-8693-AE1BA4C6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58D41-030A-43A5-AE23-730F035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17505-57E3-4960-A1C7-F3EAD72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方案用途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F24C5-3F94-42BC-93B5-C1E676C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用于概念表达、方案比较和客户沟通，不作为施工图。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A856B-9332-44DD-8CDC-1DE1BB6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F597F-6A94-4137-B50A-AAB19F28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9B149B-630D-4439-A12A-AEFA712C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7C6B6-F6DA-46EA-9B75-C5EF9C3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数据访问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3BB69-7442-4D12-A757-6704119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员工按企业角色和本人权限访问客户与户型数据。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6289F-189D-40B2-AD01-564898D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家客来 JIAKELAI  ·  产品边界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8E895-A72F-49C3-B44E-2A7FE541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34433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2026-08-12T18:18:38.9450000Z</dcterms:created>
  <dcterms:modified xsi:type="dcterms:W3CDTF">2026-08-12T18:18:38.9450000Z</dcterms:modified>
</coreProperties>
</file>
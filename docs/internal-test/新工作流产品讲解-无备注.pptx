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e134b6e8b74b14" /><Relationship Type="http://schemas.openxmlformats.org/officeDocument/2006/relationships/extended-properties" Target="/docProps/app.xml" Id="R87cc2b8402b84930" /><Relationship Type="http://schemas.openxmlformats.org/officeDocument/2006/relationships/officeDocument" Target="/ppt/presentation.xml" Id="R4171cb2a20374e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adabd484804d16"/>
  </p:sldMasterIdLst>
  <p:sldIdLst>
    <p:sldId xmlns:r="http://schemas.openxmlformats.org/officeDocument/2006/relationships" id="256" r:id="R964ae70b87954bbd"/>
    <p:sldId xmlns:r="http://schemas.openxmlformats.org/officeDocument/2006/relationships" id="257" r:id="Rc1c798bb5a094dca"/>
    <p:sldId xmlns:r="http://schemas.openxmlformats.org/officeDocument/2006/relationships" id="258" r:id="R2123c33dcc9b49ec"/>
    <p:sldId xmlns:r="http://schemas.openxmlformats.org/officeDocument/2006/relationships" id="259" r:id="R7c4ba8eb1ae948ff"/>
    <p:sldId xmlns:r="http://schemas.openxmlformats.org/officeDocument/2006/relationships" id="260" r:id="Rd270b4bea4544e98"/>
    <p:sldId xmlns:r="http://schemas.openxmlformats.org/officeDocument/2006/relationships" id="261" r:id="Rd3e06ff7525041e4"/>
    <p:sldId xmlns:r="http://schemas.openxmlformats.org/officeDocument/2006/relationships" id="262" r:id="Ref890ef1b0d74df4"/>
    <p:sldId xmlns:r="http://schemas.openxmlformats.org/officeDocument/2006/relationships" id="263" r:id="Rb21c7723e85644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ef18c0c83c4dbb" /><Relationship Type="http://schemas.openxmlformats.org/officeDocument/2006/relationships/slideMaster" Target="/ppt/slideMasters/slideMaster1.xml" Id="Rbbadabd484804d16" /><Relationship Type="http://schemas.openxmlformats.org/officeDocument/2006/relationships/presProps" Target="/ppt/presProps.xml" Id="R20e3570e09184c01" /><Relationship Type="http://schemas.openxmlformats.org/officeDocument/2006/relationships/tableStyles" Target="/ppt/tableStyles.xml" Id="Rd14bc60ff52a41a9" /><Relationship Type="http://schemas.openxmlformats.org/officeDocument/2006/relationships/slide" Target="/ppt/slides/slide1.xml" Id="R964ae70b87954bbd" /><Relationship Type="http://schemas.openxmlformats.org/officeDocument/2006/relationships/slide" Target="/ppt/slides/slide2.xml" Id="Rc1c798bb5a094dca" /><Relationship Type="http://schemas.openxmlformats.org/officeDocument/2006/relationships/slide" Target="/ppt/slides/slide3.xml" Id="R2123c33dcc9b49ec" /><Relationship Type="http://schemas.openxmlformats.org/officeDocument/2006/relationships/slide" Target="/ppt/slides/slide4.xml" Id="R7c4ba8eb1ae948ff" /><Relationship Type="http://schemas.openxmlformats.org/officeDocument/2006/relationships/slide" Target="/ppt/slides/slide5.xml" Id="Rd270b4bea4544e98" /><Relationship Type="http://schemas.openxmlformats.org/officeDocument/2006/relationships/slide" Target="/ppt/slides/slide6.xml" Id="Rd3e06ff7525041e4" /><Relationship Type="http://schemas.openxmlformats.org/officeDocument/2006/relationships/slide" Target="/ppt/slides/slide7.xml" Id="Ref890ef1b0d74df4" /><Relationship Type="http://schemas.openxmlformats.org/officeDocument/2006/relationships/slide" Target="/ppt/slides/slide8.xml" Id="Rb21c7723e856440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3295a96bcc4b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e030ab077f408a" /><Relationship Type="http://schemas.openxmlformats.org/officeDocument/2006/relationships/slideLayout" Target="/ppt/slideLayouts/slideLayout1.xml" Id="R32dbd54374974e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dbd54374974e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e0498b3b64f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839bc599d43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1c087106e42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52d6fc8e247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78b51c7f74b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170502c5340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b244179b34a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01da28d4a44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29D1BE-850B-45E2-AA2F-652855ED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A66A"/>
                </a:solidFill>
              </a:defRPr>
            </a:pPr>
            <a:r>
              <a:rPr sz="1650" b="1">
                <a:solidFill>
                  <a:srgbClr val="17A66A"/>
                </a:solidFill>
              </a:rPr>
              <a:t>家客来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825EE-FEA2-42B6-B1E4-A3020320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6572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把装修服务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做成一条清楚的链路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3A7CC-1330-4D58-AF38-DE0705F5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F6368"/>
                </a:solidFill>
              </a:defRPr>
            </a:pPr>
            <a:r>
              <a:rPr sz="1800" b="0">
                <a:solidFill>
                  <a:srgbClr val="5F6368"/>
                </a:solidFill>
              </a:rPr>
              <a:t>新工作流产品讲解 · 面向内测同事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810CC-C3EF-46B0-80DF-B11C4290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506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7A66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F187D-CB52-4337-9E1C-3FD2DD6D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获客  ·  预约  ·  量房  ·  AI 方案  ·  客户交付  ·  签单提成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14865-0FE2-41B9-BD35-71F206AC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914400"/>
            <a:ext cx="2914650" cy="44386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F9106-155C-464B-B438-BB1F757F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228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一个客户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一条服务记录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各角色协作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E4F74-648F-4676-91B7-DB65EBB8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48150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内测时，不是各自点页面；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而是一起验证一条服务有没有顺畅交付。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85706-F711-482A-9F90-E242FCFB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EADF2-966E-4CEE-95F6-AA1E65CD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家客来 · 新工作流产品讲解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E49B5-0236-4726-8363-9CFFAE1B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450039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A879D8-1F3F-4934-B8ED-E34FB2D9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A66A"/>
                </a:solidFill>
              </a:defRPr>
            </a:pPr>
            <a:r>
              <a:rPr sz="1050" b="1">
                <a:solidFill>
                  <a:srgbClr val="17A66A"/>
                </a:solidFill>
              </a:rPr>
              <a:t>我们解决什么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87990-D476-46E5-9C8E-14E5BB51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装修服务不是一堆页面，而是一条客户旅程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0034F-F451-45CB-829F-3A2E3712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3D21E-033D-462F-9DB6-46D05A8F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家客来 · 新工作流产品讲解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4E0CD-16DF-48EA-856A-E0BCF146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01968-3C7C-4588-A47B-6C82F6EB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5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F6368"/>
                </a:solidFill>
              </a:defRPr>
            </a:pPr>
            <a:r>
              <a:rPr sz="1950" b="0">
                <a:solidFill>
                  <a:srgbClr val="5F6368"/>
                </a:solidFill>
              </a:rPr>
              <a:t>客户从第一次扫码，到拿到方案、签约，信息不需要在微信、表格和不同同事之间反复转述。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3935C-0FD7-4250-95E8-B870E5DD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5C9D66-BB4F-4E86-B84B-CF3078BF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A66A"/>
                </a:solidFill>
              </a:defRPr>
            </a:pPr>
            <a:r>
              <a:rPr sz="1275" b="1">
                <a:solidFill>
                  <a:srgbClr val="17A66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2FEBE-D049-4DC2-9CFF-4B771C9C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获客统一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5EAD1-0CDA-48AB-8CFE-2C69EC63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推广服务码、员工活动码或老板手工建客，都进入同一条线索。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91E2C-506B-4775-B748-D7E91F07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81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A66A"/>
                </a:solidFill>
              </a:defRPr>
            </a:pPr>
            <a:r>
              <a:rPr sz="1275" b="1">
                <a:solidFill>
                  <a:srgbClr val="17A66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C07CFC-20ED-4AAA-A11A-FBDDBDBF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385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协作清楚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B44CB-577D-46F5-BD39-9DDA2390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1005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设计师、测量员、老板各自只处理该做的事情。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D0032-A5C3-4B6B-94D0-952E824C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813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A66A"/>
                </a:solidFill>
              </a:defRPr>
            </a:pPr>
            <a:r>
              <a:rPr sz="1275" b="1">
                <a:solidFill>
                  <a:srgbClr val="17A66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19BBE3-E547-4CA7-8DAF-51199BB5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385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交付可追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FA58A9-C9AD-49FD-BCD8-C4A41C30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005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正式量房、AI 方案、发布、签单和提成，都挂在同一客户服务上。</a:t>
            </a:r>
          </a:p>
        </p:txBody>
      </p:sp>
    </p:spTree>
    <p:extLst>
      <p:ext uri="{BB962C8B-B14F-4D97-AF65-F5344CB8AC3E}">
        <p14:creationId xmlns:p14="http://schemas.microsoft.com/office/powerpoint/2010/main" val="1374192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092C40-4DE0-4DF8-8B0F-D62E0D15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A66A"/>
                </a:solidFill>
              </a:defRPr>
            </a:pPr>
            <a:r>
              <a:rPr sz="1050" b="1">
                <a:solidFill>
                  <a:srgbClr val="17A66A"/>
                </a:solidFill>
              </a:rPr>
              <a:t>客户从哪里来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D49B0-91BA-4158-909B-D792E234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客户可以从三种入口进入，但都会归到同一服务链路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8916E-7CFE-4395-80AC-7A417718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63014-3FD2-4B2B-B155-52D3F8CA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家客来 · 新工作流产品讲解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0FFC2-5E15-4D2A-8E68-27D26BD3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8760E-563E-40EF-AFFD-F3BCEC4E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368"/>
                </a:solidFill>
              </a:defRPr>
            </a:pPr>
            <a:r>
              <a:rPr sz="1725" b="0">
                <a:solidFill>
                  <a:srgbClr val="5F6368"/>
                </a:solidFill>
              </a:rPr>
              <a:t>来源不同，负责人与提成规则不同；后面的预约、量房、方案和客户交付是一套共用服务。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229B6-2B9D-4A0C-B829-B39D41AD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762250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17A6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49319-1C13-4329-8E17-06636F86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99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朋友介绍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ED0CF-C476-4F20-9EDF-6EE85AE6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24193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推广人出示推广服务码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签单后：三笔提成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8E5D4-928C-4E6C-B6B1-CBD6B704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38450"/>
            <a:ext cx="2762250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2F3F3"/>
          </a:solidFill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5640A-693B-4CFD-8B9D-2F2FA66C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099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员工活动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7757B-91D8-45D0-9144-755F17CC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371850"/>
            <a:ext cx="24193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设计师或测量员出示活动码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签单后：两笔提成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93BB4C-0CFF-4C37-AEA2-9123DE8D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38450"/>
            <a:ext cx="2762250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2F3F3"/>
          </a:solidFill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188DF2-82E1-4C06-87EA-46197490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99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老板建客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0DDE7-F00F-489E-8471-540A7837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71850"/>
            <a:ext cx="24193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负责人手工新增客户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签单后：两笔提成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F3372-7873-441C-8293-A94A6DDE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同一个客户已有进行中的服务时，系统不会因为再次扫码而重复开一单。</a:t>
            </a:r>
          </a:p>
        </p:txBody>
      </p:sp>
    </p:spTree>
    <p:extLst>
      <p:ext uri="{BB962C8B-B14F-4D97-AF65-F5344CB8AC3E}">
        <p14:creationId xmlns:p14="http://schemas.microsoft.com/office/powerpoint/2010/main" val="17111278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2E8426-A8D6-4827-A003-A4F6D629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A66A"/>
                </a:solidFill>
              </a:defRPr>
            </a:pPr>
            <a:r>
              <a:rPr sz="1050" b="1">
                <a:solidFill>
                  <a:srgbClr val="17A66A"/>
                </a:solidFill>
              </a:rPr>
              <a:t>主流程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7C5E6-9FFD-4CA3-A0C6-C553B08D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一条服务链路，让每个角色都知道下一步该做什么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95CFC-0EA3-428F-B964-C18207C3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A75E9-CCAC-42DF-AB7C-748B8D6E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家客来 · 新工作流产品讲解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6C567-386E-4109-A098-059FE55F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85CA3-46E6-4DFA-B93B-BE02AE80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每一步只在条件满足后向下推进，减少“谁该跟、资料在哪、客户现在到哪一步”的不确定性。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C5CDC-90E5-4325-805E-52263B4B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385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A66A"/>
          </a:solidFill>
          <a:ln xmlns:a="http://schemas.openxmlformats.org/drawingml/2006/main" w="9525">
            <a:solidFill>
              <a:srgbClr val="17A6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E9099-0150-4565-B3F1-E45EF322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A66A"/>
          </a:solidFill>
          <a:ln xmlns:a="http://schemas.openxmlformats.org/drawingml/2006/main" w="9525">
            <a:solidFill>
              <a:srgbClr val="17A6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E5EC4-4549-4776-A133-6E48FDC8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385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A66A"/>
          </a:solidFill>
          <a:ln xmlns:a="http://schemas.openxmlformats.org/drawingml/2006/main" w="9525">
            <a:solidFill>
              <a:srgbClr val="17A6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9B247-4C66-4557-8ED2-6296C00E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385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A66A"/>
          </a:solidFill>
          <a:ln xmlns:a="http://schemas.openxmlformats.org/drawingml/2006/main" w="9525">
            <a:solidFill>
              <a:srgbClr val="17A6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3350A-2422-475C-AF53-5D9C2C5E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6192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2F3F3"/>
          </a:solidFill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633F9-3625-422D-B7CB-88612FA5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领取 / 建客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733028-5D97-4D72-8C5C-E2B74B9F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276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客户信息进入企业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16064-1B86-433C-9B38-2344D413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28950"/>
            <a:ext cx="16192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2F3F3"/>
          </a:solidFill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DE9A6C-66AF-416F-A118-E4AF3042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004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预约上门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974F92-049A-4FFE-B8B9-7B159121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62350"/>
            <a:ext cx="1276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确定时间与地址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5A0DB1-D8A9-4263-994A-00FCECA4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28950"/>
            <a:ext cx="16192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2F3F3"/>
          </a:solidFill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D0DE65-EE6B-4C76-BF6D-24E792FA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004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正式量房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1F744-FB56-47D3-83F7-008DAD49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62350"/>
            <a:ext cx="1276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闭合空间后确认完成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08FAEC-6E26-42B3-B973-18EB25A6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16192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17A6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13A60-11BE-43BB-A0FD-E47CE069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004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AI 方案发布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0E9EA7-568A-4843-AEBF-75CA527C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62350"/>
            <a:ext cx="1276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客户获得可见方案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08459A-9772-4831-99DB-49F7AA0B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28950"/>
            <a:ext cx="16192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2F3F3"/>
          </a:solidFill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F7D12F-53A6-4879-9BC5-6E2CDF12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004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签单 / 提成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7B5975-421B-4437-B665-DE138747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62350"/>
            <a:ext cx="1276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系统记账，线下打款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D4C12D-7B0D-409F-A4AB-9627A088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关键点：量房编辑器“完成”只是提交户型；预约详情“确认完成量房”后，服务才真正交给设计师。</a:t>
            </a:r>
          </a:p>
        </p:txBody>
      </p:sp>
    </p:spTree>
    <p:extLst>
      <p:ext uri="{BB962C8B-B14F-4D97-AF65-F5344CB8AC3E}">
        <p14:creationId xmlns:p14="http://schemas.microsoft.com/office/powerpoint/2010/main" val="9539130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ADE9B8-5E05-4A5B-8F5E-88A2527F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A66A"/>
                </a:solidFill>
              </a:defRPr>
            </a:pPr>
            <a:r>
              <a:rPr sz="1050" b="1">
                <a:solidFill>
                  <a:srgbClr val="17A66A"/>
                </a:solidFill>
              </a:rPr>
              <a:t>角色协作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E166E-35BA-4A07-A15B-90A99020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系统不让所有人看到所有事，而是让每个人完成自己的那一段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1479C-17D1-47BF-BF5B-5E519147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8FFD00-6654-47D0-8477-84FA51EA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家客来 · 新工作流产品讲解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5B10E-07CB-4C42-882E-6E744D39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A29B2-D995-4EE7-B0A9-162B9A37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推广人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D299D-8E50-425A-9BEC-BB84558C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把客户带进来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看脱敏进度和自己的收益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F9220-C096-428C-A311-B316C238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812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3B0A3-25A8-4D65-A338-3B461C6C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客户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0A131-A202-4C31-9CDF-74640A73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98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领取服务、预约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查看户型摘要和已发布方案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1A756-9B98-430B-BC99-09E60EBF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69FD50-BAF1-437E-9280-DE9496D7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测量员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500FD-19E5-4118-8DBC-11DBED61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按任务上门量房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管理日程与现场数据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6B439F-3717-492E-B4C1-53CE2B51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814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C417F-2E29-49CF-8DD0-6DA51D1E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设计师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58FB0F-6A75-45C8-A7E3-7F8FCC0F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100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跟进客户、补现场图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AI 出图、发布与撤回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BBA5A0-9346-49AC-9B63-3AB5319A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815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0074C3-1085-4388-9C49-FC38AB6B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A66A"/>
                </a:solidFill>
              </a:defRPr>
            </a:pPr>
            <a:r>
              <a:rPr sz="1725" b="1">
                <a:solidFill>
                  <a:srgbClr val="17A66A"/>
                </a:solidFill>
              </a:rPr>
              <a:t>老板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D273C-6259-40B7-94EC-A502DB19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101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看全店经营、派单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签单、调整与确认提成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186CD8-333B-4DE0-80D5-70967AB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81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A6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53E41E-9E24-4446-A2C4-B9F217FF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57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角色边界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也是服务质量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733BC8-3518-4C29-A846-06277D2C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86125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客户不进量房编辑器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推广人不见客户隐私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员工只看授权范围内线索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2C6C80-D08A-4025-9F8C-F970AAA4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6725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这让协作可追、信息可控，也让权限异常更容易被发现。</a:t>
            </a:r>
          </a:p>
        </p:txBody>
      </p:sp>
    </p:spTree>
    <p:extLst>
      <p:ext uri="{BB962C8B-B14F-4D97-AF65-F5344CB8AC3E}">
        <p14:creationId xmlns:p14="http://schemas.microsoft.com/office/powerpoint/2010/main" val="14914444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EE2BB1-882C-40EE-BAC8-F691EE6E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A66A"/>
                </a:solidFill>
              </a:defRPr>
            </a:pPr>
            <a:r>
              <a:rPr sz="1050" b="1">
                <a:solidFill>
                  <a:srgbClr val="17A66A"/>
                </a:solidFill>
              </a:rPr>
              <a:t>方案怎么交付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2D063-46D3-4A9A-A1C9-8B78EF4A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AI 设计不是一个孤立工具，它服务于客户交付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A7E22-48D0-48D8-98B4-A521FDCC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3E774-A35B-4980-9247-63EB5E62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家客来 · 新工作流产品讲解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4B411-F233-41E5-ACB9-A839361D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80559-9E89-4D32-9B0F-4C8E38BB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995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设计师可以结合客户资料、已选房间标签的现场图和正式量房图，形成可持续更新的方案。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E4BB3-356B-4F55-B76C-A1ACE4C1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147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A66A"/>
          </a:solidFill>
          <a:ln xmlns:a="http://schemas.openxmlformats.org/drawingml/2006/main" w="9525">
            <a:solidFill>
              <a:srgbClr val="17A6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911C6-32B2-4836-A4D3-5D8B3F26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147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A66A"/>
          </a:solidFill>
          <a:ln xmlns:a="http://schemas.openxmlformats.org/drawingml/2006/main" w="9525">
            <a:solidFill>
              <a:srgbClr val="17A6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20BAE-61C1-4905-808F-36E10A3E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7147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A66A"/>
          </a:solidFill>
          <a:ln xmlns:a="http://schemas.openxmlformats.org/drawingml/2006/main" w="9525">
            <a:solidFill>
              <a:srgbClr val="17A6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64721-B2B0-4B5C-B404-6B181775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143125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2F3F3"/>
          </a:solidFill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0244E-78B3-46B1-B089-3FDDA2D1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1800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收集依据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42E60-B0BE-4DCA-9065-A7346EDF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18002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客户资料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现场图 / 正式户型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60212-962D-4BAE-B7B9-F63BFEB1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43250"/>
            <a:ext cx="2143125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2F3F3"/>
          </a:solidFill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6A85D-2791-484F-8388-8BEB1E78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314700"/>
            <a:ext cx="1800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AI 方案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2FACB-E23D-4F19-94F6-9141EF3C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676650"/>
            <a:ext cx="18002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整屋或单房间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可多轮生成与选择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FB91F-33F0-4487-BE51-1A24BC00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43250"/>
            <a:ext cx="2143125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17A6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CDADF-76E2-40EC-9F13-E238109E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14700"/>
            <a:ext cx="1800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发布与定稿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EEB98C-C6A3-4499-AC4F-B7FA2383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76650"/>
            <a:ext cx="18002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发布、撤回、定稿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客户只看已发布内容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B0368-96B4-406D-BC45-464FE397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143250"/>
            <a:ext cx="1762125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2F3F3"/>
          </a:solidFill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631DC9-92C8-483C-B39B-B8B583CB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14700"/>
            <a:ext cx="1419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客户图册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E298ED-B82A-4A08-A5DE-2DDDBC4B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76650"/>
            <a:ext cx="14192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按轮次查看方案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可生成分享海报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1966B4-898A-4EFB-82BF-B4B887B0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A66A"/>
                </a:solidFill>
              </a:defRPr>
            </a:pPr>
            <a:r>
              <a:rPr sz="1500" b="1">
                <a:solidFill>
                  <a:srgbClr val="17A66A"/>
                </a:solidFill>
              </a:rPr>
              <a:t>发布之前：客户看不见。  撤回之后：客户立即看不见。</a:t>
            </a:r>
          </a:p>
        </p:txBody>
      </p:sp>
    </p:spTree>
    <p:extLst>
      <p:ext uri="{BB962C8B-B14F-4D97-AF65-F5344CB8AC3E}">
        <p14:creationId xmlns:p14="http://schemas.microsoft.com/office/powerpoint/2010/main" val="14406536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C597F3-849B-4553-BA4C-72D4116D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A66A"/>
                </a:solidFill>
              </a:defRPr>
            </a:pPr>
            <a:r>
              <a:rPr sz="1050" b="1">
                <a:solidFill>
                  <a:srgbClr val="17A66A"/>
                </a:solidFill>
              </a:rPr>
              <a:t>负责人工作台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43B7A-C599-4415-BF03-62B8BAE8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老板看到的是“全店有没有卡住”，而不是替每个人做事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B2119-0218-434E-AE03-14774CC3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890D0-7E3D-42C6-BE6F-CD9976C5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家客来 · 新工作流产品讲解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4CA7B-5755-4C69-A5CB-7FFF82F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F8F4D-B35C-498F-9D5D-086847BE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368"/>
                </a:solidFill>
              </a:defRPr>
            </a:pPr>
            <a:r>
              <a:rPr sz="1725" b="0">
                <a:solidFill>
                  <a:srgbClr val="5F6368"/>
                </a:solidFill>
              </a:rPr>
              <a:t>负责人通过经营、客户、预约和提成四类入口，处理需要协调的事情。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6F18C-97B5-4978-8CF4-34D83AD0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908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A66A"/>
                </a:solidFill>
              </a:defRPr>
            </a:pPr>
            <a:r>
              <a:rPr sz="1950" b="1">
                <a:solidFill>
                  <a:srgbClr val="17A66A"/>
                </a:solidFill>
              </a:rPr>
              <a:t>经营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B18CD-DFC8-487D-9B56-EBEFFEFB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9082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新增线索、待派单、待量房、待交付和签约情况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6CB3F-360D-4A69-8D52-A331DA9A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442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98E50-BD34-4E5B-8F51-F49257B7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908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客户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C8A03-EC03-4E0F-89AB-50362429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9082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补资料、查看分配、必要时补派或更换人员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065B1-FC8B-4A30-974C-6744DBD3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29025"/>
            <a:ext cx="442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BCE8AD-4FB4-4294-A5C8-9B9A7F82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预约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04090-007B-433A-9AAB-B92D6F15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053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统一看已确认、已过期和需要协调的上门安排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DC701-F39B-4518-9AEA-76C8AB6E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442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FC4F3A-C64E-4F06-BEBB-03DC64FA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05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提成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10D907-23C2-455E-8EEC-502E3680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053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查看待支付/已支付；待支付可在后台调整后再线下确认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A127E0-B1A2-458B-828B-0ADD3CE6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43500"/>
            <a:ext cx="442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9037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4BB7B-D35A-4890-A8D4-041780FA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内测要验证的，不只是页面能不能打开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763C4-D083-4A6A-99E2-2314B358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895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而是：一个客户从进来到交付，所有角色看到的状态是否一致，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</a:defRPr>
            </a:pPr>
            <a:r>
              <a:rPr sz="1650" b="0">
                <a:solidFill>
                  <a:srgbClr val="5F6368"/>
                </a:solidFill>
              </a:rPr>
              <a:t>下一步是否明确，权限是否正确。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90BB4-F168-4846-A2A2-10D65703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A6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BE859-D49A-41F6-9A97-55AF47D9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A66A"/>
                </a:solidFill>
              </a:defRPr>
            </a:pPr>
            <a:r>
              <a:rPr sz="1200" b="1">
                <a:solidFill>
                  <a:srgbClr val="17A66A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B2BC7-26A5-42F9-90C9-B836DBA6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576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客户能领、能约、能看到已发布方案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ECE09-DCDF-43FB-B2DA-7637E0FC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A66A"/>
                </a:solidFill>
              </a:defRPr>
            </a:pPr>
            <a:r>
              <a:rPr sz="1200" b="1">
                <a:solidFill>
                  <a:srgbClr val="17A66A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799B9-D4A1-45EF-8778-3ED828AE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719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测量员和设计师能按顺序完成服务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BA262-79E2-43B7-93BA-A22C0772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A66A"/>
                </a:solidFill>
              </a:defRPr>
            </a:pPr>
            <a:r>
              <a:rPr sz="1200" b="1">
                <a:solidFill>
                  <a:srgbClr val="17A66A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87726-BE60-400E-83E1-D6D69856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863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老板能看到异常、签单和提成结果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199A1-F80A-43BD-BD82-7E50EE3B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A66A"/>
                </a:solidFill>
              </a:defRPr>
            </a:pPr>
            <a:r>
              <a:rPr sz="1200" b="1">
                <a:solidFill>
                  <a:srgbClr val="17A66A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D43F3-5462-4C33-9BA3-4F25813E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006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每个角色只看到应该看到的信息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D394E-ABEC-45AE-B894-501C55D1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48100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A66A"/>
                </a:solidFill>
              </a:defRPr>
            </a:pPr>
            <a:r>
              <a:rPr sz="1800" b="1">
                <a:solidFill>
                  <a:srgbClr val="17A66A"/>
                </a:solidFill>
              </a:rPr>
              <a:t>从《快速内测指南》开始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7A66A"/>
                </a:solidFill>
              </a:defRPr>
            </a:pPr>
            <a:r>
              <a:rPr sz="1800" b="1">
                <a:solidFill>
                  <a:srgbClr val="17A66A"/>
                </a:solidFill>
              </a:rPr>
              <a:t>用同一条测试线索一起跑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C0842-9D2C-4C82-8728-AD61E36C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E2E9C2-A4F0-457C-A6FC-C061021A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家客来 · 新工作流产品讲解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ADCEA-100D-43B7-BCB6-204F81FE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902659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2026-08-24T01:54:21.9330000Z</dcterms:created>
  <dcterms:modified xsi:type="dcterms:W3CDTF">2026-08-24T01:54:21.9330000Z</dcterms:modified>
</coreProperties>
</file>
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e48752ae8c4918" /><Relationship Type="http://schemas.openxmlformats.org/officeDocument/2006/relationships/extended-properties" Target="/docProps/app.xml" Id="Raa2d58d8ec5849ad" /><Relationship Type="http://schemas.openxmlformats.org/officeDocument/2006/relationships/officeDocument" Target="/ppt/presentation.xml" Id="Rf6110a5e870348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d3f8523754dd8"/>
  </p:sldMasterIdLst>
  <p:notesMasterIdLst>
    <p:notesMasterId xmlns:r="http://schemas.openxmlformats.org/officeDocument/2006/relationships" r:id="R406d2d7e03a143b4"/>
  </p:notesMasterIdLst>
  <p:sldIdLst>
    <p:sldId xmlns:r="http://schemas.openxmlformats.org/officeDocument/2006/relationships" id="256" r:id="Rfa9d6bff89334425"/>
    <p:sldId xmlns:r="http://schemas.openxmlformats.org/officeDocument/2006/relationships" id="257" r:id="Ra99a6ecfab1a4f4c"/>
    <p:sldId xmlns:r="http://schemas.openxmlformats.org/officeDocument/2006/relationships" id="258" r:id="R5dcf1ad7f5084629"/>
    <p:sldId xmlns:r="http://schemas.openxmlformats.org/officeDocument/2006/relationships" id="259" r:id="Rfefb4f648e9c4948"/>
    <p:sldId xmlns:r="http://schemas.openxmlformats.org/officeDocument/2006/relationships" id="260" r:id="Rf24671aff0ad493c"/>
    <p:sldId xmlns:r="http://schemas.openxmlformats.org/officeDocument/2006/relationships" id="261" r:id="R29f391c56f5b4230"/>
    <p:sldId xmlns:r="http://schemas.openxmlformats.org/officeDocument/2006/relationships" id="262" r:id="Rc78e5f32dff24c70"/>
    <p:sldId xmlns:r="http://schemas.openxmlformats.org/officeDocument/2006/relationships" id="263" r:id="Rd9c86c5a020a4814"/>
    <p:sldId xmlns:r="http://schemas.openxmlformats.org/officeDocument/2006/relationships" id="264" r:id="R8e918a290c57422e"/>
    <p:sldId xmlns:r="http://schemas.openxmlformats.org/officeDocument/2006/relationships" id="265" r:id="Rfb295cffd5c14865"/>
    <p:sldId xmlns:r="http://schemas.openxmlformats.org/officeDocument/2006/relationships" id="266" r:id="R3ab43839a9e74505"/>
    <p:sldId xmlns:r="http://schemas.openxmlformats.org/officeDocument/2006/relationships" id="267" r:id="Rdae6310c1c4d481e"/>
    <p:sldId xmlns:r="http://schemas.openxmlformats.org/officeDocument/2006/relationships" id="268" r:id="R10b91d7c49b44179"/>
    <p:sldId xmlns:r="http://schemas.openxmlformats.org/officeDocument/2006/relationships" id="269" r:id="Rd9e37d9210824423"/>
    <p:sldId xmlns:r="http://schemas.openxmlformats.org/officeDocument/2006/relationships" id="270" r:id="Rd9e24ca5962b4949"/>
    <p:sldId xmlns:r="http://schemas.openxmlformats.org/officeDocument/2006/relationships" id="271" r:id="R7554ec605eb640ca"/>
    <p:sldId xmlns:r="http://schemas.openxmlformats.org/officeDocument/2006/relationships" id="272" r:id="R059c0afc215744af"/>
    <p:sldId xmlns:r="http://schemas.openxmlformats.org/officeDocument/2006/relationships" id="273" r:id="R15ecaf81e7f54805"/>
    <p:sldId xmlns:r="http://schemas.openxmlformats.org/officeDocument/2006/relationships" id="274" r:id="Rffe6c3b5129240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be3a32acec4f78" /><Relationship Type="http://schemas.openxmlformats.org/officeDocument/2006/relationships/slideMaster" Target="/ppt/slideMasters/slideMaster1.xml" Id="R230d3f8523754dd8" /><Relationship Type="http://schemas.openxmlformats.org/officeDocument/2006/relationships/notesMaster" Target="/ppt/notesMasters/notesMaster1.xml" Id="R406d2d7e03a143b4" /><Relationship Type="http://schemas.openxmlformats.org/officeDocument/2006/relationships/presProps" Target="/ppt/presProps.xml" Id="R973214b1ebbe43d1" /><Relationship Type="http://schemas.openxmlformats.org/officeDocument/2006/relationships/tableStyles" Target="/ppt/tableStyles.xml" Id="R1c504a004a644499" /><Relationship Type="http://schemas.openxmlformats.org/officeDocument/2006/relationships/slide" Target="/ppt/slides/slide1.xml" Id="Rfa9d6bff89334425" /><Relationship Type="http://schemas.openxmlformats.org/officeDocument/2006/relationships/slide" Target="/ppt/slides/slide2.xml" Id="Ra99a6ecfab1a4f4c" /><Relationship Type="http://schemas.openxmlformats.org/officeDocument/2006/relationships/slide" Target="/ppt/slides/slide3.xml" Id="R5dcf1ad7f5084629" /><Relationship Type="http://schemas.openxmlformats.org/officeDocument/2006/relationships/slide" Target="/ppt/slides/slide4.xml" Id="Rfefb4f648e9c4948" /><Relationship Type="http://schemas.openxmlformats.org/officeDocument/2006/relationships/slide" Target="/ppt/slides/slide5.xml" Id="Rf24671aff0ad493c" /><Relationship Type="http://schemas.openxmlformats.org/officeDocument/2006/relationships/slide" Target="/ppt/slides/slide6.xml" Id="R29f391c56f5b4230" /><Relationship Type="http://schemas.openxmlformats.org/officeDocument/2006/relationships/slide" Target="/ppt/slides/slide7.xml" Id="Rc78e5f32dff24c70" /><Relationship Type="http://schemas.openxmlformats.org/officeDocument/2006/relationships/slide" Target="/ppt/slides/slide8.xml" Id="Rd9c86c5a020a4814" /><Relationship Type="http://schemas.openxmlformats.org/officeDocument/2006/relationships/slide" Target="/ppt/slides/slide9.xml" Id="R8e918a290c57422e" /><Relationship Type="http://schemas.openxmlformats.org/officeDocument/2006/relationships/slide" Target="/ppt/slides/slide10.xml" Id="Rfb295cffd5c14865" /><Relationship Type="http://schemas.openxmlformats.org/officeDocument/2006/relationships/slide" Target="/ppt/slides/slide11.xml" Id="R3ab43839a9e74505" /><Relationship Type="http://schemas.openxmlformats.org/officeDocument/2006/relationships/slide" Target="/ppt/slides/slide12.xml" Id="Rdae6310c1c4d481e" /><Relationship Type="http://schemas.openxmlformats.org/officeDocument/2006/relationships/slide" Target="/ppt/slides/slide13.xml" Id="R10b91d7c49b44179" /><Relationship Type="http://schemas.openxmlformats.org/officeDocument/2006/relationships/slide" Target="/ppt/slides/slide14.xml" Id="Rd9e37d9210824423" /><Relationship Type="http://schemas.openxmlformats.org/officeDocument/2006/relationships/slide" Target="/ppt/slides/slide15.xml" Id="Rd9e24ca5962b4949" /><Relationship Type="http://schemas.openxmlformats.org/officeDocument/2006/relationships/slide" Target="/ppt/slides/slide16.xml" Id="R7554ec605eb640ca" /><Relationship Type="http://schemas.openxmlformats.org/officeDocument/2006/relationships/slide" Target="/ppt/slides/slide17.xml" Id="R059c0afc215744af" /><Relationship Type="http://schemas.openxmlformats.org/officeDocument/2006/relationships/slide" Target="/ppt/slides/slide18.xml" Id="R15ecaf81e7f54805" /><Relationship Type="http://schemas.openxmlformats.org/officeDocument/2006/relationships/slide" Target="/ppt/slides/slide19.xml" Id="Rffe6c3b5129240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74cbde3c3545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5e7d283ae340ed" /><Relationship Type="http://schemas.openxmlformats.org/officeDocument/2006/relationships/notesMaster" Target="/ppt/notesMasters/notesMaster1.xml" Id="R34301e2148f440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a46860de4b407e" /><Relationship Type="http://schemas.openxmlformats.org/officeDocument/2006/relationships/notesMaster" Target="/ppt/notesMasters/notesMaster1.xml" Id="R87529b44c61548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18191c195843a7" /><Relationship Type="http://schemas.openxmlformats.org/officeDocument/2006/relationships/notesMaster" Target="/ppt/notesMasters/notesMaster1.xml" Id="Rd0e92a1fa24c45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e654fd7e624255" /><Relationship Type="http://schemas.openxmlformats.org/officeDocument/2006/relationships/notesMaster" Target="/ppt/notesMasters/notesMaster1.xml" Id="R0e59bf20c1b2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58f683720d4662" /><Relationship Type="http://schemas.openxmlformats.org/officeDocument/2006/relationships/notesMaster" Target="/ppt/notesMasters/notesMaster1.xml" Id="R39300b11d95941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927bbf1e2e4679" /><Relationship Type="http://schemas.openxmlformats.org/officeDocument/2006/relationships/notesMaster" Target="/ppt/notesMasters/notesMaster1.xml" Id="R8d745f3ce4c043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5cb1d2784143be" /><Relationship Type="http://schemas.openxmlformats.org/officeDocument/2006/relationships/notesMaster" Target="/ppt/notesMasters/notesMaster1.xml" Id="R5552ded2385848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ca05e9e5594ce2" /><Relationship Type="http://schemas.openxmlformats.org/officeDocument/2006/relationships/notesMaster" Target="/ppt/notesMasters/notesMaster1.xml" Id="R7a161c4a9b4745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5c43c9875d422a" /><Relationship Type="http://schemas.openxmlformats.org/officeDocument/2006/relationships/notesMaster" Target="/ppt/notesMasters/notesMaster1.xml" Id="R825cbb12885143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4b9ed051fb4761" /><Relationship Type="http://schemas.openxmlformats.org/officeDocument/2006/relationships/notesMaster" Target="/ppt/notesMasters/notesMaster1.xml" Id="R2146f7c2fc7d4a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8b6976d67e44ba" /><Relationship Type="http://schemas.openxmlformats.org/officeDocument/2006/relationships/notesMaster" Target="/ppt/notesMasters/notesMaster1.xml" Id="R0cca3dee0cee4a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fab0ce095b4f3c" /><Relationship Type="http://schemas.openxmlformats.org/officeDocument/2006/relationships/notesMaster" Target="/ppt/notesMasters/notesMaster1.xml" Id="Rffaf971ed8b64f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e3f4a92725484b" /><Relationship Type="http://schemas.openxmlformats.org/officeDocument/2006/relationships/notesMaster" Target="/ppt/notesMasters/notesMaster1.xml" Id="Rf2694aa3112e41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ef02bbea6941cf" /><Relationship Type="http://schemas.openxmlformats.org/officeDocument/2006/relationships/notesMaster" Target="/ppt/notesMasters/notesMaster1.xml" Id="R098168b192d64d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61871c077040d2" /><Relationship Type="http://schemas.openxmlformats.org/officeDocument/2006/relationships/notesMaster" Target="/ppt/notesMasters/notesMaster1.xml" Id="R4b856b8327254a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9ec005d5c7466a" /><Relationship Type="http://schemas.openxmlformats.org/officeDocument/2006/relationships/notesMaster" Target="/ppt/notesMasters/notesMaster1.xml" Id="R2f5000587e1b4b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d1066473b14da8" /><Relationship Type="http://schemas.openxmlformats.org/officeDocument/2006/relationships/notesMaster" Target="/ppt/notesMasters/notesMaster1.xml" Id="Rbca16e0ca4fb4f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b8dd04921f04498" /><Relationship Type="http://schemas.openxmlformats.org/officeDocument/2006/relationships/notesMaster" Target="/ppt/notesMasters/notesMaster1.xml" Id="R8a38808be5b544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dfc91f35a04a3b" /><Relationship Type="http://schemas.openxmlformats.org/officeDocument/2006/relationships/notesMaster" Target="/ppt/notesMasters/notesMaster1.xml" Id="R992d173ca93f40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visuals extracted from the local source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illustration extracted from source slide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Product screenshots extracted from source slide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surveying screenshots extracted from source slide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floor-plan illustration extracted from source slide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Full approved design comps: ai-design-customer-project-switcher-v3.png; ai-design-customer-workbench-home-v2.png; ai-design-immersive-a-space-tour-v1.png; docs/ai-design/miniprogram-ai-design-requirements.zh-CN.md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AI prompt library active revision 17 (published 2026-08-01): 960 enabled templates; examples include IDs 906, 420, 642, 930, and 618.</a:t>
            </a:r>
          </a:p>
          <a:p xmlns:a="http://schemas.openxmlformats.org/drawingml/2006/main">
            <a:r>
              <a:t>- Preview imagery from the same internal prompt-template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built-in image generation, same-space home-renovation demo set: empty room, modern cream, modern French, modern Chinese.</a:t>
            </a:r>
          </a:p>
          <a:p xmlns:a="http://schemas.openxmlformats.org/drawingml/2006/main">
            <a:r>
              <a:t>- AI-generated demonstration effects; not live Mini Program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built-in image generation, local material replacement demo.</a:t>
            </a:r>
          </a:p>
          <a:p xmlns:a="http://schemas.openxmlformats.org/drawingml/2006/main">
            <a:r>
              <a:t>- Internal prompt-template preview ID 618 (living-room soft-furnishing analysis).</a:t>
            </a:r>
          </a:p>
          <a:p xmlns:a="http://schemas.openxmlformats.org/drawingml/2006/main">
            <a:r>
              <a:t>- AI-generated demonstration effects; not live runtime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AI prompt library active revision 17 (published 2026-08-01), 960 enabled templates.</a:t>
            </a:r>
          </a:p>
          <a:p xmlns:a="http://schemas.openxmlformats.org/drawingml/2006/main">
            <a:r>
              <a:t>- Shown template previews: ID 906 modern cream rough-home renovation; ID 893 French rough-home renovation; ID 642 floor-plan renovation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Full approved design comps: all-pages-ip-v3/14-ai-design-create-v3.png; ai-design-project-state-matrix-v4.png; credit behavior verified against current AI requirements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Mini Program design source: design-references/all-pages-ip-v3/15-ai-design-result-v3.png.</a:t>
            </a:r>
          </a:p>
          <a:p xmlns:a="http://schemas.openxmlformats.org/drawingml/2006/main">
            <a:r>
              <a:t>- Result-stage imagery generated with OpenAI built-in image generation for modern cream, modern French, and modern Chinese comparisons.</a:t>
            </a:r>
          </a:p>
          <a:p xmlns:a="http://schemas.openxmlformats.org/drawingml/2006/main">
            <a:r>
              <a:t>- Composite design demonstration; not a live runtime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 library active revision 17 and template previews.</a:t>
            </a:r>
          </a:p>
          <a:p xmlns:a="http://schemas.openxmlformats.org/drawingml/2006/main">
            <a:r>
              <a:t>- OpenAI built-in image generation: before/after style and material-replacement examples.</a:t>
            </a:r>
          </a:p>
          <a:p xmlns:a="http://schemas.openxmlformats.org/drawingml/2006/main">
            <a:r>
              <a:t>- AI-generated demonstration effects; not live runtime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Role and acquisition boundaries verified against measurer–designer acquisition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Mini Program screenshot extracted from source slide 9; admin responsibilities verified against current module inventory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Capability boundaries verified against current Mini Program, admin, formal surveying, and AI module 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d57ee40f34f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7150c81b3f4fc5" /><Relationship Type="http://schemas.openxmlformats.org/officeDocument/2006/relationships/slideLayout" Target="/ppt/slideLayouts/slideLayout1.xml" Id="R17d155ca186840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d155ca186840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92cda6e584c75" /><Relationship Type="http://schemas.openxmlformats.org/officeDocument/2006/relationships/image" Target="/ppt/media/image.png" Id="R3e916b19f89546b2" /><Relationship Type="http://schemas.openxmlformats.org/officeDocument/2006/relationships/image" Target="/ppt/media/image2.png" Id="R2f84e7d3bbb84710" /><Relationship Type="http://schemas.openxmlformats.org/officeDocument/2006/relationships/notesSlide" Target="/ppt/notesSlides/notesSlide1.xml" Id="R2a4dac7b77114b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7fad6f9fe4092" /><Relationship Type="http://schemas.openxmlformats.org/officeDocument/2006/relationships/image" Target="/ppt/media/image3.png" Id="R935f30a511604e2b" /><Relationship Type="http://schemas.openxmlformats.org/officeDocument/2006/relationships/notesSlide" Target="/ppt/notesSlides/notesSlide2.xml" Id="R69b953bd91d64e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a565721b54fb7" /><Relationship Type="http://schemas.openxmlformats.org/officeDocument/2006/relationships/notesSlide" Target="/ppt/notesSlides/notesSlide3.xml" Id="R712f5d676f9643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dce4c14774193" /><Relationship Type="http://schemas.openxmlformats.org/officeDocument/2006/relationships/notesSlide" Target="/ppt/notesSlides/notesSlide4.xml" Id="R7f4fe5e4a1d245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78e017e7549c7" /><Relationship Type="http://schemas.openxmlformats.org/officeDocument/2006/relationships/image" Target="/ppt/media/image4.png" Id="Reacae7af894d442b" /><Relationship Type="http://schemas.openxmlformats.org/officeDocument/2006/relationships/image" Target="/ppt/media/image5.png" Id="Rf466365c892e44b2" /><Relationship Type="http://schemas.openxmlformats.org/officeDocument/2006/relationships/notesSlide" Target="/ppt/notesSlides/notesSlide5.xml" Id="R46c1ad348d8440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01511641f4ed4" /><Relationship Type="http://schemas.openxmlformats.org/officeDocument/2006/relationships/image" Target="/ppt/media/image6.png" Id="Rce25ce4feb374e31" /><Relationship Type="http://schemas.openxmlformats.org/officeDocument/2006/relationships/image" Target="/ppt/media/image7.png" Id="Rbcc56b48de5240e4" /><Relationship Type="http://schemas.openxmlformats.org/officeDocument/2006/relationships/image" Target="/ppt/media/image8.png" Id="Rb5f76363d353468b" /><Relationship Type="http://schemas.openxmlformats.org/officeDocument/2006/relationships/notesSlide" Target="/ppt/notesSlides/notesSlide6.xml" Id="Rc3f64ef1d6914f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b562d13f746f7" /><Relationship Type="http://schemas.openxmlformats.org/officeDocument/2006/relationships/image" Target="/ppt/media/image9.png" Id="R8f27777b8d8642bc" /><Relationship Type="http://schemas.openxmlformats.org/officeDocument/2006/relationships/notesSlide" Target="/ppt/notesSlides/notesSlide7.xml" Id="R297abf476efb4c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5ad1fc98640ed" /><Relationship Type="http://schemas.openxmlformats.org/officeDocument/2006/relationships/image" Target="/ppt/media/image10.png" Id="Rcc4acf87ed80470a" /><Relationship Type="http://schemas.openxmlformats.org/officeDocument/2006/relationships/image" Target="/ppt/media/image11.png" Id="Ra7d783c0b80e49b4" /><Relationship Type="http://schemas.openxmlformats.org/officeDocument/2006/relationships/image" Target="/ppt/media/image12.png" Id="R72ef3f0d199a4498" /><Relationship Type="http://schemas.openxmlformats.org/officeDocument/2006/relationships/notesSlide" Target="/ppt/notesSlides/notesSlide8.xml" Id="Re55ee6f3e50446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4995c3cc543ea" /><Relationship Type="http://schemas.openxmlformats.org/officeDocument/2006/relationships/image" Target="/ppt/media/image.jpeg" Id="R3082c8470a6342be" /><Relationship Type="http://schemas.openxmlformats.org/officeDocument/2006/relationships/image" Target="/ppt/media/image2.jpeg" Id="Rc1d414d74988494d" /><Relationship Type="http://schemas.openxmlformats.org/officeDocument/2006/relationships/notesSlide" Target="/ppt/notesSlides/notesSlide9.xml" Id="R10bc5c494b5e42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9345dd06440ab" /><Relationship Type="http://schemas.openxmlformats.org/officeDocument/2006/relationships/image" Target="/ppt/media/image3.jpeg" Id="Rea0c0931d39749fe" /><Relationship Type="http://schemas.openxmlformats.org/officeDocument/2006/relationships/image" Target="/ppt/media/image4.jpeg" Id="R8bb10ddc42a34beb" /><Relationship Type="http://schemas.openxmlformats.org/officeDocument/2006/relationships/image" Target="/ppt/media/image5.jpeg" Id="R5ab0d41e71194ad7" /><Relationship Type="http://schemas.openxmlformats.org/officeDocument/2006/relationships/notesSlide" Target="/ppt/notesSlides/notesSlide10.xml" Id="R6fa69e5c169340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f0b1dda84496" /><Relationship Type="http://schemas.openxmlformats.org/officeDocument/2006/relationships/image" Target="/ppt/media/image3.jpeg" Id="R738c37ae82124277" /><Relationship Type="http://schemas.openxmlformats.org/officeDocument/2006/relationships/image" Target="/ppt/media/image4.jpeg" Id="R422ee8a4de454acb" /><Relationship Type="http://schemas.openxmlformats.org/officeDocument/2006/relationships/image" Target="/ppt/media/image5.jpeg" Id="Rda33c1bd798c4245" /><Relationship Type="http://schemas.openxmlformats.org/officeDocument/2006/relationships/notesSlide" Target="/ppt/notesSlides/notesSlide11.xml" Id="Rfa0027dc536548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18f9a0d9448d8" /><Relationship Type="http://schemas.openxmlformats.org/officeDocument/2006/relationships/image" Target="/ppt/media/image3.jpeg" Id="Rae7db8a5ea794884" /><Relationship Type="http://schemas.openxmlformats.org/officeDocument/2006/relationships/image" Target="/ppt/media/image4.jpeg" Id="R76c0302a363d49f6" /><Relationship Type="http://schemas.openxmlformats.org/officeDocument/2006/relationships/image" Target="/ppt/media/image5.jpeg" Id="R8c1ced04e1484cf6" /><Relationship Type="http://schemas.openxmlformats.org/officeDocument/2006/relationships/notesSlide" Target="/ppt/notesSlides/notesSlide12.xml" Id="R191c4061cc6843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5cd40c8de4d5b" /><Relationship Type="http://schemas.openxmlformats.org/officeDocument/2006/relationships/image" Target="/ppt/media/image13.png" Id="R0a49b963ce9d4aff" /><Relationship Type="http://schemas.openxmlformats.org/officeDocument/2006/relationships/image" Target="/ppt/media/image14.png" Id="R252dc97e001547eb" /><Relationship Type="http://schemas.openxmlformats.org/officeDocument/2006/relationships/notesSlide" Target="/ppt/notesSlides/notesSlide13.xml" Id="R667a0b59501c4e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64a62578f41fd" /><Relationship Type="http://schemas.openxmlformats.org/officeDocument/2006/relationships/image" Target="/ppt/media/image15.png" Id="Rca5971792a994769" /><Relationship Type="http://schemas.openxmlformats.org/officeDocument/2006/relationships/image" Target="/ppt/media/image16.png" Id="R26a150de3a834f95" /><Relationship Type="http://schemas.openxmlformats.org/officeDocument/2006/relationships/image" Target="/ppt/media/image17.png" Id="R490ab835cb0c424f" /><Relationship Type="http://schemas.openxmlformats.org/officeDocument/2006/relationships/notesSlide" Target="/ppt/notesSlides/notesSlide14.xml" Id="R0fe083798c2146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83a3346614487" /><Relationship Type="http://schemas.openxmlformats.org/officeDocument/2006/relationships/image" Target="/ppt/media/image6.jpeg" Id="Re539d5fde7314329" /><Relationship Type="http://schemas.openxmlformats.org/officeDocument/2006/relationships/image" Target="/ppt/media/image7.jpeg" Id="R5d89b72ee0324d98" /><Relationship Type="http://schemas.openxmlformats.org/officeDocument/2006/relationships/image" Target="/ppt/media/image8.jpeg" Id="R5f6420a011844f42" /><Relationship Type="http://schemas.openxmlformats.org/officeDocument/2006/relationships/notesSlide" Target="/ppt/notesSlides/notesSlide15.xml" Id="Rc948bbebb6f744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b820e7fdc46df" /><Relationship Type="http://schemas.openxmlformats.org/officeDocument/2006/relationships/notesSlide" Target="/ppt/notesSlides/notesSlide16.xml" Id="R7002256d0ee04e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51e2cea784998" /><Relationship Type="http://schemas.openxmlformats.org/officeDocument/2006/relationships/image" Target="/ppt/media/image18.png" Id="Rcd47440bb59c4748" /><Relationship Type="http://schemas.openxmlformats.org/officeDocument/2006/relationships/notesSlide" Target="/ppt/notesSlides/notesSlide17.xml" Id="R54c845e4205646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413be4e6844a5" /><Relationship Type="http://schemas.openxmlformats.org/officeDocument/2006/relationships/notesSlide" Target="/ppt/notesSlides/notesSlide18.xml" Id="Rb7725f7ddb924c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19ae3848d4d19" /><Relationship Type="http://schemas.openxmlformats.org/officeDocument/2006/relationships/image" Target="/ppt/media/image19.png" Id="Rda4a97e9cda7456b" /><Relationship Type="http://schemas.openxmlformats.org/officeDocument/2006/relationships/notesSlide" Target="/ppt/notesSlides/notesSlide19.xml" Id="R19c20c0cbb8d42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16b19f89546b2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4e7d3bbb84710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5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从客户建档到设计方案，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让家装服务连续推进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家客来连接客户档案、正式量房、AI 设计与团队跟进。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客户档案  ·  正式户型  ·  设计方案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客户演示稿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4E028-BBB3-4543-9C50-9C951D9E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家客来是什么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55EB7-8B54-4E76-85BE-D02792F9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一套围绕同一位客户持续工作的协作工具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9E5AF-ACC0-4009-A216-8DD5ACCC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量房师、设计师和企业管理者使用同一份客户与空间资料，各自完成职责内的下一步。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7FCDA-85F1-46E0-B57F-3D23A2FC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80A26-3558-47D0-A2C8-7D356BD8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E20AA-B786-4452-B25F-BE308A10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5810250" cy="37719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6133C-6D43-4D40-88DE-BB386A80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5AFE4-E447-4914-B62B-9C476C06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谁使用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617B5-F045-4D8F-BB0B-74DC842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家装企业的量房师、设计师和企业管理者。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6DCB0-6771-4045-8869-67EBDA07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BD79E-17E5-46C3-918C-6E25D79B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24289-46E8-4C7C-B64C-A1FA678C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客户资料、正式户型、设计方案和客户阶段。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651A8-C88D-47DD-9F59-4F6B1DC5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57D71-1FF9-42A6-B153-804F05B2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带来什么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B9602-4ED9-4760-829B-E8556F74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后一个岗位直接使用前一个岗位的成果，减少重复确认与重新录入。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f30a511604e2b"/>
          <a:srcRect xmlns:a="http://schemas.openxmlformats.org/drawingml/2006/main" l="0" t="5383" r="0" b="5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019300"/>
            <a:ext cx="4762500" cy="3886200"/>
          </a:xfrm>
          <a:prstGeom xmlns:a="http://schemas.openxmlformats.org/drawingml/2006/main" prst="roundRect">
            <a:avLst>
              <a:gd name="adj" fmla="val 6863"/>
            </a:avLst>
          </a:prstGeom>
        </p:spPr>
      </p:pic>
    </p:spTree>
    <p:extLst>
      <p:ext uri="{BB962C8B-B14F-4D97-AF65-F5344CB8AC3E}">
        <p14:creationId xmlns:p14="http://schemas.microsoft.com/office/powerpoint/2010/main" val="124115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问题不在工具少，而在工作成果经常断开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客户资料、现场尺寸、设计依据和跟进责任一旦分散，团队就会反复确认同一件事。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个人微信、纸张和表格彼此分离，团队无法共享完整上下文。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手抄、拍照、转述后再录入，正式空间依据难以延续。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设计接手仍要重问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客户需求与户型信息没有连起来，设计师只能重新确认。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管理者看不见下一步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客户卡在哪一步、由谁接手、产出了什么都不够清晰。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家客来把断开的工作接起来：每一步都留下可继续使用的成果。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单一客户主线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张女士的装修需求，沿一条路径持续推进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这条路径是整套演示的导航：每一步同时明确负责人和产生的成果。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设计任务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概念方案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跟进记录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客户档案是入口  ·  正式户型是空间依据  ·  设计方案是沟通成果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一条客户线索，就是后续服务的入口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先把“为谁做、房子在哪里、现在进行到哪一步”说清楚，再进入量房与设计。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ae7af894d442b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6365c892e44b2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建立完整档案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记录称呼、电话、小区、面积和偏好。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关联核心成果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同一客户下查看正式户型、设计方案和更新时间。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找到下一步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通过搜索与客户阶段筛选，定位需要继续处理的客户。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现场量房的成果，是一份可继续使用的正式户型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设备只是输入方式；真正重要的是墙体、门窗、尺寸与闭合空间被保存到客户档案。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5ce4feb374e31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56b48de5240e4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76363d353468b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0DAEB-EA39-4D9B-A9A6-A66044FC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正式户型复用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7009E-4345-4945-A794-4B719697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同一份正式户型，继续服务多个后续场景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3B2FB-E1A1-4A77-A136-09EA0F42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查看、导出、2D/3D 与 AI 都从正式墙图派生，不再维护容易偏离的户型副本。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6CFBE-FCA4-4398-954E-040B0AC3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正式户型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20046-494C-4D56-B581-9CD15C6E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371F0-9FC5-4767-AA3A-87EC34F7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286250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7777b8d8642bc"/>
          <a:stretch xmlns:a="http://schemas.openxmlformats.org/drawingml/2006/main"/>
        </p:blipFill>
        <p:spPr>
          <a:xfrm xmlns:a="http://schemas.openxmlformats.org/drawingml/2006/main">
            <a:off x="899336" y="2457450"/>
            <a:ext cx="3516279" cy="2724150"/>
          </a:xfrm>
          <a:prstGeom xmlns:a="http://schemas.openxmlformats.org/drawingml/2006/main" prst="roundRect">
            <a:avLst>
              <a:gd name="adj" fmla="val 839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B761B-D881-45F8-8AC7-2183DF60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3105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EA462-F8D1-44BB-AAC3-F4DDE145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162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正式户型 = 统一空间依据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9104C-C583-4216-83A8-CFFD87F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81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0C7CE-396D-4A06-B5CB-B41EAA57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95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21D6F-CDA7-4039-8B9D-44806E0D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客户详情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8063E-86DF-47AB-B3C7-DD986808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0507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查看量房状态、闭合空间数与更新时间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D3582-BEC6-40BB-B027-559E8EBF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76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4FE5E-B2B1-4BFB-8209-B41DB683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DEF14-161E-43D1-8735-96F5F90B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384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管理后台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B3F75-4769-4156-B33F-B922F2B9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集中查看正式户型与测量记录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4712E-B3AC-4B01-BCEE-526AB51E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7CF7C-1A35-4E6D-AAF2-E46ADDCB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862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47D20-1DCE-4E4E-8DAF-3520DE1B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338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2D / 3D / DXF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35FA4-FFEC-483A-9EA3-64FA3443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9577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完整且受支持时用于查看与下载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09A91-8020-4695-AC8F-60CEF45F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67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418E6-D021-432D-BF7D-2B166781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815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FC0A8-7380-41AE-9FC3-66F972FF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291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31D2D1-7174-48C5-BFFD-0034354C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9112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从同一份正式户型派生整屋或单空间依据</a:t>
            </a:r>
          </a:p>
        </p:txBody>
      </p:sp>
    </p:spTree>
    <p:extLst>
      <p:ext uri="{BB962C8B-B14F-4D97-AF65-F5344CB8AC3E}">
        <p14:creationId xmlns:p14="http://schemas.microsoft.com/office/powerpoint/2010/main" val="1829491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AD328-8AB5-404E-8E0A-E8B048BA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AI 设计总览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E0338-27E9-483E-8F58-8EFFA42E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设计围绕同一位客户和同一份空间资料持续推进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D3B48-E5DF-4B43-87DF-102FF8E3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从项目工作台进入空间设计，客户、正式户型和方案阶段始终关联。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56203-9FC3-4D0D-9A15-E544BBC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843AD-D81B-414C-B41A-E2EF2BFD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1E896-6D6E-440C-A5AA-8DAA63EE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143250" cy="3657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acf87ed80470a"/>
          <a:stretch xmlns:a="http://schemas.openxmlformats.org/drawingml/2006/main"/>
        </p:blipFill>
        <p:spPr>
          <a:xfrm xmlns:a="http://schemas.openxmlformats.org/drawingml/2006/main">
            <a:off x="1406037" y="1990725"/>
            <a:ext cx="1626577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37505-354C-421D-AAF6-89525D88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9E391-2849-4C09-94D1-5B75D1C0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选择客户项目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FC8C2-B692-49FB-A17F-9C37794F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43250" cy="3657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783c0b80e49b4"/>
          <a:stretch xmlns:a="http://schemas.openxmlformats.org/drawingml/2006/main"/>
        </p:blipFill>
        <p:spPr>
          <a:xfrm xmlns:a="http://schemas.openxmlformats.org/drawingml/2006/main">
            <a:off x="5271349" y="1990725"/>
            <a:ext cx="1630252" cy="3524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EF44D-5488-4051-AFB1-4465BE74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76900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DD345-CF75-45D9-B94E-6382414E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435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查看方案旅程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21F36-0BE3-4D0D-8D8D-33F61C05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143250" cy="3657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f3f0d199a4498"/>
          <a:stretch xmlns:a="http://schemas.openxmlformats.org/drawingml/2006/main"/>
        </p:blipFill>
        <p:spPr>
          <a:xfrm xmlns:a="http://schemas.openxmlformats.org/drawingml/2006/main">
            <a:off x="9138499" y="1990725"/>
            <a:ext cx="1630252" cy="3524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E18E9-8B33-4E83-8CCE-23567FC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76900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E2A7B-196F-401E-9586-F10E9445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435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继续当前设计</a:t>
            </a:r>
          </a:p>
        </p:txBody>
      </p:sp>
    </p:spTree>
    <p:extLst>
      <p:ext uri="{BB962C8B-B14F-4D97-AF65-F5344CB8AC3E}">
        <p14:creationId xmlns:p14="http://schemas.microsoft.com/office/powerpoint/2010/main" val="1139876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四类 AI 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数据库里的家装模板，把一次生成扩展为多种能力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当前启用模板库共 960 项；这里筛选最适合客户沟通的四类家装能力。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2c8470a6342be"/>
          <a:stretch xmlns:a="http://schemas.openxmlformats.org/drawingml/2006/main"/>
        </p:blipFill>
        <p:spPr>
          <a:xfrm xmlns:a="http://schemas.openxmlformats.org/drawingml/2006/main" flipH="0" flipV="0">
            <a:off x="1027605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毛坯变完整方案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414d74988494d"/>
          <a:stretch xmlns:a="http://schemas.openxmlformats.org/drawingml/2006/main"/>
        </p:blipFill>
        <p:spPr>
          <a:xfrm xmlns:a="http://schemas.openxmlformats.org/drawingml/2006/main" flipH="0" flipV="0">
            <a:off x="3885105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户型与空间诊断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从空房或毛坯底图生成完整硬装、家具与灯光表达。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沿用参考图的色彩、材质与家具语言，适配当前空间。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彩化户型、识别布局问题，辅助整屋方案沟通。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材质替换、软装搭配与局部修改，支持持续迭代。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同一空间保持几何不变，快速比较三种设计语言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演示以同一空房为基准，仅改变硬装、材质、家具与灯光，方案差异一眼可见。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c0931d39749fe"/>
          <a:stretch xmlns:a="http://schemas.openxmlformats.org/drawingml/2006/main"/>
        </p:blipFill>
        <p:spPr>
          <a:xfrm xmlns:a="http://schemas.openxmlformats.org/drawingml/2006/main" flipH="0" flipV="0">
            <a:off x="1048483" y="2019300"/>
            <a:ext cx="1617785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输入 · 原始空间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10ddc42a34beb"/>
          <a:stretch xmlns:a="http://schemas.openxmlformats.org/drawingml/2006/main"/>
        </p:blipFill>
        <p:spPr>
          <a:xfrm xmlns:a="http://schemas.openxmlformats.org/drawingml/2006/main" flipH="0" flipV="0">
            <a:off x="3923205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8642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53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方案 A · 现代奶油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0d41e71194ad7"/>
          <a:stretch xmlns:a="http://schemas.openxmlformats.org/drawingml/2006/main"/>
        </p:blipFill>
        <p:spPr>
          <a:xfrm xmlns:a="http://schemas.openxmlformats.org/drawingml/2006/main" flipH="0" flipV="0">
            <a:off x="6799755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8642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53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方案 B · 现代法式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 C · 现代中式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深色胡桃木、纸灯与克制留白，氛围沉静。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演示价值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统一镜头下直接比较，减少客户对风格想象的偏差。</a:t>
            </a:r>
          </a:p>
        </p:txBody>
      </p:sp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10 / 局部深化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同一方案继续优化，只改材质也能形成清晰对比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保留结构、家具与灯光，仅把电视墙替换为洞石、地面替换为浅烟熏橡木。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c37ae82124277"/>
          <a:stretch xmlns:a="http://schemas.openxmlformats.org/drawingml/2006/main"/>
        </p:blipFill>
        <p:spPr>
          <a:xfrm xmlns:a="http://schemas.openxmlformats.org/drawingml/2006/main" flipH="0" flipV="0">
            <a:off x="1048483" y="2019300"/>
            <a:ext cx="1617785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基础方案 · 现代奶油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ee8a4de454acb"/>
          <a:stretch xmlns:a="http://schemas.openxmlformats.org/drawingml/2006/main"/>
        </p:blipFill>
        <p:spPr>
          <a:xfrm xmlns:a="http://schemas.openxmlformats.org/drawingml/2006/main" flipH="0" flipV="0">
            <a:off x="3923205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8642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53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局部修改 · 材质替换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3c1bd798c4245"/>
          <a:stretch xmlns:a="http://schemas.openxmlformats.org/drawingml/2006/main"/>
        </p:blipFill>
        <p:spPr>
          <a:xfrm xmlns:a="http://schemas.openxmlformats.org/drawingml/2006/main" flipH="0" flipV="0">
            <a:off x="6799755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8642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53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辅助输出 · 软装分析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提示词要点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电视墙改暖米色洞石；地面改浅烟熏橡木。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不变项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镜头、结构、家具、灯光与物件位置保持不变。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11 / 家装模板库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把模板做成可选择的能力，而不是一条固定提示词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真实数据库示例：现代奶油毛坯装修、法式毛坯装修、户型问题诊断。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db8a5ea794884"/>
          <a:stretch xmlns:a="http://schemas.openxmlformats.org/drawingml/2006/main"/>
        </p:blipFill>
        <p:spPr>
          <a:xfrm xmlns:a="http://schemas.openxmlformats.org/drawingml/2006/main" flipH="0" flipV="0">
            <a:off x="1048483" y="2019300"/>
            <a:ext cx="1617785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0302a363d49f6"/>
          <a:stretch xmlns:a="http://schemas.openxmlformats.org/drawingml/2006/main"/>
        </p:blipFill>
        <p:spPr>
          <a:xfrm xmlns:a="http://schemas.openxmlformats.org/drawingml/2006/main" flipH="0" flipV="0">
            <a:off x="3923205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8642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53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ced04e1484cf6"/>
          <a:stretch xmlns:a="http://schemas.openxmlformats.org/drawingml/2006/main"/>
        </p:blipFill>
        <p:spPr>
          <a:xfrm xmlns:a="http://schemas.openxmlformats.org/drawingml/2006/main" flipH="0" flipV="0">
            <a:off x="6799755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8642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53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当前提示词库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2026-08-01 发布；共 960 个启用模板。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演示筛选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优先家装、可比较、客户易理解的模板。</a:t>
            </a:r>
          </a:p>
        </p:txBody>
      </p:sp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12 / 创建任务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从准备素材到生成方案，每一步都有明确提示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完整页面展示素材、风格与范围；不同任务状态则集中在项目列表中持续反馈。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9b963ce9d4aff"/>
          <a:stretch xmlns:a="http://schemas.openxmlformats.org/drawingml/2006/main"/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准备素材与风格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dc97e001547eb"/>
          <a:stretch xmlns:a="http://schemas.openxmlformats.org/drawingml/2006/main"/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生成进度与异常处理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任务类型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所需图片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目标风格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设计范围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点数预估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成功扣点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失败释放 · 允许重试</a:t>
            </a:r>
          </a:p>
        </p:txBody>
      </p:sp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85417-30CB-4034-BFAD-F54D4AC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13 / 小程序成果交付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CAB96-E900-44D8-A8DE-726941B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同一套小程序界面，承接多种 AI 设计结果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5020C-27C5-4D1B-A6FC-C7FBFBA8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以下为基于获批结果页设计稿的演示状态，用于展示真实运行截图缺失时的产品能力。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D6A5D-1624-47A5-A28F-35ED8D20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F917B-0215-47A3-9C70-E8E8FCBC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63826-6B55-4ED1-8839-1A975B6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743200" cy="3638550"/>
          </a:xfrm>
          <a:prstGeom xmlns:a="http://schemas.openxmlformats.org/drawingml/2006/main" prst="roundRect">
            <a:avLst>
              <a:gd name="adj" fmla="val 7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971792a994769"/>
          <a:stretch xmlns:a="http://schemas.openxmlformats.org/drawingml/2006/main"/>
        </p:blipFill>
        <p:spPr>
          <a:xfrm xmlns:a="http://schemas.openxmlformats.org/drawingml/2006/main" flipH="0" flipV="0">
            <a:off x="1113330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06E37-C06D-4FDF-A710-5CF4DAA1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89169-9A56-4B0B-81CD-C6D9BECE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 · 温暖治愈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B2081-6F77-4CC1-B9F8-4FA76414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52625"/>
            <a:ext cx="2743200" cy="3638550"/>
          </a:xfrm>
          <a:prstGeom xmlns:a="http://schemas.openxmlformats.org/drawingml/2006/main" prst="roundRect">
            <a:avLst>
              <a:gd name="adj" fmla="val 7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150de3a834f95"/>
          <a:stretch xmlns:a="http://schemas.openxmlformats.org/drawingml/2006/main"/>
        </p:blipFill>
        <p:spPr>
          <a:xfrm xmlns:a="http://schemas.openxmlformats.org/drawingml/2006/main" flipH="0" flipV="0">
            <a:off x="4123230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DF4E6-425D-46ED-A4D7-920F021B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86425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955E1-30B1-4426-BEEA-ECA390E7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531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现代法式 · 精致明亮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95A97-10C4-4807-9728-D9A708A9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743200" cy="3638550"/>
          </a:xfrm>
          <a:prstGeom xmlns:a="http://schemas.openxmlformats.org/drawingml/2006/main" prst="roundRect">
            <a:avLst>
              <a:gd name="adj" fmla="val 7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ab835cb0c424f"/>
          <a:stretch xmlns:a="http://schemas.openxmlformats.org/drawingml/2006/main"/>
        </p:blipFill>
        <p:spPr>
          <a:xfrm xmlns:a="http://schemas.openxmlformats.org/drawingml/2006/main" flipH="0" flipV="0">
            <a:off x="7133130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694CD-F5C8-400F-92A2-F184B7D9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86425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DDDE8-56D8-4E91-A007-AF27BB02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531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现代中式 · 沉静克制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802CB-DC55-4F7E-91F0-3E8EE084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1981200" cy="32575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39987-6F74-495E-B0B3-1FC79230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622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9CF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CF0BC"/>
                </a:solidFill>
                <a:latin typeface="Microsoft YaHei"/>
                <a:ea typeface="Microsoft YaHei"/>
                <a:cs typeface="Microsoft YaHei"/>
              </a:rPr>
              <a:t>现场沟通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735B4-60F4-4A58-9C52-8EE5D87B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813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预览多方案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保存与分享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继续优化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查看历史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F29D8-0977-433E-BD6F-695F5A05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57650"/>
            <a:ext cx="1485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3BF523-665D-47B9-B928-F1F5F905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状态说明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AF934-78A0-4482-B625-C7E5F8F3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67250"/>
            <a:ext cx="1485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批准设计稿 + AI 演示效果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非真实运行截图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43218-1E65-4C7F-A66F-2B7DE2CC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7721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B768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6822"/>
                </a:solidFill>
                <a:latin typeface="Microsoft YaHei"/>
                <a:ea typeface="Microsoft YaHei"/>
                <a:cs typeface="Microsoft YaHei"/>
              </a:rPr>
              <a:t>概念方案，不是施工图</a:t>
            </a:r>
          </a:p>
        </p:txBody>
      </p:sp>
    </p:spTree>
    <p:extLst>
      <p:ext uri="{BB962C8B-B14F-4D97-AF65-F5344CB8AC3E}">
        <p14:creationId xmlns:p14="http://schemas.microsoft.com/office/powerpoint/2010/main" val="5326352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14 / 企业后台 AI 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工作台不止一种效果，而是一套可复用的家装模板库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当前数据库启用 960 个模板；家装演示优先呈现毛坯装修、风格迁移、材质替换与软装分析。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9d5fde7314329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示例：现代奶油毛坯装修 · 从空房到完整客厅方案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9b72ee0324d98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420a011844f42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毛坯 → 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局部深化 · 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选择模板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参数化提示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可组合空间类型、目标风格、硬装材质、家具与灯光要求；历史任务继续保留并可再次生成。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15 / 团队接续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三个角色围绕同一客户接力，不重复建档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AI 成果回到客户方案后，量房师、设计师和企业管理者都能在各自职责内继续推进。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团队跟进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建立或接收客户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接收客户与空间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承接：不重新建档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管理成员与权限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查看进展与配置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保障：角色能完成工作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获客确认与提成独立记录，不改变客户处于量房或设计的业务阶段。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16 / 两端分工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小程序跑现场，企业后台管组织与全局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两端共享同一企业与客户上下文，但分别服务高频执行和集中管理。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高频执行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7440bb59c4748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录入客户、进入正式量房、查看个人待办。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查看客户、正式户型、待办与方案进展。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集中管理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组织与权限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成员、岗位与访问范围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客户与户型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正式户型、测量记录与进展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创作与深化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情绪板、方案版本与后续深化管理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不重复建档，只保留客户企业内部的组织、资产与服务配置。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17 / 使用条件与产品边界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顺利完成量房与设计，需要先具备这些条件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账号、户型、权限和服务配置准备就绪后，团队即可沿客户流程继续推进。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企业账号可正常使用，网络和服务连接有效。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使用兼容且已分配授权的设备；也可手工录入。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墙体有效并形成闭合空间，方可进入对应设计流程。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企业已开通权限，并具备可用点数和有效服务配置。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用于概念表达、方案比较和客户沟通，不作为施工图。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员工按企业角色和本人权限访问客户与户型数据。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a97e9cda7456b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接下来，用一位客户走完整流程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从建档、量房到 AI 设计和团队接续，所有步骤围绕同一份客户资料推进。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创建客户档案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查看方案成果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查看团队接续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您将看到：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客户资料如何沉淀为正式户型，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并继续生成可沟通、可优化的设计方案。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客户演示稿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2026-08-12T15:55:58.0140000Z</dcterms:created>
  <dcterms:modified xsi:type="dcterms:W3CDTF">2026-08-12T15:55:58.0140000Z</dcterms:modified>
</coreProperties>
</file>
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85db74118143d2" /><Relationship Type="http://schemas.openxmlformats.org/officeDocument/2006/relationships/extended-properties" Target="/docProps/app.xml" Id="R7b7ccdc4d3bd40af" /><Relationship Type="http://schemas.openxmlformats.org/officeDocument/2006/relationships/officeDocument" Target="/ppt/presentation.xml" Id="Rab8292f966ca49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f7580a943841c5"/>
  </p:sldMasterIdLst>
  <p:notesMasterIdLst>
    <p:notesMasterId xmlns:r="http://schemas.openxmlformats.org/officeDocument/2006/relationships" r:id="Rd4d8dfcfd5f14278"/>
  </p:notesMasterIdLst>
  <p:sldIdLst>
    <p:sldId xmlns:r="http://schemas.openxmlformats.org/officeDocument/2006/relationships" id="256" r:id="R83c0240434a04559"/>
    <p:sldId xmlns:r="http://schemas.openxmlformats.org/officeDocument/2006/relationships" id="257" r:id="R03e00f5f17094756"/>
    <p:sldId xmlns:r="http://schemas.openxmlformats.org/officeDocument/2006/relationships" id="258" r:id="Reb6b77d6b31149c1"/>
    <p:sldId xmlns:r="http://schemas.openxmlformats.org/officeDocument/2006/relationships" id="259" r:id="R53ecc0be44824d39"/>
    <p:sldId xmlns:r="http://schemas.openxmlformats.org/officeDocument/2006/relationships" id="260" r:id="Rb8e0f37304024712"/>
    <p:sldId xmlns:r="http://schemas.openxmlformats.org/officeDocument/2006/relationships" id="261" r:id="Ra2092caa27764a79"/>
    <p:sldId xmlns:r="http://schemas.openxmlformats.org/officeDocument/2006/relationships" id="262" r:id="R315473ed739c483b"/>
    <p:sldId xmlns:r="http://schemas.openxmlformats.org/officeDocument/2006/relationships" id="263" r:id="R40c3a53510af4322"/>
    <p:sldId xmlns:r="http://schemas.openxmlformats.org/officeDocument/2006/relationships" id="264" r:id="R4439bb27e0db433d"/>
    <p:sldId xmlns:r="http://schemas.openxmlformats.org/officeDocument/2006/relationships" id="265" r:id="R432bd5f186d74201"/>
    <p:sldId xmlns:r="http://schemas.openxmlformats.org/officeDocument/2006/relationships" id="266" r:id="R0a3364899dde48f9"/>
    <p:sldId xmlns:r="http://schemas.openxmlformats.org/officeDocument/2006/relationships" id="267" r:id="R586d20405f504f4b"/>
    <p:sldId xmlns:r="http://schemas.openxmlformats.org/officeDocument/2006/relationships" id="268" r:id="R33c6969df4074887"/>
    <p:sldId xmlns:r="http://schemas.openxmlformats.org/officeDocument/2006/relationships" id="269" r:id="Rfa8736bd0ba84d85"/>
    <p:sldId xmlns:r="http://schemas.openxmlformats.org/officeDocument/2006/relationships" id="270" r:id="R76d9de40c08242a6"/>
    <p:sldId xmlns:r="http://schemas.openxmlformats.org/officeDocument/2006/relationships" id="271" r:id="R5d8f1c78264545f7"/>
    <p:sldId xmlns:r="http://schemas.openxmlformats.org/officeDocument/2006/relationships" id="272" r:id="R1c7a63368af44369"/>
    <p:sldId xmlns:r="http://schemas.openxmlformats.org/officeDocument/2006/relationships" id="273" r:id="R153aa37ea4d34dd8"/>
    <p:sldId xmlns:r="http://schemas.openxmlformats.org/officeDocument/2006/relationships" id="274" r:id="R9f8a494b803d40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229a27037749cf" /><Relationship Type="http://schemas.openxmlformats.org/officeDocument/2006/relationships/slideMaster" Target="/ppt/slideMasters/slideMaster1.xml" Id="Rd9f7580a943841c5" /><Relationship Type="http://schemas.openxmlformats.org/officeDocument/2006/relationships/notesMaster" Target="/ppt/notesMasters/notesMaster1.xml" Id="Rd4d8dfcfd5f14278" /><Relationship Type="http://schemas.openxmlformats.org/officeDocument/2006/relationships/presProps" Target="/ppt/presProps.xml" Id="R8beac6d1c80647e0" /><Relationship Type="http://schemas.openxmlformats.org/officeDocument/2006/relationships/tableStyles" Target="/ppt/tableStyles.xml" Id="Rca7e3024c1044a9d" /><Relationship Type="http://schemas.openxmlformats.org/officeDocument/2006/relationships/slide" Target="/ppt/slides/slide1.xml" Id="R83c0240434a04559" /><Relationship Type="http://schemas.openxmlformats.org/officeDocument/2006/relationships/slide" Target="/ppt/slides/slide2.xml" Id="R03e00f5f17094756" /><Relationship Type="http://schemas.openxmlformats.org/officeDocument/2006/relationships/slide" Target="/ppt/slides/slide3.xml" Id="Reb6b77d6b31149c1" /><Relationship Type="http://schemas.openxmlformats.org/officeDocument/2006/relationships/slide" Target="/ppt/slides/slide4.xml" Id="R53ecc0be44824d39" /><Relationship Type="http://schemas.openxmlformats.org/officeDocument/2006/relationships/slide" Target="/ppt/slides/slide5.xml" Id="Rb8e0f37304024712" /><Relationship Type="http://schemas.openxmlformats.org/officeDocument/2006/relationships/slide" Target="/ppt/slides/slide6.xml" Id="Ra2092caa27764a79" /><Relationship Type="http://schemas.openxmlformats.org/officeDocument/2006/relationships/slide" Target="/ppt/slides/slide7.xml" Id="R315473ed739c483b" /><Relationship Type="http://schemas.openxmlformats.org/officeDocument/2006/relationships/slide" Target="/ppt/slides/slide8.xml" Id="R40c3a53510af4322" /><Relationship Type="http://schemas.openxmlformats.org/officeDocument/2006/relationships/slide" Target="/ppt/slides/slide9.xml" Id="R4439bb27e0db433d" /><Relationship Type="http://schemas.openxmlformats.org/officeDocument/2006/relationships/slide" Target="/ppt/slides/slide10.xml" Id="R432bd5f186d74201" /><Relationship Type="http://schemas.openxmlformats.org/officeDocument/2006/relationships/slide" Target="/ppt/slides/slide11.xml" Id="R0a3364899dde48f9" /><Relationship Type="http://schemas.openxmlformats.org/officeDocument/2006/relationships/slide" Target="/ppt/slides/slide12.xml" Id="R586d20405f504f4b" /><Relationship Type="http://schemas.openxmlformats.org/officeDocument/2006/relationships/slide" Target="/ppt/slides/slide13.xml" Id="R33c6969df4074887" /><Relationship Type="http://schemas.openxmlformats.org/officeDocument/2006/relationships/slide" Target="/ppt/slides/slide14.xml" Id="Rfa8736bd0ba84d85" /><Relationship Type="http://schemas.openxmlformats.org/officeDocument/2006/relationships/slide" Target="/ppt/slides/slide15.xml" Id="R76d9de40c08242a6" /><Relationship Type="http://schemas.openxmlformats.org/officeDocument/2006/relationships/slide" Target="/ppt/slides/slide16.xml" Id="R5d8f1c78264545f7" /><Relationship Type="http://schemas.openxmlformats.org/officeDocument/2006/relationships/slide" Target="/ppt/slides/slide17.xml" Id="R1c7a63368af44369" /><Relationship Type="http://schemas.openxmlformats.org/officeDocument/2006/relationships/slide" Target="/ppt/slides/slide18.xml" Id="R153aa37ea4d34dd8" /><Relationship Type="http://schemas.openxmlformats.org/officeDocument/2006/relationships/slide" Target="/ppt/slides/slide19.xml" Id="R9f8a494b803d40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846335ce9940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b8a11b01844d1d" /><Relationship Type="http://schemas.openxmlformats.org/officeDocument/2006/relationships/notesMaster" Target="/ppt/notesMasters/notesMaster1.xml" Id="Rba241b1ed3bc4f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b3f40ee1b14784" /><Relationship Type="http://schemas.openxmlformats.org/officeDocument/2006/relationships/notesMaster" Target="/ppt/notesMasters/notesMaster1.xml" Id="R14d8c4b2d1c14b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0e222f927b4ea8" /><Relationship Type="http://schemas.openxmlformats.org/officeDocument/2006/relationships/notesMaster" Target="/ppt/notesMasters/notesMaster1.xml" Id="Ra468cb92e1354b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02fb27883a4072" /><Relationship Type="http://schemas.openxmlformats.org/officeDocument/2006/relationships/notesMaster" Target="/ppt/notesMasters/notesMaster1.xml" Id="Rda4d2f9d122a4e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36474836614a20" /><Relationship Type="http://schemas.openxmlformats.org/officeDocument/2006/relationships/notesMaster" Target="/ppt/notesMasters/notesMaster1.xml" Id="R376456e398f64b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b0763c93fb4de3" /><Relationship Type="http://schemas.openxmlformats.org/officeDocument/2006/relationships/notesMaster" Target="/ppt/notesMasters/notesMaster1.xml" Id="R692a9ffcc60347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2f15a08ca341c2" /><Relationship Type="http://schemas.openxmlformats.org/officeDocument/2006/relationships/notesMaster" Target="/ppt/notesMasters/notesMaster1.xml" Id="R5e16af9607a94d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862393ed0b459c" /><Relationship Type="http://schemas.openxmlformats.org/officeDocument/2006/relationships/notesMaster" Target="/ppt/notesMasters/notesMaster1.xml" Id="R79e69adb75c040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4957b25e4f4cca" /><Relationship Type="http://schemas.openxmlformats.org/officeDocument/2006/relationships/notesMaster" Target="/ppt/notesMasters/notesMaster1.xml" Id="R6c619a8a80274d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5b82497db041e9" /><Relationship Type="http://schemas.openxmlformats.org/officeDocument/2006/relationships/notesMaster" Target="/ppt/notesMasters/notesMaster1.xml" Id="R8b9ee196df2140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ae3281a36747e4" /><Relationship Type="http://schemas.openxmlformats.org/officeDocument/2006/relationships/notesMaster" Target="/ppt/notesMasters/notesMaster1.xml" Id="R2110e05368a643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7d1fcd83554dc3" /><Relationship Type="http://schemas.openxmlformats.org/officeDocument/2006/relationships/notesMaster" Target="/ppt/notesMasters/notesMaster1.xml" Id="Rf72bbae2c82846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1225335b8b4e37" /><Relationship Type="http://schemas.openxmlformats.org/officeDocument/2006/relationships/notesMaster" Target="/ppt/notesMasters/notesMaster1.xml" Id="R5b3dca44a08e42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7d3818c0a54635" /><Relationship Type="http://schemas.openxmlformats.org/officeDocument/2006/relationships/notesMaster" Target="/ppt/notesMasters/notesMaster1.xml" Id="R97b4214acf294a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98a73d95274295" /><Relationship Type="http://schemas.openxmlformats.org/officeDocument/2006/relationships/notesMaster" Target="/ppt/notesMasters/notesMaster1.xml" Id="Rffd2215f236945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e8e1a86c604442" /><Relationship Type="http://schemas.openxmlformats.org/officeDocument/2006/relationships/notesMaster" Target="/ppt/notesMasters/notesMaster1.xml" Id="R3fc7b179f301479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74a0e66d374fed" /><Relationship Type="http://schemas.openxmlformats.org/officeDocument/2006/relationships/notesMaster" Target="/ppt/notesMasters/notesMaster1.xml" Id="Rfea81c5c90984f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e0896cc33c42e2" /><Relationship Type="http://schemas.openxmlformats.org/officeDocument/2006/relationships/notesMaster" Target="/ppt/notesMasters/notesMaster1.xml" Id="R9c3fa71298bf406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bd81af03b44739" /><Relationship Type="http://schemas.openxmlformats.org/officeDocument/2006/relationships/notesMaster" Target="/ppt/notesMasters/notesMaster1.xml" Id="R89286a6ca24a42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Brand visuals extracted from the local source deck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Brand illustration extracted from source slide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Product screenshots extracted from source slide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Formal surveying screenshots extracted from source slide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Formal floor-plan illustration extracted from source slide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Full approved design comps: ai-design-customer-project-switcher-v3.png; ai-design-customer-workbench-home-v2.png; ai-design-immersive-a-space-tour-v1.png; docs/ai-design/miniprogram-ai-design-requirements.zh-CN.md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AI prompt library active revision 17 (published 2026-08-01): 960 enabled templates; examples include IDs 906, 420, 642, 930, and 618.</a:t>
            </a:r>
          </a:p>
          <a:p xmlns:a="http://schemas.openxmlformats.org/drawingml/2006/main">
            <a:r>
              <a:t>- Preview imagery from the same internal prompt-template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built-in image generation, same-space home-renovation demo set: empty room, modern cream, modern French, modern Chinese.</a:t>
            </a:r>
          </a:p>
          <a:p xmlns:a="http://schemas.openxmlformats.org/drawingml/2006/main">
            <a:r>
              <a:t>- AI-generated demonstration effects; not live Mini Program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built-in image generation, local material replacement demo.</a:t>
            </a:r>
          </a:p>
          <a:p xmlns:a="http://schemas.openxmlformats.org/drawingml/2006/main">
            <a:r>
              <a:t>- Internal prompt-template preview ID 618 (living-room soft-furnishing analysis).</a:t>
            </a:r>
          </a:p>
          <a:p xmlns:a="http://schemas.openxmlformats.org/drawingml/2006/main">
            <a:r>
              <a:t>- AI-generated demonstration effects; not live runtime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AI prompt library active revision 17 (published 2026-08-01), 960 enabled templates.</a:t>
            </a:r>
          </a:p>
          <a:p xmlns:a="http://schemas.openxmlformats.org/drawingml/2006/main">
            <a:r>
              <a:t>- Shown template previews: ID 906 modern cream rough-home renovation; ID 893 French rough-home renovation; ID 642 floor-plan renovation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Full approved design comps: all-pages-ip-v3/14-ai-design-create-v3.png; ai-design-project-state-matrix-v4.png; credit behavior verified against current AI requirements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Approved Mini Program design source: design-references/all-pages-ip-v3/15-ai-design-result-v3.png.</a:t>
            </a:r>
          </a:p>
          <a:p xmlns:a="http://schemas.openxmlformats.org/drawingml/2006/main">
            <a:r>
              <a:t>- Result-stage imagery generated with OpenAI built-in image generation for modern cream, modern French, and modern Chinese comparisons.</a:t>
            </a:r>
          </a:p>
          <a:p xmlns:a="http://schemas.openxmlformats.org/drawingml/2006/main">
            <a:r>
              <a:t>- Composite design demonstration; not a live runtime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prompt library active revision 17 and template previews.</a:t>
            </a:r>
          </a:p>
          <a:p xmlns:a="http://schemas.openxmlformats.org/drawingml/2006/main">
            <a:r>
              <a:t>- OpenAI built-in image generation: before/after style and material-replacement examples.</a:t>
            </a:r>
          </a:p>
          <a:p xmlns:a="http://schemas.openxmlformats.org/drawingml/2006/main">
            <a:r>
              <a:t>- AI-generated demonstration effects; not live runtime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Role and acquisition boundaries verified against measurer–designer acquisition contract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Mini Program screenshot extracted from source slide 9; admin responsibilities verified against current module inventory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Capability boundaries verified against current Mini Program, admin, formal surveying, and AI module 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d0867fa2e4d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949f799038456e" /><Relationship Type="http://schemas.openxmlformats.org/officeDocument/2006/relationships/slideLayout" Target="/ppt/slideLayouts/slideLayout1.xml" Id="R7d442aedae3745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442aedae3745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4ddf68a3b48fc" /><Relationship Type="http://schemas.openxmlformats.org/officeDocument/2006/relationships/image" Target="/ppt/media/image.png" Id="R77eace07760e4cb2" /><Relationship Type="http://schemas.openxmlformats.org/officeDocument/2006/relationships/image" Target="/ppt/media/image2.png" Id="Rd628ce5f99a74191" /><Relationship Type="http://schemas.openxmlformats.org/officeDocument/2006/relationships/notesSlide" Target="/ppt/notesSlides/notesSlide1.xml" Id="R8b152afa687141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cc3bd34744c5c" /><Relationship Type="http://schemas.openxmlformats.org/officeDocument/2006/relationships/image" Target="/ppt/media/image3.png" Id="R274c01660f0d46b0" /><Relationship Type="http://schemas.openxmlformats.org/officeDocument/2006/relationships/notesSlide" Target="/ppt/notesSlides/notesSlide2.xml" Id="Recc6416909fb47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9d03aaf934fc5" /><Relationship Type="http://schemas.openxmlformats.org/officeDocument/2006/relationships/notesSlide" Target="/ppt/notesSlides/notesSlide3.xml" Id="Ra53a7740bcbe43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cb2bb48aa4646" /><Relationship Type="http://schemas.openxmlformats.org/officeDocument/2006/relationships/notesSlide" Target="/ppt/notesSlides/notesSlide4.xml" Id="R1f304d0898a34e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f20f37cad4ba5" /><Relationship Type="http://schemas.openxmlformats.org/officeDocument/2006/relationships/image" Target="/ppt/media/image4.png" Id="Re8acdb71fcd74c87" /><Relationship Type="http://schemas.openxmlformats.org/officeDocument/2006/relationships/image" Target="/ppt/media/image5.png" Id="R2cef22f3f03e4568" /><Relationship Type="http://schemas.openxmlformats.org/officeDocument/2006/relationships/notesSlide" Target="/ppt/notesSlides/notesSlide5.xml" Id="Re59c80689e6346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c832c3af5409b" /><Relationship Type="http://schemas.openxmlformats.org/officeDocument/2006/relationships/image" Target="/ppt/media/image6.png" Id="Rbee3ce27db8c42d1" /><Relationship Type="http://schemas.openxmlformats.org/officeDocument/2006/relationships/image" Target="/ppt/media/image7.png" Id="R8c0d6bc7edad4b4d" /><Relationship Type="http://schemas.openxmlformats.org/officeDocument/2006/relationships/image" Target="/ppt/media/image8.png" Id="Rfdf50c122d3b45fa" /><Relationship Type="http://schemas.openxmlformats.org/officeDocument/2006/relationships/notesSlide" Target="/ppt/notesSlides/notesSlide6.xml" Id="R8fac9ac9cd844a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adc7987584843" /><Relationship Type="http://schemas.openxmlformats.org/officeDocument/2006/relationships/image" Target="/ppt/media/image9.png" Id="Rcfe46acb68904d34" /><Relationship Type="http://schemas.openxmlformats.org/officeDocument/2006/relationships/notesSlide" Target="/ppt/notesSlides/notesSlide7.xml" Id="Rcb542380d44b4a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0791494324261" /><Relationship Type="http://schemas.openxmlformats.org/officeDocument/2006/relationships/image" Target="/ppt/media/image10.png" Id="Rf3910f3a59304663" /><Relationship Type="http://schemas.openxmlformats.org/officeDocument/2006/relationships/image" Target="/ppt/media/image11.png" Id="R61fccb5bd1254738" /><Relationship Type="http://schemas.openxmlformats.org/officeDocument/2006/relationships/image" Target="/ppt/media/image12.png" Id="Rdb51f5711f474ff7" /><Relationship Type="http://schemas.openxmlformats.org/officeDocument/2006/relationships/notesSlide" Target="/ppt/notesSlides/notesSlide8.xml" Id="Re47ba06533d544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2bebe7ac6470c" /><Relationship Type="http://schemas.openxmlformats.org/officeDocument/2006/relationships/image" Target="/ppt/media/image.jpeg" Id="R613c20a3ab634039" /><Relationship Type="http://schemas.openxmlformats.org/officeDocument/2006/relationships/image" Target="/ppt/media/image2.jpeg" Id="R560520fd42b843e2" /><Relationship Type="http://schemas.openxmlformats.org/officeDocument/2006/relationships/notesSlide" Target="/ppt/notesSlides/notesSlide9.xml" Id="R886dfecb3ddb4c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63f5cb56044da" /><Relationship Type="http://schemas.openxmlformats.org/officeDocument/2006/relationships/image" Target="/ppt/media/image3.jpeg" Id="Rf248487e34874728" /><Relationship Type="http://schemas.openxmlformats.org/officeDocument/2006/relationships/image" Target="/ppt/media/image4.jpeg" Id="R32f18f37e72e4db7" /><Relationship Type="http://schemas.openxmlformats.org/officeDocument/2006/relationships/image" Target="/ppt/media/image5.jpeg" Id="R32aa19d88685498d" /><Relationship Type="http://schemas.openxmlformats.org/officeDocument/2006/relationships/notesSlide" Target="/ppt/notesSlides/notesSlide10.xml" Id="R86914f25963c42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60a8b91544b98" /><Relationship Type="http://schemas.openxmlformats.org/officeDocument/2006/relationships/image" Target="/ppt/media/image3.jpeg" Id="R427753393eae410e" /><Relationship Type="http://schemas.openxmlformats.org/officeDocument/2006/relationships/image" Target="/ppt/media/image4.jpeg" Id="Rc42333ed07c040e2" /><Relationship Type="http://schemas.openxmlformats.org/officeDocument/2006/relationships/image" Target="/ppt/media/image5.jpeg" Id="R98d1f14248e34252" /><Relationship Type="http://schemas.openxmlformats.org/officeDocument/2006/relationships/notesSlide" Target="/ppt/notesSlides/notesSlide11.xml" Id="Rdebd6392bd4940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0dbbe243e4768" /><Relationship Type="http://schemas.openxmlformats.org/officeDocument/2006/relationships/image" Target="/ppt/media/image3.jpeg" Id="Rc94a53ad3d6b49a1" /><Relationship Type="http://schemas.openxmlformats.org/officeDocument/2006/relationships/image" Target="/ppt/media/image4.jpeg" Id="R5ce6aaf20d1b45bd" /><Relationship Type="http://schemas.openxmlformats.org/officeDocument/2006/relationships/image" Target="/ppt/media/image5.jpeg" Id="R0a0db0efd53c46d3" /><Relationship Type="http://schemas.openxmlformats.org/officeDocument/2006/relationships/notesSlide" Target="/ppt/notesSlides/notesSlide12.xml" Id="R64679562af0041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80e8f950b401e" /><Relationship Type="http://schemas.openxmlformats.org/officeDocument/2006/relationships/image" Target="/ppt/media/image13.png" Id="R99326e660f6e43bc" /><Relationship Type="http://schemas.openxmlformats.org/officeDocument/2006/relationships/image" Target="/ppt/media/image14.png" Id="Rb509e8c312ef4cd5" /><Relationship Type="http://schemas.openxmlformats.org/officeDocument/2006/relationships/notesSlide" Target="/ppt/notesSlides/notesSlide13.xml" Id="Rb9d08cb03b0c49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a1da832b84a6a" /><Relationship Type="http://schemas.openxmlformats.org/officeDocument/2006/relationships/image" Target="/ppt/media/image15.png" Id="R403bf72efdaf4a62" /><Relationship Type="http://schemas.openxmlformats.org/officeDocument/2006/relationships/image" Target="/ppt/media/image16.png" Id="R09e03f759d614672" /><Relationship Type="http://schemas.openxmlformats.org/officeDocument/2006/relationships/image" Target="/ppt/media/image17.png" Id="R91f637340c414e79" /><Relationship Type="http://schemas.openxmlformats.org/officeDocument/2006/relationships/notesSlide" Target="/ppt/notesSlides/notesSlide14.xml" Id="R6aded2ade5cd41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3062973da4f08" /><Relationship Type="http://schemas.openxmlformats.org/officeDocument/2006/relationships/image" Target="/ppt/media/image6.jpeg" Id="Rab74ee66cdb7411e" /><Relationship Type="http://schemas.openxmlformats.org/officeDocument/2006/relationships/image" Target="/ppt/media/image7.jpeg" Id="R278ab8bed4034625" /><Relationship Type="http://schemas.openxmlformats.org/officeDocument/2006/relationships/image" Target="/ppt/media/image8.jpeg" Id="R1492845324204df2" /><Relationship Type="http://schemas.openxmlformats.org/officeDocument/2006/relationships/notesSlide" Target="/ppt/notesSlides/notesSlide15.xml" Id="R66fe33febdfd43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19e8fda12411c" /><Relationship Type="http://schemas.openxmlformats.org/officeDocument/2006/relationships/notesSlide" Target="/ppt/notesSlides/notesSlide16.xml" Id="R0bf588d60f894d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cd632ff6b4cb0" /><Relationship Type="http://schemas.openxmlformats.org/officeDocument/2006/relationships/image" Target="/ppt/media/image18.png" Id="R05ace6bb724d4ce9" /><Relationship Type="http://schemas.openxmlformats.org/officeDocument/2006/relationships/notesSlide" Target="/ppt/notesSlides/notesSlide17.xml" Id="R16767d875d1647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85b2c59fa4e8e" /><Relationship Type="http://schemas.openxmlformats.org/officeDocument/2006/relationships/notesSlide" Target="/ppt/notesSlides/notesSlide18.xml" Id="Rd0c4f68c7b384d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80dd26a624df4" /><Relationship Type="http://schemas.openxmlformats.org/officeDocument/2006/relationships/image" Target="/ppt/media/image19.png" Id="R7269e58c3aee4bb4" /><Relationship Type="http://schemas.openxmlformats.org/officeDocument/2006/relationships/notesSlide" Target="/ppt/notesSlides/notesSlide19.xml" Id="R80110f56af8b4d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A8C9-FE97-4F4A-837C-4A4B82D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ace07760e4cb2"/>
          <a:stretch xmlns:a="http://schemas.openxmlformats.org/drawingml/2006/main"/>
        </p:blipFill>
        <p:spPr>
          <a:xfrm xmlns:a="http://schemas.openxmlformats.org/drawingml/2006/main">
            <a:off x="6593025" y="1285875"/>
            <a:ext cx="4911450" cy="3905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8ce5f99a74191"/>
          <a:stretch xmlns:a="http://schemas.openxmlformats.org/drawingml/2006/main"/>
        </p:blipFill>
        <p:spPr>
          <a:xfrm xmlns:a="http://schemas.openxmlformats.org/drawingml/2006/main">
            <a:off x="5524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E5B3-C790-4FA2-956D-D19B137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rPr>
              <a:t>家客来  JIAKELAI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A4E6-E547-47A5-94E7-C67D31E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5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从客户建档到设计方案，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让家装服务连续推进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3E53-EA4E-4547-8CF4-7D717E76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09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18C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84CA-4FD1-49C2-B045-021FE65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rPr>
              <a:t>家客来连接客户档案、正式量房、AI 设计与团队跟进。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04ECD-79D1-44B1-8FA2-556B004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52AE0-ED67-4CE1-8811-08C4604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rPr>
              <a:t>客户档案  ·  正式户型  ·  设计方案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C6C8B-A78C-497C-837F-10F53E6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rPr>
              <a:t>客户演示稿  ·  16:9  ·  2026.08</a:t>
            </a:r>
          </a:p>
        </p:txBody>
      </p:sp>
    </p:spTree>
    <p:extLst>
      <p:ext uri="{BB962C8B-B14F-4D97-AF65-F5344CB8AC3E}">
        <p14:creationId xmlns:p14="http://schemas.microsoft.com/office/powerpoint/2010/main" val="556591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4E028-BBB3-4543-9C50-9C951D9E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01 / 家客来是什么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55EB7-8B54-4E76-85BE-D02792F9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一套围绕同一位客户持续工作的协作工具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9E5AF-ACC0-4009-A216-8DD5ACCC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量房师、设计师和企业管理者使用同一份客户与空间资料，各自完成职责内的下一步。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7FCDA-85F1-46E0-B57F-3D23A2FC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80A26-3558-47D0-A2C8-7D356BD8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E20AA-B786-4452-B25F-BE308A10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5810250" cy="37719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6133C-6D43-4D40-88DE-BB386A80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5AFE4-E447-4914-B62B-9C476C06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谁使用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617B5-F045-4D8F-BB0B-74DC8429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家装企业的量房师、设计师和企业管理者。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6DCB0-6771-4045-8869-67EBDA07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BD79E-17E5-46C3-918C-6E25D79B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24289-46E8-4C7C-B64C-A1FA678C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客户资料、正式户型、设计方案和客户阶段。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651A8-C88D-47DD-9F59-4F6B1DC5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57D71-1FF9-42A6-B153-804F05B2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472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带来什么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B9602-4ED9-4760-829B-E8556F74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4724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后一个岗位直接使用前一个岗位的成果，减少重复确认与重新录入。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c01660f0d46b0"/>
          <a:srcRect xmlns:a="http://schemas.openxmlformats.org/drawingml/2006/main" l="0" t="5383" r="0" b="53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019300"/>
            <a:ext cx="4762500" cy="3886200"/>
          </a:xfrm>
          <a:prstGeom xmlns:a="http://schemas.openxmlformats.org/drawingml/2006/main" prst="roundRect">
            <a:avLst>
              <a:gd name="adj" fmla="val 6863"/>
            </a:avLst>
          </a:prstGeom>
        </p:spPr>
      </p:pic>
    </p:spTree>
    <p:extLst>
      <p:ext uri="{BB962C8B-B14F-4D97-AF65-F5344CB8AC3E}">
        <p14:creationId xmlns:p14="http://schemas.microsoft.com/office/powerpoint/2010/main" val="124115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83760-22F5-4CB7-B8A5-0F88A47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02 / 为什么需要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B8B83-CE05-424A-84D4-79BB4630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问题不在工具少，而在工作成果经常断开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60F1-B83C-42C3-AF06-72197051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客户资料、现场尺寸、设计依据和跟进责任一旦分散，团队就会反复确认同一件事。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72039-7793-4800-882B-AF91BCA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AA77-D90E-45CD-BA07-76407968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F8557-0E15-4606-9554-E7360F8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0" cy="2762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9D6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EB0B8-61DF-4BE7-A154-F2E0D9B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3484E-3A1E-404C-ADF2-BD1E5C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5C18D-44FC-48C7-AF85-D75DB582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客户资料散落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588D6-D366-4496-877B-89BE90AB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个人微信、纸张和表格彼此分离，团队无法共享完整上下文。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B5FC9-167D-4C3C-8E73-D8BDD5E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F1F1-DA85-418D-900B-5AD3F34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4EEB-9775-4AC3-B9BB-22F3CB1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现场尺寸反复录入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EC126-1557-49A0-A1C9-022ECD11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手抄、拍照、转述后再录入，正式空间依据难以延续。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45C5D-078C-40C9-9035-66F7C9A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8D63F-660C-4DC0-A0DF-659232B7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CBE3B-F487-431A-9F77-DEEAE341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设计接手仍要重问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B84F2-7764-47E9-93F8-B156103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客户需求与户型信息没有连起来，设计师只能重新确认。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744E7-2469-4FF2-A854-93343C9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E73DA-7EE2-4E78-9204-280C7807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17964-CA6A-40CB-A668-CCFDECE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管理者看不见下一步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87C41-95A3-466F-9411-8997E81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客户卡在哪一步、由谁接手、产出了什么都不够清晰。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9D29A-A29C-466C-AA61-1DE7E9C4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5250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FE541-9A56-4C85-BF3B-A5BE0CC4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家客来把断开的工作接起来：每一步都留下可继续使用的成果。</a:t>
            </a:r>
          </a:p>
        </p:txBody>
      </p:sp>
    </p:spTree>
    <p:extLst>
      <p:ext uri="{BB962C8B-B14F-4D97-AF65-F5344CB8AC3E}">
        <p14:creationId xmlns:p14="http://schemas.microsoft.com/office/powerpoint/2010/main" val="11165444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37352-BD7A-4A87-8831-3519E004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03 / 单一客户主线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1315E-0E5D-4E89-AAC2-4A44B05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张女士的装修需求，沿一条路径持续推进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A7DBF-CB63-4CAC-A206-49B173B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这条路径是整套演示的导航：每一步同时明确负责人和产生的成果。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27B19-8B3C-4134-8FA7-6AB4E7C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68D9-8D2B-41FC-85CB-DD4E23D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26213-2D08-4220-B553-02286F7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52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B9DC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49665-004F-44FE-B97E-13289EC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7A03C-CE1B-4016-9AB8-4AEFC90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5D78F-D74B-48AE-9A15-1F8CFD88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建立客户档案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F9547-5DC3-4EFD-897C-96306E6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38D92-C69E-4F65-8385-EB1E58E6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B529D-4357-4C43-BBB6-134A5E1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客户资料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C092A-348B-4A58-8E3E-A596790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DF73C-83E1-4DAA-916A-58DD4C9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5C41-C7E9-403E-909A-2CC895B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正式量房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F8867-D88E-4F14-8E5C-FA1BFB9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D394D-EF1E-4D57-940C-5627CB43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6F26E-9B47-42F0-ACE1-92F06FA6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测量墙图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C597B-1383-4EAD-8AA9-36623F29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64656-8F6E-42B7-AA7E-199DE52C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3DB99-0F1A-4EB0-965F-CCD087F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3DBCE-A5EF-4184-95CB-1705F59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A3534-540B-4C76-971F-7622E62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E6793-1B5B-479D-BF77-FBC5E8C6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空间资产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34D56-B2F4-4665-A609-09048B78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90C0D-BE13-4E8B-A8EC-89F28AE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262F9-5B38-4091-91DF-0B79D0E0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发起 AI 设计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A8B0B-A6E2-4005-8C0A-6C8BD58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D25680-6193-4EFF-ADF7-B0ECEDE2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62664-8F50-4FF6-84C6-8E1F10A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设计任务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FFD9B-96DF-43D1-881B-F0DB90A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225D5-F99E-4AC9-A1F6-04CFF2A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2034A-684B-4BDA-9013-7EB2898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沟通与优化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AB921-076E-4BA9-AAEA-DC66219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78F25B-D1C2-4163-91A3-F4C13C8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D4385-385F-4214-95F5-E4E09E4A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概念方案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16536-AD1B-431A-AC31-F19D6E7F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14F41-37D2-40E5-9FE1-5E27E86B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C61AF8-A9C2-4BA3-8266-F49B1D6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更新客户阶段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8381D-8696-4A75-AF8E-649C5A1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D9F650-79B0-4F24-8CDD-CBE11E2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D79F38-2540-4EB0-BFB3-5196AE8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rPr>
              <a:t>跟进记录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0E5185-2CC0-46F9-9EFE-0843623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A0A6D-6586-47A2-9CBB-559CD12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4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客户档案是入口  ·  正式户型是空间依据  ·  设计方案是沟通成果</a:t>
            </a:r>
          </a:p>
        </p:txBody>
      </p:sp>
    </p:spTree>
    <p:extLst>
      <p:ext uri="{BB962C8B-B14F-4D97-AF65-F5344CB8AC3E}">
        <p14:creationId xmlns:p14="http://schemas.microsoft.com/office/powerpoint/2010/main" val="89519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5A8CE-E12F-4944-AE6F-5FF2EBD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04 / 客户档案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E94E9-6C03-437F-BF66-5EB88B7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一条客户线索，就是后续服务的入口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00566-89DB-433E-A9F4-642E5AB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先把“为谁做、房子在哪里、现在进行到哪一步”说清楚，再进入量房与设计。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37A0F-E168-472C-ABDA-B3DA98FB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1717F-68AB-421E-90C1-4BAEE7B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cdb71fcd74c87"/>
          <a:srcRect xmlns:a="http://schemas.openxmlformats.org/drawingml/2006/main" l="0" t="7888" r="0" b="7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19300"/>
            <a:ext cx="2724150" cy="40767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f22f3f03e4568"/>
          <a:srcRect xmlns:a="http://schemas.openxmlformats.org/drawingml/2006/main" l="0" t="15352" r="0" b="15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2286000"/>
            <a:ext cx="2428875" cy="36385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1FF6D-AE32-499B-810D-D3CB8A3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762500" cy="3733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855BF-C403-4FBA-A529-026BBFE1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1B5C-20C3-4B80-B1B0-FE04A65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建立完整档案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7235C-5869-4524-9773-AEBADCC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记录称呼、电话、小区、面积和偏好。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06E6-CAD4-418D-A7E3-6E53B5E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7BF88-6E01-4B14-BBBA-E20C0455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关联核心成果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D0DB6-ADA3-48D6-B918-BE1715A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同一客户下查看正式户型、设计方案和更新时间。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D1AAF-CDAB-4FA4-BECD-EA44ADD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722D5-796D-491A-9FE2-40C756B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找到下一步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B799-7A32-40A9-8B45-B24710E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通过搜索与客户阶段筛选，定位需要继续处理的客户。</a:t>
            </a:r>
          </a:p>
        </p:txBody>
      </p:sp>
    </p:spTree>
    <p:extLst>
      <p:ext uri="{BB962C8B-B14F-4D97-AF65-F5344CB8AC3E}">
        <p14:creationId xmlns:p14="http://schemas.microsoft.com/office/powerpoint/2010/main" val="1792774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C8AC0-F8D4-4F98-BE5B-676E5EA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05 / 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C738-8B93-4BB5-9783-CFE9EDA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现场量房的成果，是一份可继续使用的正式户型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5436E-73B9-4785-8020-3F29375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设备只是输入方式；真正重要的是墙体、门窗、尺寸与闭合空间被保存到客户档案。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78920-F20E-4082-96CF-D8ABC923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正式量房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E798B-7AF1-4AC1-9003-D69CB9B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3ce27db8c42d1"/>
          <a:srcRect xmlns:a="http://schemas.openxmlformats.org/drawingml/2006/main" l="0" t="25068" r="0" b="25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3790950" cy="409575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d6bc7edad4b4d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50c122d3b45fa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B853-8881-4FCE-8A34-67DCDD1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847850" cy="34480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F2319-38F2-41F1-946B-AAEB3E8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7A61-E342-47E4-8078-75932A1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AB606-E98E-4EA0-A3F1-3D085D2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480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手工录入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04103-FCC6-4A7E-9D7F-7FF9256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D5A8A-D3ED-405F-9D9D-555ECE6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05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授权蓝牙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B124A-4115-470F-B837-93739BA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672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AF88A-F9BD-4F4D-B477-D027405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rPr>
              <a:t>统一结果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4C637-6439-4222-BC6A-6EE9868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339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毫米制墙图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门窗与闭合空间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可继续量房</a:t>
            </a:r>
          </a:p>
        </p:txBody>
      </p:sp>
    </p:spTree>
    <p:extLst>
      <p:ext uri="{BB962C8B-B14F-4D97-AF65-F5344CB8AC3E}">
        <p14:creationId xmlns:p14="http://schemas.microsoft.com/office/powerpoint/2010/main" val="3943003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30DAEB-EA39-4D9B-A9A6-A66044FC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06 / 正式户型复用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7009E-4345-4945-A794-4B719697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同一份正式户型，继续服务多个后续场景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3B2FB-E1A1-4A77-A136-09EA0F42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查看、导出、2D/3D 与 AI 都从正式墙图派生，不再维护容易偏离的户型副本。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6CFBE-FCA4-4398-954E-040B0AC3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正式户型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20046-494C-4D56-B581-9CD15C6E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371F0-9FC5-4767-AA3A-87EC34F7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4286250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46acb68904d34"/>
          <a:stretch xmlns:a="http://schemas.openxmlformats.org/drawingml/2006/main"/>
        </p:blipFill>
        <p:spPr>
          <a:xfrm xmlns:a="http://schemas.openxmlformats.org/drawingml/2006/main">
            <a:off x="899336" y="2457450"/>
            <a:ext cx="3516279" cy="2724150"/>
          </a:xfrm>
          <a:prstGeom xmlns:a="http://schemas.openxmlformats.org/drawingml/2006/main" prst="roundRect">
            <a:avLst>
              <a:gd name="adj" fmla="val 839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B761B-D881-45F8-8AC7-2183DF60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14950"/>
            <a:ext cx="3105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EA462-F8D1-44BB-AAC3-F4DDE145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81625"/>
            <a:ext cx="2876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正式户型 = 统一空间依据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9104C-C583-4216-83A8-CFFD87F6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81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0C7CE-396D-4A06-B5CB-B41EAA57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955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21D6F-CDA7-4039-8B9D-44806E0D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客户详情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8063E-86DF-47AB-B3C7-DD986808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0507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查看量房状态、闭合空间数与更新时间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D3582-BEC6-40BB-B027-559E8EBF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76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4FE5E-B2B1-4BFB-8209-B41DB683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908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DEF14-161E-43D1-8735-96F5F90B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3847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管理后台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B3F75-4769-4156-B33F-B922F2B9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042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集中查看正式户型与测量记录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4712E-B3AC-4B01-BCEE-526AB51E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719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7CF7C-1A35-4E6D-AAF2-E46ADDCB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8622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247D20-1DCE-4E4E-8DAF-3520DE1B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338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2D / 3D / DXF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E35FA4-FFEC-483A-9EA3-64FA3443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9577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完整且受支持时用于查看与下载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09A91-8020-4695-AC8F-60CEF45F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67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7418E6-D021-432D-BF7D-2B166781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81575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FC0A8-7380-41AE-9FC3-66F972FF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2917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AI 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31D2D1-7174-48C5-BFFD-0034354C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91125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从同一份正式户型派生整屋或单空间依据</a:t>
            </a:r>
          </a:p>
        </p:txBody>
      </p:sp>
    </p:spTree>
    <p:extLst>
      <p:ext uri="{BB962C8B-B14F-4D97-AF65-F5344CB8AC3E}">
        <p14:creationId xmlns:p14="http://schemas.microsoft.com/office/powerpoint/2010/main" val="1829491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AD328-8AB5-404E-8E0A-E8B048BA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07 / AI 设计总览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E0338-27E9-483E-8F58-8EFFA42E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AI 设计围绕同一位客户和同一份空间资料持续推进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D3B48-E5DF-4B43-87DF-102FF8E3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从项目工作台进入空间设计，客户、正式户型和方案阶段始终关联。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56203-9FC3-4D0D-9A15-E544BBC8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843AD-D81B-414C-B41A-E2EF2BFD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1E896-6D6E-440C-A5AA-8DAA63EE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3143250" cy="3657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10f3a59304663"/>
          <a:stretch xmlns:a="http://schemas.openxmlformats.org/drawingml/2006/main"/>
        </p:blipFill>
        <p:spPr>
          <a:xfrm xmlns:a="http://schemas.openxmlformats.org/drawingml/2006/main">
            <a:off x="1406037" y="1990725"/>
            <a:ext cx="1626577" cy="3524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37505-354C-421D-AAF6-89525D88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9E391-2849-4C09-94D1-5B75D1C0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选择客户项目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FC8C2-B692-49FB-A17F-9C37794F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3143250" cy="3657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ccb5bd1254738"/>
          <a:stretch xmlns:a="http://schemas.openxmlformats.org/drawingml/2006/main"/>
        </p:blipFill>
        <p:spPr>
          <a:xfrm xmlns:a="http://schemas.openxmlformats.org/drawingml/2006/main">
            <a:off x="5271349" y="1990725"/>
            <a:ext cx="1630252" cy="3524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EF44D-5488-4051-AFB1-4465BE74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76900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DD345-CF75-45D9-B94E-6382414E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435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查看方案旅程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21F36-0BE3-4D0D-8D8D-33F61C05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24050"/>
            <a:ext cx="3143250" cy="3657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1f5711f474ff7"/>
          <a:stretch xmlns:a="http://schemas.openxmlformats.org/drawingml/2006/main"/>
        </p:blipFill>
        <p:spPr>
          <a:xfrm xmlns:a="http://schemas.openxmlformats.org/drawingml/2006/main">
            <a:off x="9138499" y="1990725"/>
            <a:ext cx="1630252" cy="3524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E18E9-8B33-4E83-8CCE-23567FC6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76900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E2A7B-196F-401E-9586-F10E9445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4357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继续当前设计</a:t>
            </a:r>
          </a:p>
        </p:txBody>
      </p:sp>
    </p:spTree>
    <p:extLst>
      <p:ext uri="{BB962C8B-B14F-4D97-AF65-F5344CB8AC3E}">
        <p14:creationId xmlns:p14="http://schemas.microsoft.com/office/powerpoint/2010/main" val="1139876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D92B67-369F-45BD-BC9C-C1E1ED5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08 / 四类 AI 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3B82A-4257-4A5D-AD3F-69EFE24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数据库里的家装模板，把一次生成扩展为多种能力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637DF-C842-4DAA-A68A-D082159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当前启用模板库共 960 项；这里筛选最适合客户沟通的四类家装能力。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69DB-B579-44FF-890A-4A61FBE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09033-F186-4D66-BC4D-C94B7C3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9A874-4062-448B-9FA2-7D679A8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c20a3ab634039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0A7E4-347D-47CE-9530-397CFD3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F2762-81F9-46B9-A8D7-B66AC7E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毛坯变完整方案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FDFF1-7D8E-4391-9013-33791F2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520fd42b843e2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0BFDF-E5AA-4640-B7CA-D2C2648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8642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CDF86-267B-42BB-92C5-2A43A4A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53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户型与空间诊断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431D6-6698-47EB-8068-48147A50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71903-4D4B-43F1-98C0-5823EAF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F6C2A-B8ED-4FFB-B45E-6D449BF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116C5-EB7D-4702-939F-E2166D2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毛坯装修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F5C3E-2DAB-44D9-9D84-DD4E3BB4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从空房或毛坯底图生成完整硬装、家具与灯光表达。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7D260-8119-4DBA-8DD9-EE9FA7C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DBB6A-D456-4412-8D5E-BAED4F27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DFEC9-AA6C-430D-A4A2-6C3A88E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CDB0B-388D-422D-91DC-9B8F4D2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风格迁移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A4CEA-E39C-4794-81EE-BF4C584C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沿用参考图的色彩、材质与家具语言，适配当前空间。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8BF8E-7DB9-4DB9-9D4C-7F48206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BF407-1912-429C-8411-5CBE964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50877-F281-4FC0-BE03-EA656D5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4C9A4-3B9C-4375-AA31-F701552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平面与诊断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6C188-C112-44B9-AA4E-5F52083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彩化户型、识别布局问题，辅助整屋方案沟通。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8DBCF0-9F87-4FC8-A227-79F07D20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C2EEF-7CE9-4419-B461-D9E248C8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469E4-BE6F-432F-9003-5674A5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CFEB3-6FF0-43B3-A62C-F9A1548C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局部深化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6182B-A028-44BD-B7CD-2180CD41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材质替换、软装搭配与局部修改，支持持续迭代。</a:t>
            </a:r>
          </a:p>
        </p:txBody>
      </p:sp>
    </p:spTree>
    <p:extLst>
      <p:ext uri="{BB962C8B-B14F-4D97-AF65-F5344CB8AC3E}">
        <p14:creationId xmlns:p14="http://schemas.microsoft.com/office/powerpoint/2010/main" val="1696973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09 / 同空间多方案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同一空间保持几何不变，快速比较三种设计语言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演示以同一空房为基准，仅改变硬装、材质、家具与灯光，方案差异一眼可见。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8487e34874728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输入 · 原始空间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18f37e72e4db7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方案 A · 现代奶油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a19d88685498d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方案 B · 现代法式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 C · 现代中式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深色胡桃木、纸灯与克制留白，氛围沉静。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演示价值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统一镜头下直接比较，减少客户对风格想象的偏差。</a:t>
            </a:r>
          </a:p>
        </p:txBody>
      </p:sp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10 / 局部深化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同一方案继续优化，只改材质也能形成清晰对比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保留结构、家具与灯光，仅把电视墙替换为洞石、地面替换为浅烟熏橡木。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753393eae410e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基础方案 · 现代奶油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333ed07c040e2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局部修改 · 材质替换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1f14248e34252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辅助输出 · 软装分析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提示词要点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电视墙改暖米色洞石；地面改浅烟熏橡木。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不变项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镜头、结构、家具、灯光与物件位置保持不变。</a:t>
            </a:r>
          </a:p>
        </p:txBody>
      </p:sp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11 / 家装模板库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把模板做成可选择的能力，而不是一条固定提示词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真实数据库示例：现代奶油毛坯装修、法式毛坯装修、户型问题诊断。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a53ad3d6b49a1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现代奶油毛坯装修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6aaf20d1b45bd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法式毛坯装修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db0efd53c46d3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户型问题诊断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当前提示词库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2026-08-01 发布；共 960 个启用模板。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演示筛选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优先家装、可比较、客户易理解的模板。</a:t>
            </a:r>
          </a:p>
        </p:txBody>
      </p:sp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E60ED-0C83-4913-8B3E-192C2F41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12 / 创建任务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D0CE-8BCD-4B1C-804F-9E67291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从准备素材到生成方案，每一步都有明确提示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B95D-08F8-419E-8987-473B8D8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完整页面展示素材、风格与范围；不同任务状态则集中在项目列表中持续反馈。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AD88-C9E8-4010-BC60-28A1D277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C84F4-906A-4CF7-AD48-0BAF867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70617-EE91-41B8-A43C-528F5AE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143250" cy="36385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26e660f6e43bc"/>
          <a:stretch xmlns:a="http://schemas.openxmlformats.org/drawingml/2006/main"/>
        </p:blipFill>
        <p:spPr>
          <a:xfrm xmlns:a="http://schemas.openxmlformats.org/drawingml/2006/main">
            <a:off x="1315183" y="2019300"/>
            <a:ext cx="1617785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F4FDC-61F1-4FAE-841D-A9FB2EE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9423B-67A9-4F0E-8B47-68047A1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准备素材与风格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4B53B-0C02-41B6-82FC-AAC3162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4762500" cy="3638550"/>
          </a:xfrm>
          <a:prstGeom xmlns:a="http://schemas.openxmlformats.org/drawingml/2006/main" prst="roundRect">
            <a:avLst>
              <a:gd name="adj" fmla="val 5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9e8c312ef4cd5"/>
          <a:stretch xmlns:a="http://schemas.openxmlformats.org/drawingml/2006/main"/>
        </p:blipFill>
        <p:spPr>
          <a:xfrm xmlns:a="http://schemas.openxmlformats.org/drawingml/2006/main">
            <a:off x="4724400" y="2019300"/>
            <a:ext cx="3505200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39C1F-771A-4420-BED0-8052167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86425"/>
            <a:ext cx="461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DCD58-5473-4DA8-A4BE-088EA6D3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生成进度与异常处理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04CA6-1BBC-4BFA-812B-06613B4F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324100" cy="32575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2874D-40A3-47C0-AB88-5CC382F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0DA52-5FD0-4DF9-BF1A-91AE94BB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0350"/>
            <a:ext cx="1790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任务类型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所需图片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目标风格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设计范围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点数预估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4FC7E-608C-4B15-A949-EF1068F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38650"/>
            <a:ext cx="1790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795B9-F57F-40B1-9FB9-04C645F1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成功扣点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失败释放 · 允许重试</a:t>
            </a:r>
          </a:p>
        </p:txBody>
      </p:sp>
    </p:spTree>
    <p:extLst>
      <p:ext uri="{BB962C8B-B14F-4D97-AF65-F5344CB8AC3E}">
        <p14:creationId xmlns:p14="http://schemas.microsoft.com/office/powerpoint/2010/main" val="21294787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85417-30CB-4034-BFAD-F54D4AC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13 / 小程序成果交付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CAB96-E900-44D8-A8DE-726941B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同一套小程序界面，承接多种 AI 设计结果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5020C-27C5-4D1B-A6FC-C7FBFBA8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以下为基于获批结果页设计稿的演示状态，用于展示真实运行截图缺失时的产品能力。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D6A5D-1624-47A5-A28F-35ED8D20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F917B-0215-47A3-9C70-E8E8FCBC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63826-6B55-4ED1-8839-1A975B6B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743200" cy="3638550"/>
          </a:xfrm>
          <a:prstGeom xmlns:a="http://schemas.openxmlformats.org/drawingml/2006/main" prst="roundRect">
            <a:avLst>
              <a:gd name="adj" fmla="val 7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bf72efdaf4a62"/>
          <a:stretch xmlns:a="http://schemas.openxmlformats.org/drawingml/2006/main"/>
        </p:blipFill>
        <p:spPr>
          <a:xfrm xmlns:a="http://schemas.openxmlformats.org/drawingml/2006/main" flipH="0" flipV="0">
            <a:off x="1113330" y="2019300"/>
            <a:ext cx="1621440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06E37-C06D-4FDF-A710-5CF4DAA1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89169-9A56-4B0B-81CD-C6D9BECE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 · 温暖治愈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B2081-6F77-4CC1-B9F8-4FA76414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52625"/>
            <a:ext cx="2743200" cy="3638550"/>
          </a:xfrm>
          <a:prstGeom xmlns:a="http://schemas.openxmlformats.org/drawingml/2006/main" prst="roundRect">
            <a:avLst>
              <a:gd name="adj" fmla="val 7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03f759d614672"/>
          <a:stretch xmlns:a="http://schemas.openxmlformats.org/drawingml/2006/main"/>
        </p:blipFill>
        <p:spPr>
          <a:xfrm xmlns:a="http://schemas.openxmlformats.org/drawingml/2006/main" flipH="0" flipV="0">
            <a:off x="4123230" y="2019300"/>
            <a:ext cx="1621440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DF4E6-425D-46ED-A4D7-920F021B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86425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955E1-30B1-4426-BEEA-ECA390E7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5310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现代法式 · 精致明亮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95A97-10C4-4807-9728-D9A708A9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743200" cy="3638550"/>
          </a:xfrm>
          <a:prstGeom xmlns:a="http://schemas.openxmlformats.org/drawingml/2006/main" prst="roundRect">
            <a:avLst>
              <a:gd name="adj" fmla="val 7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637340c414e79"/>
          <a:stretch xmlns:a="http://schemas.openxmlformats.org/drawingml/2006/main"/>
        </p:blipFill>
        <p:spPr>
          <a:xfrm xmlns:a="http://schemas.openxmlformats.org/drawingml/2006/main" flipH="0" flipV="0">
            <a:off x="7133130" y="2019300"/>
            <a:ext cx="1621440" cy="3505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4694CD-F5C8-400F-92A2-F184B7D9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86425"/>
            <a:ext cx="2590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DDDE8-56D8-4E91-A007-AF27BB02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5310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现代中式 · 沉静克制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802CB-DC55-4F7E-91F0-3E8EE084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95500"/>
            <a:ext cx="1981200" cy="325755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39987-6F74-495E-B0B3-1FC79230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6220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9CF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9CF0BC"/>
                </a:solidFill>
                <a:latin typeface="Microsoft YaHei"/>
                <a:ea typeface="Microsoft YaHei"/>
                <a:cs typeface="Microsoft YaHei"/>
              </a:rPr>
              <a:t>现场沟通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C735B4-60F4-4A58-9C52-8EE5D87B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81300"/>
            <a:ext cx="1485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预览多方案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保存与分享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继续优化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查看历史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F29D8-0977-433E-BD6F-695F5A05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57650"/>
            <a:ext cx="1485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3BF523-665D-47B9-B928-F1F5F905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86250"/>
            <a:ext cx="1485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状态说明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7AF934-78A0-4482-B625-C7E5F8F3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67250"/>
            <a:ext cx="1485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5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批准设计稿 + AI 演示效果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非真实运行截图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43218-1E65-4C7F-A66F-2B7DE2CC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7721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B768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76822"/>
                </a:solidFill>
                <a:latin typeface="Microsoft YaHei"/>
                <a:ea typeface="Microsoft YaHei"/>
                <a:cs typeface="Microsoft YaHei"/>
              </a:rPr>
              <a:t>概念方案，不是施工图</a:t>
            </a:r>
          </a:p>
        </p:txBody>
      </p:sp>
    </p:spTree>
    <p:extLst>
      <p:ext uri="{BB962C8B-B14F-4D97-AF65-F5344CB8AC3E}">
        <p14:creationId xmlns:p14="http://schemas.microsoft.com/office/powerpoint/2010/main" val="5326352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AC515-0403-4D4F-A2F6-D3BA2DB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14 / 企业后台 AI 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FCF24-434D-40FD-9785-F893F1B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AI 工作台不止一种效果，而是一套可复用的家装模板库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F31F6-CFCA-4970-AD76-517576C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当前数据库启用 960 个模板；家装演示优先呈现毛坯装修、风格迁移、材质替换与软装分析。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B08DA-6553-4DDB-9A4C-067C23D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03BFF-A8F3-4263-986A-0983B95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85BE8-9666-42BA-A35B-75E186F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572250" cy="30099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71820"/>
          </a:solidFill>
          <a:ln xmlns:a="http://schemas.openxmlformats.org/drawingml/2006/main" w="9525">
            <a:solidFill>
              <a:srgbClr val="3537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4ee66cdb7411e"/>
          <a:stretch xmlns:a="http://schemas.openxmlformats.org/drawingml/2006/main"/>
        </p:blipFill>
        <p:spPr>
          <a:xfrm xmlns:a="http://schemas.openxmlformats.org/drawingml/2006/main" flipH="0" flipV="0">
            <a:off x="664178" y="2095500"/>
            <a:ext cx="6272593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13367-B7C6-49B2-95ED-9195402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22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7375B-05C8-4291-A343-B140C259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示例：现代奶油毛坯装修 · 从空房到完整客厅方案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3971E-A918-4179-9E23-DA91308F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198120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ab8bed4034625"/>
          <a:stretch xmlns:a="http://schemas.openxmlformats.org/drawingml/2006/main"/>
        </p:blipFill>
        <p:spPr>
          <a:xfrm xmlns:a="http://schemas.openxmlformats.org/drawingml/2006/main" flipH="0" flipV="0">
            <a:off x="7467600" y="2076450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79168-9371-4D9A-9073-F38233A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211455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92845324204df2"/>
          <a:stretch xmlns:a="http://schemas.openxmlformats.org/drawingml/2006/main"/>
        </p:blipFill>
        <p:spPr>
          <a:xfrm xmlns:a="http://schemas.openxmlformats.org/drawingml/2006/main" flipH="0" flipV="0">
            <a:off x="9639300" y="2336800"/>
            <a:ext cx="1962150" cy="1308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64568-0B20-4F22-8623-7816395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1828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F45B6-EDDD-461D-9FDD-9138F86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6242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同空间 · 毛坯 → 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6B505-0227-4C3B-86A1-A012451F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755F-74DD-40E8-8104-8680B76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624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局部深化 · 材质替换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BDEA4-3B89-4244-8B40-F2A4850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4286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9E367-C300-4205-85C1-2271FA7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选择模板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D3C69-5FB5-4754-814F-676ABF1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CE0DC-B6FA-4134-91C2-945B40A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95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参数化提示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6AAF2-4952-4E41-8111-2873C2A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041B5-70D4-49C5-AA79-F1C9CD6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继续深化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15B10-E4B7-49B3-95D0-FDB6965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可组合空间类型、目标风格、硬装材质、家具与灯光要求；历史任务继续保留并可再次生成。</a:t>
            </a:r>
          </a:p>
        </p:txBody>
      </p:sp>
    </p:spTree>
    <p:extLst>
      <p:ext uri="{BB962C8B-B14F-4D97-AF65-F5344CB8AC3E}">
        <p14:creationId xmlns:p14="http://schemas.microsoft.com/office/powerpoint/2010/main" val="13404160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77740-D791-4D62-8E6E-9E0D8A8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15 / 团队接续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4D905-B822-41C6-ABA4-60C6CC3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三个角色围绕同一客户接力，不重复建档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72C97-3957-42CD-B1EB-7031FB5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AI 成果回到客户方案后，量房师、设计师和企业管理者都能在各自职责内继续推进。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09CAE-D55D-479C-999E-F9551AC2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团队跟进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25681-9132-4E47-AA64-CE0FF4D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BF13A-0A50-4886-9B44-41EBF528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7239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CBE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7869-3802-4619-B15F-6B19B4D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6659A-AA0D-48B1-9895-F88CD5D7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14C3-7E0E-4E5C-9F1D-2A9AA40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E8279-7C7A-4324-9B5F-64DFB47F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5D8D7-5C4F-4BED-B02D-35C58672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建立或接收客户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94E54-74A5-411F-AE19-3F6D62C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DFF73-6D77-4674-A844-56493D7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交付：客户资料 + 正式户型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89357-CAB8-41BA-9E2D-EF92F77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C9973-A417-43F2-A292-EC77F9E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F6B49-A4A1-4CAF-8E73-30178C0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ACD2F-0925-4F03-9C9E-9428626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FBD1D-0BE2-48B6-AEFD-AFB514AB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接收客户与空间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生成并优化方案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2CAA6-236A-4A4B-896E-6E58D99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C7543-D331-43E6-A376-2923687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承接：不重新建档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7E9B0-757F-41F0-830F-E0F1E46B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A6620-1C15-41DF-941F-B7F18C6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9C2D4-7FCA-4853-B2A4-64D0C55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24563-0AE1-4C95-ABB0-0E1B895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企业管理者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E7F18-2C7A-48B8-8ED9-FE214D3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管理成员与权限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查看进展与配置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2E1B8-78AF-47D9-BA8C-370BA2A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E5990-F1BD-4ED5-A81D-3193600A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保障：角色能完成工作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5DFCA-1CFC-404A-B801-3747B45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1200"/>
            <a:ext cx="7162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6EDE0-2376-40B2-AE71-4937174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05500"/>
            <a:ext cx="681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获客确认与提成独立记录，不改变客户处于量房或设计的业务阶段。</a:t>
            </a:r>
          </a:p>
        </p:txBody>
      </p:sp>
    </p:spTree>
    <p:extLst>
      <p:ext uri="{BB962C8B-B14F-4D97-AF65-F5344CB8AC3E}">
        <p14:creationId xmlns:p14="http://schemas.microsoft.com/office/powerpoint/2010/main" val="13013714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CDB61-72F1-438B-BE42-DF78B41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16 / 两端分工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43F19-2C31-4FD2-A3A1-067DD3C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小程序跑现场，企业后台管组织与全局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E5D6E-01B5-4578-A1AB-A2CE62E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两端共享同一企业与客户上下文，但分别服务高频执行和集中管理。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5B54-962A-4381-9593-09FE3B9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两端协作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2CCC-3DD3-4337-8DC1-0772F83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01049-7766-480D-8B5B-3B334216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FAE13-FBCA-4539-A6E4-429BA02D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95BD-1FC7-4D86-97A4-CECF6D7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小程序 · 高频执行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ce6bb724d4ce9"/>
          <a:srcRect xmlns:a="http://schemas.openxmlformats.org/drawingml/2006/main" l="0" t="7790" r="0" b="7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876550"/>
            <a:ext cx="1752600" cy="26289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540B-1D2A-42D5-AE18-53E788F9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B6DF-B1A3-4B5B-A039-5A4FF9B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客户与量房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07921-8821-413B-A891-83B18CD3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录入客户、进入正式量房、查看个人待办。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3CBD1-7AC3-4980-8117-EF968F9A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6D974-3EFE-474A-9882-55405A6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现场跟进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5E183-E8DD-4339-B7DF-0D6EE90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查看客户、正式户型、待办与方案进展。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AFE78-2677-43DD-8AC8-6D930D0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8ABB0-57C5-4ECA-8D03-78C05D9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35057-23FC-470F-AB11-FA0691E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rPr>
              <a:t>企业后台 · 集中管理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121FD-2C8C-4FC4-9497-549A490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547E6-B5BE-401C-9CD7-49D9630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624A5-70A2-4412-88AC-AF6BBBB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组织与权限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81924-08F4-4272-9CD0-4FC191B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成员、岗位与访问范围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BB358-41CC-4536-BEE1-7743D24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827A2-AAB7-420B-B5DA-04F7422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ECA94-CFC8-4488-B473-9CD2C7A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客户与户型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7A448-27EB-4178-AAF8-663151D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正式户型、测量记录与进展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C63C5-CEB1-4ABA-994C-9902B3E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3C63C-52E5-4353-9EF2-6DCC5B1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B5B46-9382-4B40-ACD2-A3BA13B6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创作与深化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6562F-7FED-48F0-B409-6D6CB5C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情绪板、方案版本与后续深化管理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339D5E-BE2C-4D21-8E03-C8CEF96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rPr>
              <a:t>不重复建档，只保留客户企业内部的组织、资产与服务配置。</a:t>
            </a:r>
          </a:p>
        </p:txBody>
      </p:sp>
    </p:spTree>
    <p:extLst>
      <p:ext uri="{BB962C8B-B14F-4D97-AF65-F5344CB8AC3E}">
        <p14:creationId xmlns:p14="http://schemas.microsoft.com/office/powerpoint/2010/main" val="4389696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17 / 使用条件与产品边界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顺利完成量房与设计，需要先具备这些条件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账号、户型、权限和服务配置准备就绪后，团队即可沿客户流程继续推进。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企业账号可正常使用，网络和服务连接有效。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蓝牙测距（可选）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使用兼容且已分配授权的设备；也可手工录入。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户型数据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墙体有效并形成闭合空间，方可进入对应设计流程。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企业已开通权限，并具备可用点数和有效服务配置。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方案用途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用于概念表达、方案比较和客户沟通，不作为施工图。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员工按企业角色和本人权限访问客户与户型数据。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9e58c3aee4bb4"/>
          <a:stretch xmlns:a="http://schemas.openxmlformats.org/drawingml/2006/main"/>
        </p:blipFill>
        <p:spPr>
          <a:xfrm xmlns:a="http://schemas.openxmlformats.org/drawingml/2006/main">
            <a:off x="552450" y="400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9225C-D3F4-4767-9632-6516E7A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C93A6-D6CF-48A8-B7C3-B351DAB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接下来，用一位客户走完整流程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55D4-3AF2-41AB-A71E-2AE6965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从建档、量房到 AI 设计和团队接续，所有步骤围绕同一份客户资料推进。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6BA6-5FC1-4391-AF16-EB180F7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C0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60C20-97A3-498D-AA98-B723E931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CB451-7F7C-4B90-B148-6249465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EE0BC-12F0-416B-9E3D-205B533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创建客户档案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4400-E73C-4BFC-A8A0-2FB7AFBE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AA317-140D-43CD-916E-A7DE367A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123E2-A6EC-4E5A-BFA5-AB76563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进入正式量房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F028C-08B9-47EE-B60F-6FEE38FB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A04E5-017C-4BA2-BC90-CB343663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1AE69-CEB3-439F-81CD-7A86199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9EBFF-6D0C-4F66-8201-2548FE2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2EE49-3ABE-431A-9699-A03EE416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A9D47-1514-4EF7-9862-63935CF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发起 AI 设计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A948E-F8FF-47FE-8C0C-9C3925DC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DDBD-2532-4E2E-A99A-64FFB49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4B66-5CA3-46EA-ABB9-044992D5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查看方案成果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CE9F7-661B-4F43-97E8-17E2D0B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49563-8A0C-4EB4-B1A9-C6DC9D3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2B341-9FCB-4995-A78F-17A7D6C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查看团队接续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03B8C-69C9-48F1-9AC4-6590FCB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D5660-DF7C-4E45-85A5-BA1466A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rPr>
              <a:t>您将看到：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69D58-46DB-4BB2-BBCC-5B4EEA3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客户资料如何沉淀为正式户型，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并继续生成可沟通、可优化的设计方案。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73ACF-0750-4EA7-9D29-8457285E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客户演示稿  ·  2026.08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C8C56-5EF7-494D-9C1B-92BA799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39140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2026-08-12T17:01:23.4850000Z</dcterms:created>
  <dcterms:modified xsi:type="dcterms:W3CDTF">2026-08-12T17:01:23.4850000Z</dcterms:modified>
</coreProperties>
</file>
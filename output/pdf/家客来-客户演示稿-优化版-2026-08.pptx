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dfb9cba0d04e5a" /><Relationship Type="http://schemas.openxmlformats.org/officeDocument/2006/relationships/extended-properties" Target="/docProps/app.xml" Id="Re73bd1b766244c2a" /><Relationship Type="http://schemas.openxmlformats.org/officeDocument/2006/relationships/officeDocument" Target="/ppt/presentation.xml" Id="Ra4c017004d7849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1f3a31fb474b3f"/>
  </p:sldMasterIdLst>
  <p:notesMasterIdLst>
    <p:notesMasterId xmlns:r="http://schemas.openxmlformats.org/officeDocument/2006/relationships" r:id="R61f232a4571043e6"/>
  </p:notesMasterIdLst>
  <p:sldIdLst>
    <p:sldId xmlns:r="http://schemas.openxmlformats.org/officeDocument/2006/relationships" id="256" r:id="Red9dfb41cd3d4fee"/>
    <p:sldId xmlns:r="http://schemas.openxmlformats.org/officeDocument/2006/relationships" id="257" r:id="R28a70410660e4945"/>
    <p:sldId xmlns:r="http://schemas.openxmlformats.org/officeDocument/2006/relationships" id="258" r:id="R69d36e75466546ef"/>
    <p:sldId xmlns:r="http://schemas.openxmlformats.org/officeDocument/2006/relationships" id="259" r:id="R2acb44f827bc4efb"/>
    <p:sldId xmlns:r="http://schemas.openxmlformats.org/officeDocument/2006/relationships" id="260" r:id="R81fddb62e43a4092"/>
    <p:sldId xmlns:r="http://schemas.openxmlformats.org/officeDocument/2006/relationships" id="261" r:id="R75855189882d417a"/>
    <p:sldId xmlns:r="http://schemas.openxmlformats.org/officeDocument/2006/relationships" id="262" r:id="Rd7f286f18deb49b2"/>
    <p:sldId xmlns:r="http://schemas.openxmlformats.org/officeDocument/2006/relationships" id="263" r:id="R69644f133088489b"/>
    <p:sldId xmlns:r="http://schemas.openxmlformats.org/officeDocument/2006/relationships" id="264" r:id="R781cdf8f09c84bbb"/>
    <p:sldId xmlns:r="http://schemas.openxmlformats.org/officeDocument/2006/relationships" id="265" r:id="R270d816b3eea4ced"/>
    <p:sldId xmlns:r="http://schemas.openxmlformats.org/officeDocument/2006/relationships" id="266" r:id="R8f41bf933ffc436a"/>
    <p:sldId xmlns:r="http://schemas.openxmlformats.org/officeDocument/2006/relationships" id="267" r:id="R0bae8da298b14c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4699f37224468d" /><Relationship Type="http://schemas.openxmlformats.org/officeDocument/2006/relationships/slideMaster" Target="/ppt/slideMasters/slideMaster1.xml" Id="Re01f3a31fb474b3f" /><Relationship Type="http://schemas.openxmlformats.org/officeDocument/2006/relationships/notesMaster" Target="/ppt/notesMasters/notesMaster1.xml" Id="R61f232a4571043e6" /><Relationship Type="http://schemas.openxmlformats.org/officeDocument/2006/relationships/presProps" Target="/ppt/presProps.xml" Id="R85686974bbdb464c" /><Relationship Type="http://schemas.openxmlformats.org/officeDocument/2006/relationships/tableStyles" Target="/ppt/tableStyles.xml" Id="R82e18ba79999482a" /><Relationship Type="http://schemas.openxmlformats.org/officeDocument/2006/relationships/slide" Target="/ppt/slides/slide1.xml" Id="Red9dfb41cd3d4fee" /><Relationship Type="http://schemas.openxmlformats.org/officeDocument/2006/relationships/slide" Target="/ppt/slides/slide2.xml" Id="R28a70410660e4945" /><Relationship Type="http://schemas.openxmlformats.org/officeDocument/2006/relationships/slide" Target="/ppt/slides/slide3.xml" Id="R69d36e75466546ef" /><Relationship Type="http://schemas.openxmlformats.org/officeDocument/2006/relationships/slide" Target="/ppt/slides/slide4.xml" Id="R2acb44f827bc4efb" /><Relationship Type="http://schemas.openxmlformats.org/officeDocument/2006/relationships/slide" Target="/ppt/slides/slide5.xml" Id="R81fddb62e43a4092" /><Relationship Type="http://schemas.openxmlformats.org/officeDocument/2006/relationships/slide" Target="/ppt/slides/slide6.xml" Id="R75855189882d417a" /><Relationship Type="http://schemas.openxmlformats.org/officeDocument/2006/relationships/slide" Target="/ppt/slides/slide7.xml" Id="Rd7f286f18deb49b2" /><Relationship Type="http://schemas.openxmlformats.org/officeDocument/2006/relationships/slide" Target="/ppt/slides/slide8.xml" Id="R69644f133088489b" /><Relationship Type="http://schemas.openxmlformats.org/officeDocument/2006/relationships/slide" Target="/ppt/slides/slide9.xml" Id="R781cdf8f09c84bbb" /><Relationship Type="http://schemas.openxmlformats.org/officeDocument/2006/relationships/slide" Target="/ppt/slides/slide10.xml" Id="R270d816b3eea4ced" /><Relationship Type="http://schemas.openxmlformats.org/officeDocument/2006/relationships/slide" Target="/ppt/slides/slide11.xml" Id="R8f41bf933ffc436a" /><Relationship Type="http://schemas.openxmlformats.org/officeDocument/2006/relationships/slide" Target="/ppt/slides/slide12.xml" Id="R0bae8da298b14c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ad61be81d449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5d55beca124e6c" /><Relationship Type="http://schemas.openxmlformats.org/officeDocument/2006/relationships/notesMaster" Target="/ppt/notesMasters/notesMaster1.xml" Id="R0e01cbf5ddfc47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153b4eb5d34a5b" /><Relationship Type="http://schemas.openxmlformats.org/officeDocument/2006/relationships/notesMaster" Target="/ppt/notesMasters/notesMaster1.xml" Id="R915fcff1d3c04d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029c8cfd684dc3" /><Relationship Type="http://schemas.openxmlformats.org/officeDocument/2006/relationships/notesMaster" Target="/ppt/notesMasters/notesMaster1.xml" Id="Red3f0c2ef3b246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6227df15bc4c84" /><Relationship Type="http://schemas.openxmlformats.org/officeDocument/2006/relationships/notesMaster" Target="/ppt/notesMasters/notesMaster1.xml" Id="R0086e771b91f48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49ed5db374429d" /><Relationship Type="http://schemas.openxmlformats.org/officeDocument/2006/relationships/notesMaster" Target="/ppt/notesMasters/notesMaster1.xml" Id="R9e83c98f35514d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ffa36d218b4b4c" /><Relationship Type="http://schemas.openxmlformats.org/officeDocument/2006/relationships/notesMaster" Target="/ppt/notesMasters/notesMaster1.xml" Id="Rdd75351d507740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6b3b169c174b24" /><Relationship Type="http://schemas.openxmlformats.org/officeDocument/2006/relationships/notesMaster" Target="/ppt/notesMasters/notesMaster1.xml" Id="R377b679e8e9143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a8d024e0044c5e" /><Relationship Type="http://schemas.openxmlformats.org/officeDocument/2006/relationships/notesMaster" Target="/ppt/notesMasters/notesMaster1.xml" Id="R69315ac9f32c4b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698d8cc17c406b" /><Relationship Type="http://schemas.openxmlformats.org/officeDocument/2006/relationships/notesMaster" Target="/ppt/notesMasters/notesMaster1.xml" Id="Rc32caf16557048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9d44aa95c34adb" /><Relationship Type="http://schemas.openxmlformats.org/officeDocument/2006/relationships/notesMaster" Target="/ppt/notesMasters/notesMaster1.xml" Id="Rcffbaa96086140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17e5abb939427f" /><Relationship Type="http://schemas.openxmlformats.org/officeDocument/2006/relationships/notesMaster" Target="/ppt/notesMasters/notesMaster1.xml" Id="Re29fd50bcc1744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5c3e45565c4514" /><Relationship Type="http://schemas.openxmlformats.org/officeDocument/2006/relationships/notesMaster" Target="/ppt/notesMasters/notesMaster1.xml" Id="Rbffd3bbb415d4f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visuals extracted from the local source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illustration extracted from source slide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Product screenshots extracted from source slide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surveying screenshots extracted from source slide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floor-plan illustration extracted from source slide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AI workbench screenshots extracted from source slide 11; task names verified against current code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Role and acquisition boundaries verified against measurer–designer acquisition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Mini Program screenshot extracted from source slide 9; admin responsibilities verified against current module inventory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Capability boundaries verified against current Mini Program, admin, formal surveying, and AI module 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bc29a7d6c47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52892151954cb5" /><Relationship Type="http://schemas.openxmlformats.org/officeDocument/2006/relationships/slideLayout" Target="/ppt/slideLayouts/slideLayout1.xml" Id="R3534ab4fda234a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4ab4fda234a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0dcf881804a02" /><Relationship Type="http://schemas.openxmlformats.org/officeDocument/2006/relationships/image" Target="/ppt/media/image.png" Id="Rbc99fcecb2574900" /><Relationship Type="http://schemas.openxmlformats.org/officeDocument/2006/relationships/image" Target="/ppt/media/image2.png" Id="R4c39aebf2bcb4257" /><Relationship Type="http://schemas.openxmlformats.org/officeDocument/2006/relationships/notesSlide" Target="/ppt/notesSlides/notesSlide1.xml" Id="R944d4312f8a448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5615de6504ce9" /><Relationship Type="http://schemas.openxmlformats.org/officeDocument/2006/relationships/image" Target="/ppt/media/image3.png" Id="R1880f99e4c214241" /><Relationship Type="http://schemas.openxmlformats.org/officeDocument/2006/relationships/notesSlide" Target="/ppt/notesSlides/notesSlide2.xml" Id="R49e6090ba9c14e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f1ec3b71b46d5" /><Relationship Type="http://schemas.openxmlformats.org/officeDocument/2006/relationships/notesSlide" Target="/ppt/notesSlides/notesSlide3.xml" Id="R7620b1f01d8640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ecf30f9e24b56" /><Relationship Type="http://schemas.openxmlformats.org/officeDocument/2006/relationships/notesSlide" Target="/ppt/notesSlides/notesSlide4.xml" Id="Re2b872ea481a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8c8c883cf4968" /><Relationship Type="http://schemas.openxmlformats.org/officeDocument/2006/relationships/image" Target="/ppt/media/image4.png" Id="R261b8bde187d48f4" /><Relationship Type="http://schemas.openxmlformats.org/officeDocument/2006/relationships/image" Target="/ppt/media/image5.png" Id="Rde02916a21d6460a" /><Relationship Type="http://schemas.openxmlformats.org/officeDocument/2006/relationships/notesSlide" Target="/ppt/notesSlides/notesSlide5.xml" Id="R026fff0a9fe043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d0586a5034708" /><Relationship Type="http://schemas.openxmlformats.org/officeDocument/2006/relationships/image" Target="/ppt/media/image6.png" Id="R7f0ead791b844527" /><Relationship Type="http://schemas.openxmlformats.org/officeDocument/2006/relationships/image" Target="/ppt/media/image7.png" Id="R4d0cc276f7c14da8" /><Relationship Type="http://schemas.openxmlformats.org/officeDocument/2006/relationships/image" Target="/ppt/media/image8.png" Id="Rc4d4e332214947b5" /><Relationship Type="http://schemas.openxmlformats.org/officeDocument/2006/relationships/notesSlide" Target="/ppt/notesSlides/notesSlide6.xml" Id="R2d2770f1f5d54b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585223e7045a8" /><Relationship Type="http://schemas.openxmlformats.org/officeDocument/2006/relationships/image" Target="/ppt/media/image9.png" Id="R05ceb270536743de" /><Relationship Type="http://schemas.openxmlformats.org/officeDocument/2006/relationships/notesSlide" Target="/ppt/notesSlides/notesSlide7.xml" Id="R76817de318ce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2c279bf194e8b" /><Relationship Type="http://schemas.openxmlformats.org/officeDocument/2006/relationships/image" Target="/ppt/media/image10.png" Id="Rf259b6665af54b52" /><Relationship Type="http://schemas.openxmlformats.org/officeDocument/2006/relationships/image" Target="/ppt/media/image11.png" Id="Recbf145c90cd4ee3" /><Relationship Type="http://schemas.openxmlformats.org/officeDocument/2006/relationships/image" Target="/ppt/media/image12.png" Id="Rc28b51e679744b6d" /><Relationship Type="http://schemas.openxmlformats.org/officeDocument/2006/relationships/notesSlide" Target="/ppt/notesSlides/notesSlide8.xml" Id="R0d02def593574c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6235be55741aa" /><Relationship Type="http://schemas.openxmlformats.org/officeDocument/2006/relationships/notesSlide" Target="/ppt/notesSlides/notesSlide9.xml" Id="Rb6b374aae7d04d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ad4b8be49443d" /><Relationship Type="http://schemas.openxmlformats.org/officeDocument/2006/relationships/image" Target="/ppt/media/image13.png" Id="Re30c694475564808" /><Relationship Type="http://schemas.openxmlformats.org/officeDocument/2006/relationships/notesSlide" Target="/ppt/notesSlides/notesSlide10.xml" Id="R564745a7a5c74d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c7e4ba5a246ce" /><Relationship Type="http://schemas.openxmlformats.org/officeDocument/2006/relationships/notesSlide" Target="/ppt/notesSlides/notesSlide11.xml" Id="R1dda447b9a8a44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67c5ac9ce4296" /><Relationship Type="http://schemas.openxmlformats.org/officeDocument/2006/relationships/image" Target="/ppt/media/image14.png" Id="R614cfb128dc44241" /><Relationship Type="http://schemas.openxmlformats.org/officeDocument/2006/relationships/notesSlide" Target="/ppt/notesSlides/notesSlide12.xml" Id="Re447977177f84c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73D19-E82C-4B11-BBBB-030B08DB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9fcecb2574900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9aebf2bcb4257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0119B-1837-4FFA-AFF9-40C0CD53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CE70A-9761-4448-8FC6-1FF369F0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5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从客户建档到设计方案，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让家装服务连续推进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EC31C-819D-4800-B78B-20CB7EA6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04AE6-E426-4483-A4F5-F8B2B2F2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家客来连接客户档案、正式量房、AI 设计与团队跟进。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990CC-4220-4EE6-A7B7-D0524C33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1BD5B-BC1D-4040-9A11-98ED57AD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客户档案  ·  正式户型  ·  设计方案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3F919-D4DF-4356-A8B5-4A6C75DB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客户演示稿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981331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52F92-16DD-46B0-A536-C0DE4D86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家客来是什么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583B1-8657-49D9-8220-7A49CF27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一套围绕同一位客户持续工作的协作工具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BCFC3-FBAD-4C11-ACA5-452DABFE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量房师、设计师和企业管理者使用同一份客户与空间资料，各自完成职责内的下一步。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3608A-8EA5-49D4-8FA4-B50445EE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ECF7D-CB8F-4647-AAB7-1C288ADB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BDF63-3500-4091-9421-276C8909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5810250" cy="37719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8AD19-C5BE-432F-845C-B777FBFE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3116E-8624-4F81-9B11-186DBF32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谁使用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ABC7E-EFFC-4C20-A0BA-ACF4CA52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家装企业的量房师、设计师和企业管理者。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BA954-E400-4A00-A6C8-C0F7EAFC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73B63-7BD0-4B4E-93DC-806BDAEE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539CA-6501-4BD5-8B9C-90463DA0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客户资料、正式户型、设计方案和客户阶段。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2E176-A99A-4226-9713-F199D55A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B021D-915C-4275-8137-094D103D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带来什么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951E6-E0EB-491F-B886-FA23D25E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后一个岗位直接使用前一个岗位的成果，减少重复确认与重新录入。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0f99e4c214241"/>
          <a:srcRect xmlns:a="http://schemas.openxmlformats.org/drawingml/2006/main" l="0" t="5383" r="0" b="5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019300"/>
            <a:ext cx="4762500" cy="3886200"/>
          </a:xfrm>
          <a:prstGeom xmlns:a="http://schemas.openxmlformats.org/drawingml/2006/main" prst="roundRect">
            <a:avLst>
              <a:gd name="adj" fmla="val 6863"/>
            </a:avLst>
          </a:prstGeom>
        </p:spPr>
      </p:pic>
    </p:spTree>
    <p:extLst>
      <p:ext uri="{BB962C8B-B14F-4D97-AF65-F5344CB8AC3E}">
        <p14:creationId xmlns:p14="http://schemas.microsoft.com/office/powerpoint/2010/main" val="870052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3268E3-2778-4796-BE1A-312E0A13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6A347-638B-4036-8D41-E73F4FA3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问题不在工具少，而在工作成果经常断开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2DE17-DA0B-4A14-9F49-68C81F88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客户资料、现场尺寸、设计依据和跟进责任一旦分散，团队就会反复确认同一件事。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9574B-6F99-4DA7-86D4-651F1B3B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F36A9-A199-47AB-95EE-65D0AAAE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B164A-7C2A-4E17-9314-575BA6FB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1DA88-B0B6-4262-AD60-D5F330BE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3BB14-6BBD-4A3B-9A04-99CBDAC0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188BB-B891-42F6-ACC8-DB908A14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50709-171D-435D-9A5D-47B896D2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个人微信、纸张和表格彼此分离，团队无法共享完整上下文。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C71F9-E928-4FA6-AE67-D85B3F48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B86DB-CF17-4A84-A894-5351A91A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9E097-FB21-4700-9DF3-E37E23F9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28B87-1EEF-4427-9C2A-CAEF29E3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手抄、拍照、转述后再录入，正式空间依据难以延续。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E263C-D6DA-4479-9B6E-0ED0D1B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4BE51-EEC4-4D5F-A256-38316C44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6D018-E79C-4477-9AD0-C6245DBB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设计接手仍要重问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2DFDE-A291-4E43-8A33-BDFB67D7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客户需求与户型信息没有连起来，设计师只能重新确认。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6EE77-79C8-4EAA-838D-3860BF0B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07A8E-2499-41A5-B572-A0BDC22D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9C359-C9CD-479A-9CAF-68546661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管理者看不见下一步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16B10-6463-4EC6-BA79-51A1643E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客户卡在哪一步、由谁接手、产出了什么都不够清晰。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1FF89-2B30-4487-8459-69392464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836DC-7CBE-4DCF-9F73-E6F550C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家客来把断开的工作接起来：每一步都留下可继续使用的成果。</a:t>
            </a:r>
          </a:p>
        </p:txBody>
      </p:sp>
    </p:spTree>
    <p:extLst>
      <p:ext uri="{BB962C8B-B14F-4D97-AF65-F5344CB8AC3E}">
        <p14:creationId xmlns:p14="http://schemas.microsoft.com/office/powerpoint/2010/main" val="1421509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40520F-6EDE-45B3-B721-45A8FB61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单一客户主线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2C4AE-E637-4561-AE0F-E96BD2E0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张女士的装修需求，沿一条路径持续推进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175D0-4B2C-45D2-ADF3-7C41D174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这条路径是整套演示的导航：每一步同时明确负责人和产生的成果。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6C39C-E1E5-4363-8F73-C0E19B65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E2598-901A-41D3-B1B8-9805B5E8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98E25-2AB6-4DF4-828E-AD0FFD0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BF53C-A011-4AC0-98F5-1CB42CF2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B5E79-9D1D-4CF9-B6E0-2D79DA85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5DB91-75E5-4DD6-B9E3-2C569ED6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9BD5A-26A8-41B8-AE05-0693EF0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97352-CB12-4080-AA42-61AE4D7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9C873-4E7A-42CE-8ACF-93A2CF71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29ADB-A062-4D85-9E6D-4BF41051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076DD-1E80-41C7-8785-1A23C50D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9E104-DFDC-49DB-A483-4952EB4A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69668-5C3A-450B-B9F0-02188807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88A46-6E8C-4AB8-BCB5-04FBB760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3DEB5-6C01-4BCE-9DB9-CE54C257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1535C-7E0B-4F4F-ABCE-E62059C7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55B03-9BBF-4FCB-A896-4FA9C30F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1B663-A4A3-405C-825A-ADABE8A0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FF701-44ED-499B-981C-6411A98B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08024-7F69-4B04-8E65-2462BA03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185A4-4574-4FC5-BEDA-6A7F382B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A8BA5-68F5-4A88-8959-6EC02C8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037CE-B479-4ADF-99A1-4C5E8047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6F7DC-1E9E-4A24-9244-F4CBB2D0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893563-5A54-46E9-BFE0-3FEAE01E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8B2D8E-BA08-435B-BF36-7738AE7E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BC54F-7E65-42E4-9264-AF8CADA8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设计任务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6BD82-B905-40F4-91CC-D3AA493C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808352-FE73-4A4F-8CA2-5E052C09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4585C1-1F8C-475D-A0B5-A15823A1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B5053B-87C1-4677-AFAB-F23BC0D0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D66912-BF0D-42F1-BF75-A280AA8D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63624D-BF5E-4CFF-A920-A09C8CFC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概念方案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DC1F77-42B2-43E0-8F54-472F6A87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FADDE2-00C6-4BEF-9696-0543AE18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8BD7BC-4390-4AF3-9030-21C16C6C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9930C9-5865-4A02-A681-582A9774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C9DBA1-734A-4223-AD49-0E7F010A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E745EF-F0E5-4762-AAEA-5382F74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D60D2E-978B-400B-809B-E9A38A9B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695E8D-9013-40DE-A76E-167CA497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客户档案是入口  ·  正式户型是空间依据  ·  设计方案是沟通成果</a:t>
            </a:r>
          </a:p>
        </p:txBody>
      </p:sp>
    </p:spTree>
    <p:extLst>
      <p:ext uri="{BB962C8B-B14F-4D97-AF65-F5344CB8AC3E}">
        <p14:creationId xmlns:p14="http://schemas.microsoft.com/office/powerpoint/2010/main" val="1733352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B9522-7C5D-4A7C-8B9B-F8ADCBC8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2F6A5-135E-4A08-B7DF-B4E55E16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一条客户线索，就是后续服务的入口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9FDDE-FA97-4594-AE76-6B6EA20B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先把“为谁做、房子在哪里、现在进行到哪一步”说清楚，再进入量房与设计。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ABF2B-AAB5-43E0-8DDD-FE75D55F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D1B56-A392-46B2-A715-EAB490B0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b8bde187d48f4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2916a21d6460a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AFD00-B502-4C7F-A748-4B93ACC1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33310-5B1F-4AFC-9A32-1BE19B1D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EBF0F-1A9B-4AE3-8AB8-E27680B9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建立完整档案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02F6E-A2E3-4269-B9C9-0852E111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记录称呼、电话、小区、面积和偏好。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75DDC-79F5-492D-89BE-C2D4CA0B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AC88F-219B-4F2B-AF1C-083E393F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关联核心成果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DC8AD-0E1D-411A-A353-58EE8E8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同一客户下查看正式户型、设计方案和更新时间。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04D0D-8E7D-4B6F-B8FA-FE6C730C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9E052-D666-4EE7-9442-8376FF86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找到下一步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AE757-A3FB-4143-9D25-B55BE7C6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通过搜索与客户阶段筛选，定位需要继续处理的客户。</a:t>
            </a:r>
          </a:p>
        </p:txBody>
      </p:sp>
    </p:spTree>
    <p:extLst>
      <p:ext uri="{BB962C8B-B14F-4D97-AF65-F5344CB8AC3E}">
        <p14:creationId xmlns:p14="http://schemas.microsoft.com/office/powerpoint/2010/main" val="1882992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B4C41-42E7-4E12-8D0E-966C269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A3CA2-567F-4407-BC44-C4804F16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现场量房的成果，是一份可继续使用的正式户型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CA241-2FA8-4D31-9339-62BF519F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设备只是输入方式；真正重要的是墙体、门窗、尺寸与闭合空间被保存到客户档案。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5780F-4298-4376-A9FC-504C2787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EA26A-D8DB-4230-A10D-9620453C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ead791b844527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cc276f7c14da8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4e332214947b5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5F8A0-DC3E-4676-9BEA-08D545B2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D9EED-FA52-4DCA-9CF7-58C4835F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F0261-68C3-48ED-81CB-15A91037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38867-6987-440A-99A4-71308D8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860AC-31A1-4A55-9A11-CF39D741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78C92-B5CC-4C1F-932B-75E4D46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32E72-13E2-4246-AF4F-DD04429C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C0956-76D1-41F5-83EF-75A5182C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85929-993B-43F6-BA4D-65849F2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</a:t>
            </a:r>
          </a:p>
        </p:txBody>
      </p:sp>
    </p:spTree>
    <p:extLst>
      <p:ext uri="{BB962C8B-B14F-4D97-AF65-F5344CB8AC3E}">
        <p14:creationId xmlns:p14="http://schemas.microsoft.com/office/powerpoint/2010/main" val="1662403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4A83F1-D9DA-4FB1-BBE8-B2F51A3F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正式户型复用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DA3DF-621A-46F7-88AE-CAA5F536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同一份正式户型，继续服务多个后续场景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D4006-47AB-495F-B3C1-DEC8ADF7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查看、导出、2D/3D 与 AI 都从正式墙图派生，不再维护容易偏离的户型副本。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9ED03-ECE9-4C28-BCA7-5D527E29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正式户型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C4AE8-A140-438E-BF07-D52D99ED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60EDA-DAAB-49B2-8C3A-F0D282B8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286250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eb270536743de"/>
          <a:stretch xmlns:a="http://schemas.openxmlformats.org/drawingml/2006/main"/>
        </p:blipFill>
        <p:spPr>
          <a:xfrm xmlns:a="http://schemas.openxmlformats.org/drawingml/2006/main">
            <a:off x="899336" y="2457450"/>
            <a:ext cx="3516279" cy="2724150"/>
          </a:xfrm>
          <a:prstGeom xmlns:a="http://schemas.openxmlformats.org/drawingml/2006/main" prst="roundRect">
            <a:avLst>
              <a:gd name="adj" fmla="val 839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9455C-8F51-4B58-A954-0E3D593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3105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3E541-AE2D-4F1A-9889-A79F6D2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162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正式户型 = 统一空间依据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C3059-F3A7-47DC-9128-89FC2A50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81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E60F7-300D-4302-81C9-86FD4AFE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95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DD630-8653-4097-82EA-BE252494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FC55E-44E6-4E60-B55E-10011673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050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查看量房状态、闭合空间数与更新时间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9F5F8-4AC8-430D-8856-50987E78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76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0DEBC-0232-407F-B56C-5512315E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12ED0-BF10-473A-9449-9B9DA92E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384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管理后台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96D1D-56E7-4E16-BF1F-C98CF348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集中查看正式户型与测量记录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62A78-4BE8-4CBD-B830-9AFECDCD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D1012-3428-435A-9BEA-69AF9683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862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F0111-CDE2-4E91-A3BB-B8CE41A9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338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2D / 3D / DXF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0F6FE-ED4D-4DB3-8ABB-9A70877B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957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完整且受支持时用于查看与下载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70C24-C1EA-46BC-B7EF-B50A7DA0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67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6A641-BB93-44B0-896C-72D29227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815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8D667-2181-4D40-A03E-57509747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291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D9BDD-225A-4319-9EA5-DBBCDAFB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从同一份正式户型派生整屋或单空间依据</a:t>
            </a:r>
          </a:p>
        </p:txBody>
      </p:sp>
    </p:spTree>
    <p:extLst>
      <p:ext uri="{BB962C8B-B14F-4D97-AF65-F5344CB8AC3E}">
        <p14:creationId xmlns:p14="http://schemas.microsoft.com/office/powerpoint/2010/main" val="51300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1C4BE-A36C-4FE6-B720-1039370F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AI 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4DE0C-C611-4DAD-8DC2-E5699F56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设计承接客户与空间，不是一次孤立生图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75E18-56C5-4334-A97D-6587EDBB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选择客户、正式户型和目标空间，再用真实任务名称创建、查看、保存、分享或继续优化。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49390-7297-4482-854F-2E7C597A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BF52A-37FC-44FB-97A5-7325480F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9b6665af54b52"/>
          <a:srcRect xmlns:a="http://schemas.openxmlformats.org/drawingml/2006/main" l="0" t="15568" r="0" b="15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14550"/>
            <a:ext cx="2400300" cy="35814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f145c90cd4ee3"/>
          <a:srcRect xmlns:a="http://schemas.openxmlformats.org/drawingml/2006/main" l="0" t="15490" r="0" b="15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114550"/>
            <a:ext cx="2400300" cy="35814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b51e679744b6d"/>
          <a:srcRect xmlns:a="http://schemas.openxmlformats.org/drawingml/2006/main" l="0" t="15490" r="0" b="15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2114550"/>
            <a:ext cx="2400300" cy="35814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48EF9-23DD-459E-A2C6-C2B0305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3162300" cy="3581400"/>
          </a:xfrm>
          <a:prstGeom xmlns:a="http://schemas.openxmlformats.org/drawingml/2006/main" prst="roundRect">
            <a:avLst>
              <a:gd name="adj" fmla="val 783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8D9A5-0DC5-4E87-BB4D-D8DFC38B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四类真实任务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96676-A4EC-46E5-B545-878842D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AD8FE-C6EE-485F-BEE5-81E2D939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rPr>
              <a:t>参考图复刻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A950E-83F8-4B9E-9479-C38D5973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4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404AC-986A-4A2F-9D82-0DD5D990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rPr>
              <a:t>空间换风格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EC802-EC6C-41B0-A5B5-0265365B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A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254C4-6728-4D0D-B7A4-4CA11039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7192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rPr>
              <a:t>户型生成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32762-6D90-44E3-B041-29CBA6BF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8150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4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E0B4A-2677-49BA-AD69-68FCAD03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48175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DF8E7"/>
                </a:solidFill>
                <a:latin typeface="Microsoft YaHei"/>
                <a:ea typeface="Microsoft YaHei"/>
                <a:cs typeface="Microsoft YaHei"/>
              </a:rPr>
              <a:t>软装深化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99844-EA51-4180-A6A3-937C1B18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2590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674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03AA0-FA91-4FF3-9EC4-94558263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62550"/>
            <a:ext cx="2590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C4DE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4DED3"/>
                </a:solidFill>
                <a:latin typeface="Microsoft YaHei"/>
                <a:ea typeface="Microsoft YaHei"/>
                <a:cs typeface="Microsoft YaHei"/>
              </a:rPr>
              <a:t>边界：结果用于概念表达和客户沟通，不替代施工图或工程交付。</a:t>
            </a:r>
          </a:p>
        </p:txBody>
      </p:sp>
    </p:spTree>
    <p:extLst>
      <p:ext uri="{BB962C8B-B14F-4D97-AF65-F5344CB8AC3E}">
        <p14:creationId xmlns:p14="http://schemas.microsoft.com/office/powerpoint/2010/main" val="2003166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84AC6-7D2D-4681-91D4-C6AFC613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团队接续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334BA-2EB7-4827-9AA5-77BA36E9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三个角色围绕同一客户接力，不重复建档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A8BBD-2809-48E2-BEE0-72315178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任务、通知与获客确认只是交接机制；客户阶段仍按业务推进独立更新。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D792A-C82F-4743-9ADF-EC08961F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团队跟进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EB3B5-BADC-4E98-B42A-713B48C2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080A9-854D-4EEE-BD56-2120DE98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F54BD-9125-4FD6-86DC-F6A723FF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9F16F-9327-4E79-8175-F1D9FC9A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6BAD5-1493-449F-976B-D9CE6D83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81F0D-76DC-4BD3-9C85-BECBBF19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CDC42-42CD-437D-B78C-513441B4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建立或接收客户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4DE17-5B42-4EF0-A5C3-F75FBE4C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91671-68E6-45E2-BADA-CD98B936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6E6C4-35B2-44B3-914F-8D5DD5EE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CBC65-07EF-48EE-92BA-7825E9C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7B630-71E4-4760-BB0E-B633CD99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6527C-012E-4301-AEB4-0A48416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AC6BE-0414-407C-B105-0DAB1F45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接收客户与空间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F9419-C5D7-4A2C-BC1D-0C5110F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C45C8-84B0-4DCA-8C75-9E1994FD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承接：不重新建档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5762D-9EC5-403B-AD89-E5126708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755F5-367A-46D4-ABD6-50EBFC42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09E68-0252-4540-855C-CAE0CAF9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479DF-5D6C-46CA-93D8-84442CFD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BEF1F-B5B2-4CB1-8FDA-C4B27F36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管理成员与权限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查看进展与配置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F4011-33AC-4811-B1A9-77923921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527BE-A289-43C0-8C8E-3C97A5B0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保障：角色能完成工作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D2C73-2C35-417B-9551-3C43151F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01269A-39F5-4FA3-846D-CFDC3182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获客确认与提成独立记录，不改变客户处于量房或设计的业务阶段。</a:t>
            </a:r>
          </a:p>
        </p:txBody>
      </p:sp>
    </p:spTree>
    <p:extLst>
      <p:ext uri="{BB962C8B-B14F-4D97-AF65-F5344CB8AC3E}">
        <p14:creationId xmlns:p14="http://schemas.microsoft.com/office/powerpoint/2010/main" val="2100960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EC850C-6EA5-4FA1-BA7B-E0F89CAF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两端分工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7FB78-5E65-4D16-ABDE-E9A85B46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小程序跑现场，企业后台管组织与全局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D13D9-0B71-46EB-9103-DD0D83B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两端共享同一企业与客户上下文，但分别服务高频执行和集中管理。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6FCB2-5504-4E9C-880A-61227A03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2CDF-1B2C-4F7B-81C9-A9C6C7E1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89B7D-A8B0-4397-82C9-43B845C3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E4D2F-7EA2-4AB4-BAA5-074C62EA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739B9-879C-4EBF-B2EA-7EC24A24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高频执行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c694475564808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09E1A-A7A0-413F-96B3-5CE6D93A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12B1D-C987-486E-81DF-C66BCD23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B5AA5-424E-4566-B2CA-C873A991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录入客户、进入正式量房、查看个人待办。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91321-A2C0-4806-B471-16181C0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F960C-E4D5-4F6B-86E3-EBB85ACD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设计与结果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925ED-346E-443F-A760-5DD90F46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创建 AI 任务、查看结果并继续优化。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0B9EF-35B2-46D1-B4BA-892E2E5E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1AD8B-8E0D-4BE3-B6E7-24CF152E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1A1F5-5BE6-4D0F-B63E-4CB2C16A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集中管理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2D77E-2556-419C-A1E4-8ACA5C60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1167D-48FF-4D87-A0F6-B6E0BDCB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FCC83-B3EA-4C37-818D-C537F23E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组织与权限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296C4-2C46-4149-BC74-1FDCB0E1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成员、岗位与访问范围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B417E-9C23-40E5-9D25-8344703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2B8357-664A-4729-80D4-EABE5945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BE670-0E16-493F-B1CE-9AD780B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客户与户型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A1C1DC-5B0F-4E82-87C6-36A6D6F8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正式户型、测量记录与进展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E8DA8-646C-4B89-A440-FF9468D0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4913B5-7983-4C57-B938-46EE9D6A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276D9B-5409-4B25-B522-4BF49ACC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9621E-6F56-498E-A40A-7C006D18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AI、点数、设备与通知能力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2FE4AF-1224-4A8C-8CAF-9D85C44F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不重复建档，只保留客户企业内部的组织、资产与服务配置。</a:t>
            </a:r>
          </a:p>
        </p:txBody>
      </p:sp>
    </p:spTree>
    <p:extLst>
      <p:ext uri="{BB962C8B-B14F-4D97-AF65-F5344CB8AC3E}">
        <p14:creationId xmlns:p14="http://schemas.microsoft.com/office/powerpoint/2010/main" val="5270018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562291-FAE6-4C44-8D84-124C696D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使用条件与产品边界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917C0-F55B-4ADA-8675-C92E54D2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把条件讲清楚，客户才知道何时可以继续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A55A4-E788-4EAF-9FA4-9DFAD193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把前置条件集中说明，避免客户把有条件能力理解为随时可用。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F295B-638D-4D9B-A7D9-42CBCE8E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8F4DF-5418-46F4-BD02-8E3146B0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949FE-F360-4FCD-99E2-B848E7CB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BE8E7-7F35-4CB3-9D7D-092EA3B9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账号与连接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41DD2-DD93-4393-A609-C3DD7E98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正式量房保存需要有效账号和服务连接。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B76DF-14BA-4E83-91C0-4CCDDC2B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29D22-92F6-48C1-89ED-B3669CCE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E6173-C47C-42D8-8E32-E4173F92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457D5-210B-4E7B-8D9D-54982A63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蓝牙设备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F1769-DB68-4C16-81FF-65DB26F1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可选能力；设备需兼容、已分配并通过授权。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4E2B0-0039-497F-A4E7-5BCE6C00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F1132-691E-47D1-B752-E0D883D4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EB693-14DE-49F0-8DD2-9FF741DF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370BE-D933-4835-81F1-D4B04A8D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户型完整性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28928-4776-4404-B718-B9085637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有效墙体与闭合空间是对应 AI 流程的前提。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E1BF4-8C6D-4F11-AEC2-2537BFDD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5A78B-8104-4AC1-B834-82307A3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AC0B0-6EE4-4D17-BA96-E2A70903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F9030-BF35-4DC6-B870-7F8C756C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CF083-929A-42FC-9210-7E445B45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需要企业权限、可用点数与有效服务配置。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CBA77-6E47-4B17-9FD4-D524FC3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5066C-137B-4189-90FB-8153A284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FFE4C-2531-419C-9669-53182686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43BA3-DD80-4BDC-8121-A08AF459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23382-A43F-407C-A330-22F1C055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AI 输出是概念方案，不是施工图。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E84E34-F793-43D8-817C-50395EC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E81EF-4BB2-4D66-B2CB-E397DD28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A42510-57D2-4DB8-B0B1-53B1ACAA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6DF5F-EFB8-40CA-9E7A-8B5C1AA6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数据权限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1512CF-7E95-49C2-B52C-CA833695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员工只访问企业及本人权限范围内的数据。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821121-618E-4428-AAAD-81DE7A35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F566BA-04C3-41FA-8C2C-07C3667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40206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cfb128dc44241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065C0-ED44-43E9-A4B1-3DD2986D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真实演示路径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1428D-1845-43B0-8D87-9A9532FF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用同一位客户，现场验证完整闭环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16ACF-6F37-4885-BD84-B676EA31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B61F2-C762-43C9-ABBF-999C180B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81627-B036-4CD9-84C6-E37E1F65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0A5F1-2BD2-4DC7-87DA-3CD0A93D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创建客户线索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72C7C-6746-4FCE-814D-283F9CF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BFE0D-A11E-43DA-B6D6-A8D120D1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B029E-A188-4905-8F33-69094B0F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E5EB1-1C04-4628-9F13-A1DB0AC1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E497B-7F43-46F3-974C-8CB3524C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5B496-3665-4643-8F66-524E3D26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保存闭合空间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5D293-9DDB-4644-A559-753B6D89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74A17-A98E-4797-A542-7E77CDCE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2C201-BE09-4BB1-A8DA-B60E792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1E5F1-8265-4674-9690-91E294DD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589EB-377D-4FC0-A11A-572D0692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658CA-8648-4D6D-8677-F3DBD70E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查看结果与历史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0C6AE-7A19-4974-A5E3-9B2D5BA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5C01A-29B7-4F9F-A5F2-B7A3E7F1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E1912-4ADF-4F44-935A-2D2CB482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切换角色验权限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A4F3D-17B4-46A5-BD83-ED53B15C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3F0A6-6AB5-40A8-8090-5D53A3F5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从一条客户线索开始，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4B53B-D629-453B-A30A-E1CDBA23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把现场量房变成可继续使用的空间资产，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再把空间资产变成可沟通、可优化的设计方案。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22E08B-B537-4162-AEB2-7F63C5EC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客户演示稿  ·  2026.08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B2AE3-9F25-4FFC-A010-A08A9A8B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5930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2026-08-12T12:36:42.7530000Z</dcterms:created>
  <dcterms:modified xsi:type="dcterms:W3CDTF">2026-08-12T12:36:42.7530000Z</dcterms:modified>
</coreProperties>
</file>
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3328d2566d42ae" /><Relationship Type="http://schemas.openxmlformats.org/officeDocument/2006/relationships/extended-properties" Target="/docProps/app.xml" Id="R403e90eb781c4f9f" /><Relationship Type="http://schemas.openxmlformats.org/officeDocument/2006/relationships/officeDocument" Target="/ppt/presentation.xml" Id="Rc4b9f9fa417b4d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eb2e9738d54242"/>
  </p:sldMasterIdLst>
  <p:notesMasterIdLst>
    <p:notesMasterId xmlns:r="http://schemas.openxmlformats.org/officeDocument/2006/relationships" r:id="Rd4243d972e4646e0"/>
  </p:notesMasterIdLst>
  <p:sldIdLst>
    <p:sldId xmlns:r="http://schemas.openxmlformats.org/officeDocument/2006/relationships" id="256" r:id="R4072f77ae61848e8"/>
    <p:sldId xmlns:r="http://schemas.openxmlformats.org/officeDocument/2006/relationships" id="257" r:id="Rb8081faac5f443ee"/>
    <p:sldId xmlns:r="http://schemas.openxmlformats.org/officeDocument/2006/relationships" id="258" r:id="R27c3b233fde346af"/>
    <p:sldId xmlns:r="http://schemas.openxmlformats.org/officeDocument/2006/relationships" id="259" r:id="R8d5a8d4a67974e84"/>
    <p:sldId xmlns:r="http://schemas.openxmlformats.org/officeDocument/2006/relationships" id="260" r:id="Rf1e393fe747b41c4"/>
    <p:sldId xmlns:r="http://schemas.openxmlformats.org/officeDocument/2006/relationships" id="261" r:id="R005fc10e87ee445d"/>
    <p:sldId xmlns:r="http://schemas.openxmlformats.org/officeDocument/2006/relationships" id="262" r:id="R0b727110c951437b"/>
    <p:sldId xmlns:r="http://schemas.openxmlformats.org/officeDocument/2006/relationships" id="263" r:id="R9b3af8ff9ee34fe3"/>
    <p:sldId xmlns:r="http://schemas.openxmlformats.org/officeDocument/2006/relationships" id="264" r:id="Re85ed92d9a2844af"/>
    <p:sldId xmlns:r="http://schemas.openxmlformats.org/officeDocument/2006/relationships" id="265" r:id="R4ec27053097f4b73"/>
    <p:sldId xmlns:r="http://schemas.openxmlformats.org/officeDocument/2006/relationships" id="266" r:id="R37abafda8bc44263"/>
    <p:sldId xmlns:r="http://schemas.openxmlformats.org/officeDocument/2006/relationships" id="267" r:id="R05fc10831a6f4e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00dae4e5a6428a" /><Relationship Type="http://schemas.openxmlformats.org/officeDocument/2006/relationships/slideMaster" Target="/ppt/slideMasters/slideMaster1.xml" Id="Re3eb2e9738d54242" /><Relationship Type="http://schemas.openxmlformats.org/officeDocument/2006/relationships/notesMaster" Target="/ppt/notesMasters/notesMaster1.xml" Id="Rd4243d972e4646e0" /><Relationship Type="http://schemas.openxmlformats.org/officeDocument/2006/relationships/presProps" Target="/ppt/presProps.xml" Id="R21dd2e06b77b4092" /><Relationship Type="http://schemas.openxmlformats.org/officeDocument/2006/relationships/tableStyles" Target="/ppt/tableStyles.xml" Id="Rd5f0d3271f6046f1" /><Relationship Type="http://schemas.openxmlformats.org/officeDocument/2006/relationships/slide" Target="/ppt/slides/slide1.xml" Id="R4072f77ae61848e8" /><Relationship Type="http://schemas.openxmlformats.org/officeDocument/2006/relationships/slide" Target="/ppt/slides/slide2.xml" Id="Rb8081faac5f443ee" /><Relationship Type="http://schemas.openxmlformats.org/officeDocument/2006/relationships/slide" Target="/ppt/slides/slide3.xml" Id="R27c3b233fde346af" /><Relationship Type="http://schemas.openxmlformats.org/officeDocument/2006/relationships/slide" Target="/ppt/slides/slide4.xml" Id="R8d5a8d4a67974e84" /><Relationship Type="http://schemas.openxmlformats.org/officeDocument/2006/relationships/slide" Target="/ppt/slides/slide5.xml" Id="Rf1e393fe747b41c4" /><Relationship Type="http://schemas.openxmlformats.org/officeDocument/2006/relationships/slide" Target="/ppt/slides/slide6.xml" Id="R005fc10e87ee445d" /><Relationship Type="http://schemas.openxmlformats.org/officeDocument/2006/relationships/slide" Target="/ppt/slides/slide7.xml" Id="R0b727110c951437b" /><Relationship Type="http://schemas.openxmlformats.org/officeDocument/2006/relationships/slide" Target="/ppt/slides/slide8.xml" Id="R9b3af8ff9ee34fe3" /><Relationship Type="http://schemas.openxmlformats.org/officeDocument/2006/relationships/slide" Target="/ppt/slides/slide9.xml" Id="Re85ed92d9a2844af" /><Relationship Type="http://schemas.openxmlformats.org/officeDocument/2006/relationships/slide" Target="/ppt/slides/slide10.xml" Id="R4ec27053097f4b73" /><Relationship Type="http://schemas.openxmlformats.org/officeDocument/2006/relationships/slide" Target="/ppt/slides/slide11.xml" Id="R37abafda8bc44263" /><Relationship Type="http://schemas.openxmlformats.org/officeDocument/2006/relationships/slide" Target="/ppt/slides/slide12.xml" Id="R05fc10831a6f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1aaf33c9444a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b049ebb6364c7d" /><Relationship Type="http://schemas.openxmlformats.org/officeDocument/2006/relationships/notesMaster" Target="/ppt/notesMasters/notesMaster1.xml" Id="Rd29ac843acaa4d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613b4acc734142" /><Relationship Type="http://schemas.openxmlformats.org/officeDocument/2006/relationships/notesMaster" Target="/ppt/notesMasters/notesMaster1.xml" Id="R6b36584e0b3d47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ca0a4bf8c94c82" /><Relationship Type="http://schemas.openxmlformats.org/officeDocument/2006/relationships/notesMaster" Target="/ppt/notesMasters/notesMaster1.xml" Id="R5e3001fc26ce47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0881c9bdbc45e2" /><Relationship Type="http://schemas.openxmlformats.org/officeDocument/2006/relationships/notesMaster" Target="/ppt/notesMasters/notesMaster1.xml" Id="R650c7b6361cf41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b831fa5fe544a3" /><Relationship Type="http://schemas.openxmlformats.org/officeDocument/2006/relationships/notesMaster" Target="/ppt/notesMasters/notesMaster1.xml" Id="R93d22fee20cc42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cd422605dc455b" /><Relationship Type="http://schemas.openxmlformats.org/officeDocument/2006/relationships/notesMaster" Target="/ppt/notesMasters/notesMaster1.xml" Id="R9a29d2edfdd740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73e8fd435b40ac" /><Relationship Type="http://schemas.openxmlformats.org/officeDocument/2006/relationships/notesMaster" Target="/ppt/notesMasters/notesMaster1.xml" Id="Rac2c404bbab341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54b2356fa1478b" /><Relationship Type="http://schemas.openxmlformats.org/officeDocument/2006/relationships/notesMaster" Target="/ppt/notesMasters/notesMaster1.xml" Id="Rac9c9c53f73e4b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c57f773e4942a4" /><Relationship Type="http://schemas.openxmlformats.org/officeDocument/2006/relationships/notesMaster" Target="/ppt/notesMasters/notesMaster1.xml" Id="Re6881b2d96fa48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15e6e694cc45ea" /><Relationship Type="http://schemas.openxmlformats.org/officeDocument/2006/relationships/notesMaster" Target="/ppt/notesMasters/notesMaster1.xml" Id="R455acaa0dd0f47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7f0117796e4400" /><Relationship Type="http://schemas.openxmlformats.org/officeDocument/2006/relationships/notesMaster" Target="/ppt/notesMasters/notesMaster1.xml" Id="Rc88d606c47e44b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0d68d9958944ca" /><Relationship Type="http://schemas.openxmlformats.org/officeDocument/2006/relationships/notesMaster" Target="/ppt/notesMasters/notesMaster1.xml" Id="R94914ac179a945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Brand visuals extracted from the local source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Brand illustration extracted from source slide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Product screenshots extracted from source slide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Formal surveying screenshots extracted from source slide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Formal floor-plan illustration extracted from source slide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AI workbench screenshots extracted from source slide 11; task names verified against current code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Role and acquisition boundaries verified against measurer–designer acquisition contract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Mini Program screenshot extracted from source slide 9; admin responsibilities verified against current module inventory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Capability boundaries verified against current Mini Program, admin, formal surveying, and AI module 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23687b81c4b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005b24a7d344fb" /><Relationship Type="http://schemas.openxmlformats.org/officeDocument/2006/relationships/slideLayout" Target="/ppt/slideLayouts/slideLayout1.xml" Id="Rd322df98066c42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22df98066c42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78445692e4af5" /><Relationship Type="http://schemas.openxmlformats.org/officeDocument/2006/relationships/image" Target="/ppt/media/image.png" Id="Rab77b51588f84e31" /><Relationship Type="http://schemas.openxmlformats.org/officeDocument/2006/relationships/image" Target="/ppt/media/image2.png" Id="R385f148a30e346af" /><Relationship Type="http://schemas.openxmlformats.org/officeDocument/2006/relationships/notesSlide" Target="/ppt/notesSlides/notesSlide1.xml" Id="R7128d43c2e164d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ee685be8749a1" /><Relationship Type="http://schemas.openxmlformats.org/officeDocument/2006/relationships/image" Target="/ppt/media/image3.png" Id="Rb684b5b0a6574323" /><Relationship Type="http://schemas.openxmlformats.org/officeDocument/2006/relationships/notesSlide" Target="/ppt/notesSlides/notesSlide2.xml" Id="R27ae1245a37647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bea29f8b4404b" /><Relationship Type="http://schemas.openxmlformats.org/officeDocument/2006/relationships/notesSlide" Target="/ppt/notesSlides/notesSlide3.xml" Id="Rbf919331104a48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5ab236cc64696" /><Relationship Type="http://schemas.openxmlformats.org/officeDocument/2006/relationships/notesSlide" Target="/ppt/notesSlides/notesSlide4.xml" Id="R9b11577fbe8541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a3a0189524a4b" /><Relationship Type="http://schemas.openxmlformats.org/officeDocument/2006/relationships/image" Target="/ppt/media/image4.png" Id="R93f685b758ec4a98" /><Relationship Type="http://schemas.openxmlformats.org/officeDocument/2006/relationships/image" Target="/ppt/media/image5.png" Id="R304b1b6ba3934f86" /><Relationship Type="http://schemas.openxmlformats.org/officeDocument/2006/relationships/notesSlide" Target="/ppt/notesSlides/notesSlide5.xml" Id="R35ba5c9bee2841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bf561b9604015" /><Relationship Type="http://schemas.openxmlformats.org/officeDocument/2006/relationships/image" Target="/ppt/media/image6.png" Id="Rc6b7202060d34db4" /><Relationship Type="http://schemas.openxmlformats.org/officeDocument/2006/relationships/image" Target="/ppt/media/image7.png" Id="Rfcd2beb091a24683" /><Relationship Type="http://schemas.openxmlformats.org/officeDocument/2006/relationships/image" Target="/ppt/media/image8.png" Id="Rc526f43f2f294a4f" /><Relationship Type="http://schemas.openxmlformats.org/officeDocument/2006/relationships/notesSlide" Target="/ppt/notesSlides/notesSlide6.xml" Id="Raeadeeb700b744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141820ef7414e" /><Relationship Type="http://schemas.openxmlformats.org/officeDocument/2006/relationships/image" Target="/ppt/media/image9.png" Id="Rc33cbbe097a14053" /><Relationship Type="http://schemas.openxmlformats.org/officeDocument/2006/relationships/notesSlide" Target="/ppt/notesSlides/notesSlide7.xml" Id="Rad40869e134847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2e70921b8401d" /><Relationship Type="http://schemas.openxmlformats.org/officeDocument/2006/relationships/image" Target="/ppt/media/image10.png" Id="R3c49f3dd06084318" /><Relationship Type="http://schemas.openxmlformats.org/officeDocument/2006/relationships/image" Target="/ppt/media/image11.png" Id="R6b982b145c114986" /><Relationship Type="http://schemas.openxmlformats.org/officeDocument/2006/relationships/image" Target="/ppt/media/image12.png" Id="R9221676ed5d34586" /><Relationship Type="http://schemas.openxmlformats.org/officeDocument/2006/relationships/notesSlide" Target="/ppt/notesSlides/notesSlide8.xml" Id="R06b21d147f2d46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4451e5f4744a9" /><Relationship Type="http://schemas.openxmlformats.org/officeDocument/2006/relationships/notesSlide" Target="/ppt/notesSlides/notesSlide9.xml" Id="Rec0cd78c226d49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824c85279429f" /><Relationship Type="http://schemas.openxmlformats.org/officeDocument/2006/relationships/image" Target="/ppt/media/image13.png" Id="Rc2a137a16ca64e7f" /><Relationship Type="http://schemas.openxmlformats.org/officeDocument/2006/relationships/notesSlide" Target="/ppt/notesSlides/notesSlide10.xml" Id="Rcc05b01e8d6b46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4cc8aa27f4a15" /><Relationship Type="http://schemas.openxmlformats.org/officeDocument/2006/relationships/notesSlide" Target="/ppt/notesSlides/notesSlide11.xml" Id="R6952e79936f94f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8814755f248be" /><Relationship Type="http://schemas.openxmlformats.org/officeDocument/2006/relationships/image" Target="/ppt/media/image14.png" Id="Rbd806592b52d41f8" /><Relationship Type="http://schemas.openxmlformats.org/officeDocument/2006/relationships/notesSlide" Target="/ppt/notesSlides/notesSlide12.xml" Id="R17c7f6341e9f41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9AB54-D262-4775-A8ED-68221126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7b51588f84e31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f148a30e346af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5D1DD-A82D-4F1C-A1A6-B470BF15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ACFDB-D070-4080-BA54-A0F40C6E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5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从客户建档到设计方案，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让家装服务连续推进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F1900-46FF-44A8-B6CD-824CEC32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BCDB6-1E13-4B00-9F52-0A37FAEA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家客来连接客户档案、正式量房、AI 设计与团队跟进。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7A5EA-8D7A-46D7-8A89-1E5BBCF8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CA98E-1961-4474-8960-556E8151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客户档案  ·  正式户型  ·  设计方案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AEDC8-8FAA-4AE9-AE3D-A3493783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客户演示稿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1921782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F0D56-19E4-410D-8605-2CAA86F5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家客来是什么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67270-5C38-41AA-B11F-E1F63E14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一套围绕同一位客户持续工作的协作工具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307FD-87D3-47F2-A575-444D2F86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量房师、设计师和企业管理者使用同一份客户与空间资料，各自完成职责内的下一步。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6EF32-7189-42EC-9F4F-942A47D9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BBDBE-872C-4741-90A2-CCCC3EAD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E752D-2AC4-4641-985E-6AC147EF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5810250" cy="37719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1BB75-B328-4CBA-87D0-840F65C9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4536A-178C-4399-BFC6-F362924A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谁使用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4FF84-6B35-4EB5-80D7-6DAA0B8B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家装企业的量房师、设计师和企业管理者。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2F14E-8383-4B29-BDB1-34BB9E4C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4F7C3-9269-4D91-8304-2BD5643F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5A453-F0B0-442F-9413-F37ED161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客户资料、正式户型、设计方案和客户阶段。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67599-1EB5-4FC0-B857-655B84A8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16CC2-C314-49A1-A7F3-4A2B35D0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带来什么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6FE8B-E8EA-459D-A6D7-86F31EDF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后一个岗位直接使用前一个岗位的成果，减少重复确认与重新录入。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4b5b0a6574323"/>
          <a:srcRect xmlns:a="http://schemas.openxmlformats.org/drawingml/2006/main" l="0" t="5383" r="0" b="5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019300"/>
            <a:ext cx="4762500" cy="3886200"/>
          </a:xfrm>
          <a:prstGeom xmlns:a="http://schemas.openxmlformats.org/drawingml/2006/main" prst="roundRect">
            <a:avLst>
              <a:gd name="adj" fmla="val 6863"/>
            </a:avLst>
          </a:prstGeom>
        </p:spPr>
      </p:pic>
    </p:spTree>
    <p:extLst>
      <p:ext uri="{BB962C8B-B14F-4D97-AF65-F5344CB8AC3E}">
        <p14:creationId xmlns:p14="http://schemas.microsoft.com/office/powerpoint/2010/main" val="1085892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56C25-41C6-4D3D-8CE9-14A851C2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6D8F9-552C-48B0-911C-7C3A6517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问题不在工具少，而在工作成果经常断开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97431-E056-489B-A279-7E78D0CD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客户资料、现场尺寸、设计依据和跟进责任一旦分散，团队就会反复确认同一件事。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01A6B-E86D-4EDB-A2F3-3FB44578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ED7AC-DA4A-4AAD-BA2E-8187381E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C7B3A-C250-4BA8-A78C-5946D133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FB815-2B59-4B9F-858B-805F3BFD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F7E5B-0276-4B16-8CFF-0313AD81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EBADA-17C0-4F86-9B08-24BF28CF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C073B-2B54-4412-8DB3-1CFA3620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个人微信、纸张和表格彼此分离，团队无法共享完整上下文。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C8666-7172-492C-8A7F-865B23E0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F4335-1DD6-43FE-B9BD-ABD8E081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C1186-1585-4FD8-A42E-2D344FE4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9A0D1-5A17-4BA5-8EEF-20A7F024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手抄、拍照、转述后再录入，正式空间依据难以延续。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473F1-633C-41D3-927A-80D62140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5291A-8C0D-4EB8-AF71-D53FB1F1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D1039-6350-4A95-8D71-61BDB222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设计接手仍要重问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B84D6-CB85-442B-8D3A-36D4CAFE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客户需求与户型信息没有连起来，设计师只能重新确认。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52097-5844-49A7-B231-54F90F46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E6C61-8649-44F3-A54A-5BF2ADD1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362C8-126F-4445-9E26-C1CCE2D0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管理者看不见下一步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6733B-20D9-4111-A99A-76B9A53A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客户卡在哪一步、由谁接手、产出了什么都不够清晰。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543FC-4E78-4F4F-B4A3-0CDB9D98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19667-9A47-4775-A96B-ADB3502A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家客来把断开的工作接起来：每一步都留下可继续使用的成果。</a:t>
            </a:r>
          </a:p>
        </p:txBody>
      </p:sp>
    </p:spTree>
    <p:extLst>
      <p:ext uri="{BB962C8B-B14F-4D97-AF65-F5344CB8AC3E}">
        <p14:creationId xmlns:p14="http://schemas.microsoft.com/office/powerpoint/2010/main" val="1823721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1DECCD-501A-4B1E-8970-98B64E70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单一客户主线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A9379-FAE8-4C76-8F5E-0E8F7B25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张女士的装修需求，沿一条路径持续推进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C006C-DEBF-467A-A5E7-79CE5A38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这条路径是整套演示的导航：每一步同时明确负责人和产生的成果。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E91A2-84EF-4F2B-BA67-8A35D59A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25B65-F2D4-460E-9D4B-BA4E5A56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043F5-2203-4858-BF38-BD205217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4170F-0A77-495B-BE9B-A662CA2F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8D6CE-8E41-4033-91B7-844DA9BF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7A82D-8B20-40E2-B8ED-5D6FFBEE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9CB5C-80F2-4E2C-AF17-404B138D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340FB-73F8-4262-9CA5-191673A9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2D6F2-4A0C-4F22-B5C2-F662D659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A3B28-994E-466C-9E6E-3CCC8087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91114-999C-47CF-9876-20C87055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213C1-11E5-4DD7-8756-2617FF8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E2841-9F3F-4A84-9EE1-9CCC71A1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75598-3A4C-4A6F-8836-8E0C5047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D340A-011F-4F4C-87D3-BADA198C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F6AE97-C5CA-4C14-A385-7D9E26B4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4A924-90D0-4966-9EDB-ED42857D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423E1-E404-44F1-9D39-579DF3EC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91464-3D6E-497B-90B0-718EAD8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36EDB-0497-4988-B9C8-07407722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6541D-52C9-4E15-8328-129A604E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50617-BDED-4F45-B1A2-71A8A068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6E00C-C531-46F7-BA42-0D95F3F9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72835-54E9-43FC-831A-C8A83CDF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设计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45E8D-17FA-43B4-91AD-98C67C73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B9C46C-5F2B-4952-A06E-ACB6C106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A0C3BC-BB9E-45B0-B6E9-5711CD59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设计任务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ADCEE5-6955-4C5C-8206-F65F946D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F5FD34-741D-4F1B-9370-306EE89F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CE83C1-6618-43DC-86EA-1FAFDA2C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C13EAE-F7A8-4873-BB85-9C61A6A7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B13EC1-79A0-4FC3-BC4D-D6F9F516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F51AB1-80DB-4F13-A4E1-0BF49FA1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概念方案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AE8B5-AA1A-4838-BD2D-0216E096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3CABA8-89D3-4447-B044-F3A990C6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ACCD54-D0AF-4BF4-B2DB-4B6B2918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5A5BA3-A413-460D-A5A3-7E3E547E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9BA9E7-D9EE-4B04-8A18-7C413FD3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A725B0-1BE6-4E6B-BAD5-186B57D7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跟进记录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4BF2C5-FBA3-4D70-885C-8869E03E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6996CB-D6C9-4272-A6D4-9DAE6BD2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客户档案是入口  ·  正式户型是空间依据  ·  设计方案是沟通成果</a:t>
            </a:r>
          </a:p>
        </p:txBody>
      </p:sp>
    </p:spTree>
    <p:extLst>
      <p:ext uri="{BB962C8B-B14F-4D97-AF65-F5344CB8AC3E}">
        <p14:creationId xmlns:p14="http://schemas.microsoft.com/office/powerpoint/2010/main" val="1668118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A218B-7378-4C81-A52E-529EF610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F95FE-F361-42DE-86B4-586FDCA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一条客户线索，就是后续服务的入口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340ED-4ADB-4296-89D2-D57D90B4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先把“为谁做、房子在哪里、现在进行到哪一步”说清楚，再进入量房与设计。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7B13A-5C6C-4F08-B2D1-1688F6ED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D15C6-BFDE-4099-942A-C4136F90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685b758ec4a98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b1b6ba3934f86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8ACC6-144C-4748-9436-E816B205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4374D-BFC2-4A25-885E-C6190346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7BC08-23AF-4F72-8ED8-6A4A43B0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建立完整档案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321B3-6436-4B6C-8584-A49A1364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记录称呼、电话、小区、面积和偏好。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193DE-FCCE-4250-BD02-84C18D2F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DA104-5652-4C0A-BCCB-8B040DF4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关联核心成果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51622-4B1C-432D-BA59-0E22AC52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同一客户下查看正式户型、设计方案和更新时间。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51CCD-8C1B-4C3B-9BE5-F06C360D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A086D-7E4E-4970-831E-0BD62349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找到下一步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A0F3F-8F89-4DEF-BDE9-8F417F31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通过搜索与客户阶段筛选，定位需要继续处理的客户。</a:t>
            </a:r>
          </a:p>
        </p:txBody>
      </p:sp>
    </p:spTree>
    <p:extLst>
      <p:ext uri="{BB962C8B-B14F-4D97-AF65-F5344CB8AC3E}">
        <p14:creationId xmlns:p14="http://schemas.microsoft.com/office/powerpoint/2010/main" val="700277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8C74D-E2FF-4A07-B7BC-9705EBE3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744AB-3CB2-47D1-966C-3A04AF12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现场量房的成果，是一份可继续使用的正式户型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98EC7-C5C6-415D-89BF-4F809072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设备只是输入方式；真正重要的是墙体、门窗、尺寸与闭合空间被保存到客户档案。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D2038-2C28-425B-8986-CC1E526E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EABDC-550D-4B9A-8713-361EFD81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7202060d34db4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2beb091a24683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6f43f2f294a4f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D3AA6-F2DE-4AF3-8999-EFD27CF2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EE909-DB23-42AE-904A-710133E3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AAA67-76E7-4033-B4A3-670F2D71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1B5F4-4788-4BCB-B9C3-CF24F6D0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DD360-CFBF-4FD7-86EF-505EC420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B3922-B461-4C36-83EB-0B008EB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D5C91-7CA5-4052-A9F2-CF39097B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7B1F0-9AEB-42E7-A855-6EA4EA9D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147F3-9B91-495E-BFC1-EB1585DD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</a:t>
            </a:r>
          </a:p>
        </p:txBody>
      </p:sp>
    </p:spTree>
    <p:extLst>
      <p:ext uri="{BB962C8B-B14F-4D97-AF65-F5344CB8AC3E}">
        <p14:creationId xmlns:p14="http://schemas.microsoft.com/office/powerpoint/2010/main" val="2085258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A1E7D-639C-45B9-ADF7-1DB28BC6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正式户型复用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DA29C-82FB-4C14-99DF-DA8B5855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同一份正式户型，继续服务多个后续场景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FAF03-0160-40E2-8C5E-CFCBAF1C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查看、导出、2D/3D 与 AI 都从正式墙图派生，不再维护容易偏离的户型副本。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20B38-8367-47AC-A7C9-C3D18DDB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正式户型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8D3EF-AB0C-4613-9A0F-A43C85BE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99E03-3FAF-41F8-B768-60BFF3C1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4286250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cbbe097a14053"/>
          <a:stretch xmlns:a="http://schemas.openxmlformats.org/drawingml/2006/main"/>
        </p:blipFill>
        <p:spPr>
          <a:xfrm xmlns:a="http://schemas.openxmlformats.org/drawingml/2006/main">
            <a:off x="899336" y="2457450"/>
            <a:ext cx="3516279" cy="2724150"/>
          </a:xfrm>
          <a:prstGeom xmlns:a="http://schemas.openxmlformats.org/drawingml/2006/main" prst="roundRect">
            <a:avLst>
              <a:gd name="adj" fmla="val 839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389ED-B92B-42C4-ADE3-88B537D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3105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7D0CA-88CC-498E-AED4-31CBAEF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8162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正式户型 = 统一空间依据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F457A-620F-4703-B988-AFD5CBBE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81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929E9-6498-4702-8C34-287C8E84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95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77172-A48F-41DA-A61A-777DF878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客户详情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DF8AD-0A17-44D9-8801-4E951326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0507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查看量房状态、闭合空间数与更新时间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FC4B4-4D38-46CB-91AB-BA2481A0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76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28734-517E-4CB0-8FB4-16B07CB4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20030-626F-49BD-A8E6-1977BBB1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384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管理后台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D49B1-309E-4368-88E0-7DD701EF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集中查看正式户型与测量记录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1C5C7-92EC-4EB5-87D2-69833D8B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2B5B9-CCD4-4D69-85A1-9EE154F0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862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C941F-16EE-4BE7-A1E3-6158CC51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338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2D / 3D / DXF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5AA5A-45CB-419F-A8A5-050FAF7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9577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完整且受支持时用于查看与下载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18643D-BB66-4BA4-AD57-E0262EE8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67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6BD49F-E1DE-452C-B89E-77609320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815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87AC17-4BEC-4D01-88E5-20D861F6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291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987072-33D5-4564-B390-4949C6BF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9112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从同一份正式户型派生整屋或单空间依据</a:t>
            </a:r>
          </a:p>
        </p:txBody>
      </p:sp>
    </p:spTree>
    <p:extLst>
      <p:ext uri="{BB962C8B-B14F-4D97-AF65-F5344CB8AC3E}">
        <p14:creationId xmlns:p14="http://schemas.microsoft.com/office/powerpoint/2010/main" val="1676700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EB0CCA-45E1-43E4-91E9-35F3E14A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AI 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BBD38-E89D-4AF8-A674-F37BFAFF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设计承接客户与空间，不是一次孤立生图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52F18-C000-4091-BD56-6EB2EC5E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选择客户、正式户型和目标空间，再用真实任务名称创建、查看、保存、分享或继续优化。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A3952-63C4-4CC9-8C5A-042F1C65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5F41F-EE91-464B-A762-CBF281CE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9f3dd06084318"/>
          <a:srcRect xmlns:a="http://schemas.openxmlformats.org/drawingml/2006/main" l="0" t="15568" r="0" b="15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114550"/>
            <a:ext cx="2400300" cy="35814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82b145c114986"/>
          <a:srcRect xmlns:a="http://schemas.openxmlformats.org/drawingml/2006/main" l="0" t="15490" r="0" b="15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114550"/>
            <a:ext cx="2400300" cy="35814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1676ed5d34586"/>
          <a:srcRect xmlns:a="http://schemas.openxmlformats.org/drawingml/2006/main" l="0" t="15490" r="0" b="15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2114550"/>
            <a:ext cx="2400300" cy="35814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B856B-8840-406F-B6F5-5BE1C1A4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3162300" cy="3581400"/>
          </a:xfrm>
          <a:prstGeom xmlns:a="http://schemas.openxmlformats.org/drawingml/2006/main" prst="roundRect">
            <a:avLst>
              <a:gd name="adj" fmla="val 783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0B997-D3F0-4571-80F2-4F180B9B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193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四类真实任务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56169-DB2A-4456-AF98-C22B9A6C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A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6A77B-52CC-4C33-8FE0-3F14E8B4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194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rPr>
              <a:t>参考图复刻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C58A1-638C-4A3E-840E-42D7CD23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4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7A523-1D4E-493F-BD79-BBA1B2D5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9567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rPr>
              <a:t>空间换风格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A81CA-AD40-4D51-973D-B2A5E06A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A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92C58-10E2-4184-B401-766BEAC6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719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rPr>
              <a:t>户型生成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3D3AE-D7C9-467C-99C6-830F4D2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81500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4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C5444-5BC2-4468-9EEE-DC6F2240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4817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rPr>
              <a:t>软装深化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75C57-8C7D-4164-9187-EDB8C7CE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0"/>
            <a:ext cx="2590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674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C1DBE-0701-48C7-8B5C-5EA86058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62550"/>
            <a:ext cx="2590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C4DE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4DED3"/>
                </a:solidFill>
                <a:latin typeface="Microsoft YaHei"/>
                <a:ea typeface="Microsoft YaHei"/>
                <a:cs typeface="Microsoft YaHei"/>
              </a:rPr>
              <a:t>边界：结果用于概念表达和客户沟通，不替代施工图或工程交付。</a:t>
            </a:r>
          </a:p>
        </p:txBody>
      </p:sp>
    </p:spTree>
    <p:extLst>
      <p:ext uri="{BB962C8B-B14F-4D97-AF65-F5344CB8AC3E}">
        <p14:creationId xmlns:p14="http://schemas.microsoft.com/office/powerpoint/2010/main" val="17424342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5588BF-2B91-4968-AF8A-0E1566EF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团队接续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02AA3-295C-4FC1-9A23-EF16F200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三个角色围绕同一客户接力，不重复建档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5593B-2808-4CEA-A3CA-801C2C72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任务、通知与获客确认只是交接机制；客户阶段仍按业务推进独立更新。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DAAEB-FEE9-46B7-B22F-387D457B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团队跟进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3E8E0-03E0-4F14-B48B-06738AF0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899F3-8109-4513-9A34-4894A1F8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85F2B-F983-4619-9630-EB0E744B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20B20-2667-4073-9EDE-C7379422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C26B1-AEB3-4CCD-A2BD-A17B6888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E8E53-0315-40BD-9A23-F6E754D5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C5168-153F-46F1-9676-89A86483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建立或接收客户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E9E3D-AF76-45F1-B3A5-15B11B71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0A756-A003-4740-8537-C7241158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21FC5-B2B1-4325-9C19-B560248F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CC131-ADC1-4430-8A52-06A7FBD7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EEFEA-03EA-47C6-82E6-E76AFFF4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27314-8EAE-4B3D-A9E2-0CD2D639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5F444-C1C3-4218-AC8A-7CA542D6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接收客户与空间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B1C77-3A0C-439B-8969-D2BC886D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C3E09-0810-47E0-A0EA-2E5BD69F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承接：不重新建档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3C15DC-3C8F-49A1-9F9C-BA90067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73643-FA7A-4350-BACA-64E381E1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222DF-AC48-485E-A4A7-370F3DB2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EA013-57B5-4B89-9604-5C2C6BFD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C26B8-F3A1-4322-8896-6C37DF10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管理成员与权限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查看进展与配置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D3169B-B28A-41E9-8F5D-CBCD4A13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635CB0-4788-47FF-8289-8378A292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保障：角色能完成工作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D2C03-FF4C-408A-8932-2E74B0A9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43794D-A7F9-433D-8522-2923C13C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获客确认与提成独立记录，不改变客户处于量房或设计的业务阶段。</a:t>
            </a:r>
          </a:p>
        </p:txBody>
      </p:sp>
    </p:spTree>
    <p:extLst>
      <p:ext uri="{BB962C8B-B14F-4D97-AF65-F5344CB8AC3E}">
        <p14:creationId xmlns:p14="http://schemas.microsoft.com/office/powerpoint/2010/main" val="1794998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9B11B7-74B5-4E3B-AF49-F0624211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两端分工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31C63-8541-47A6-A292-32DC7BBA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小程序跑现场，企业后台管组织与全局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AB10E-7879-4283-B712-DD454029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两端共享同一企业与客户上下文，但分别服务高频执行和集中管理。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816ED-9CE6-4663-9CC3-307F73C4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1DDF0-8F47-4543-8411-F3C4E78B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E1EE8-9B07-4AE8-9427-948BAFEB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15A4D-D5FD-4E44-ADDE-64DD6D37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9C064-0B96-4A00-8758-8A7F02DC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高频执行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137a16ca64e7f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B1B33-C0C5-4981-A2FC-AE47F095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174C5-838B-46C1-9D57-8F406EBF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8FA16-00C5-42FF-A4C1-532EE53B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录入客户、进入正式量房、查看个人待办。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1DE3B-560A-4F23-8E69-A4880B94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3ABE2-DB41-4054-9117-37884EC4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设计与结果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A5454-9F84-449C-9602-594DD736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创建 AI 任务、查看结果并继续优化。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BA65F-F69E-49F2-AFDF-9BE5A70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214B4-46D9-4BDF-B2D9-45170C2B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61719-132B-4613-9B20-D990AF32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集中管理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8A7C3-5AC8-4AC5-BF7C-5DCC8E5F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70FAA-4E78-49AE-9CA6-8EEC1360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AC7ED-F3B5-41D8-8531-28049465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组织与权限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801BF-1E09-4F2A-90FD-07E12489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成员、岗位与访问范围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3537A-4D5A-474D-9ADE-F5268C5C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40217-8301-49DB-A3F4-4CD25728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AD38C-9A10-4A22-9C74-2B38F331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客户与户型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42D5A6-F5BF-46F2-AA02-61541AAD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正式户型、测量记录与进展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4F893F-ACB0-4D19-BE00-22BBB197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00F41-CBFA-4396-9331-550E6AAF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88F99A-7566-4963-A907-84C79D80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721067-D6E1-4040-8891-67805658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AI、点数、设备与通知能力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E368A-98AF-4EA4-9DD0-120081CA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不重复建档，只保留客户企业内部的组织、资产与服务配置。</a:t>
            </a:r>
          </a:p>
        </p:txBody>
      </p:sp>
    </p:spTree>
    <p:extLst>
      <p:ext uri="{BB962C8B-B14F-4D97-AF65-F5344CB8AC3E}">
        <p14:creationId xmlns:p14="http://schemas.microsoft.com/office/powerpoint/2010/main" val="1790589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CCD4F4-B004-4912-997B-7176A8BF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10 / 使用条件与产品边界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CFF45-9042-4A0D-8255-9D63B37B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顺利完成量房与设计，需要先具备这些条件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868F7-3158-4697-B4EC-7F39406A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账号、户型、权限和服务配置准备就绪后，团队即可沿客户流程继续推进。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A8A94-AA23-4691-997D-D65C897A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B9493-1DA7-4E2A-B83C-3E034EB0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533FD-7E83-44CE-A1FC-F37D9A85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B8464-7173-4034-BB66-76F0A3B5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894A3-3D12-4E6D-BB6F-95008710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企业账号可正常使用，网络和服务连接有效。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13181-1D50-4E1B-8BD5-C8BBFEA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A540D-9C15-4F8F-81E0-7F8375CF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557E4-12ED-44FC-BAD7-46AFDF65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C6A8A-8F62-430F-B610-8A087489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30E84-FFCD-4826-8AF7-1CD10590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使用兼容且已分配授权的设备；也可手工录入。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BFAAA-EE35-47B7-9B92-FB107027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35526-8104-447D-AED0-200FC313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8ECD2-0546-4E53-81D5-A78CAD3D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111B3-E05E-4516-A435-68074C4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户型数据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8836B-47EB-4D22-AE99-A1328B53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墙体有效并形成闭合空间，方可进入对应设计流程。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236A6-9E1A-4E16-BA0F-BD462CE7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F36E1-4DBF-49FC-A605-C983B625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DD4DD-5883-4A50-8E6D-443D30FE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5E28A-86E7-494B-820D-480727D3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F5344-65D3-4326-9AFB-A97FF68F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企业已开通权限，并具备可用点数和有效服务配置。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B534A-CE95-4DEA-936E-AC519F0B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ABC7B9-7F6D-4708-AC9E-442DA1A4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0F11E3-91CB-43BE-9F88-12F3D33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B1E2E2-FA97-4CF8-8AA8-34E40ECF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方案用途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B3EB57-9066-4EA9-B71F-2D95F1B4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用于概念表达、方案比较和客户沟通，不作为施工图。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1E47A9-BF22-4F1E-AB55-87C63596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74EDA0-CC3B-458E-A3C5-1359E1E0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38C1A0-C2DC-4601-BF93-2ED59A5E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4DA287-B5E2-42E9-A0EB-2AF43F1E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542846-E139-45F7-92C9-F8663E35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员工按企业角色和本人权限访问客户与户型数据。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932EA9-081F-4E8A-B855-35839B08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92E1D4-2BD8-4370-B20E-E6F78C26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37290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06592b52d41f8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E085D-23B8-4E82-9777-B00B6FD6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E573F-B3E4-466F-ABB3-3859C3A0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接下来，用一位客户走完整流程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C29E8-ACA1-42B4-BB96-ED2EDD8D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从建档、量房到 AI 设计和团队接续，所有步骤围绕同一份客户资料推进。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8B6A8-6B59-4485-B962-1722951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088A6-1EA0-416C-9770-4692FF80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9C78E-15F4-4A24-902E-167E8573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89C7B-50CE-41CD-928E-0D6796DC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创建客户档案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76271-E59A-4E46-B1F0-2D4069CF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D6411-15F6-4777-92D6-BD6F214A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D24F4-4940-4E1D-88B4-2A27CD36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0012D-4F16-4C57-9229-E7092B26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C6324-F2C0-429B-9954-98FF1FDE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3C274-0D30-4C4E-B3C6-95955813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12BE7-BA69-4E05-91ED-B4CE3190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1D4A2-E8A7-4FDF-A725-695AC394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AB593-23D8-43DF-8975-E022E7F5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B35CF-0362-4667-BDD7-90E3AD67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6C44E-4106-4DF4-B551-D818BEED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95B99-776B-49D3-89AC-C732504C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查看方案成果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7DB2C-07FD-41CD-97D9-9BBF77D7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63A82-3D45-43F5-A1B3-3F5B093D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5BA7D-871F-4004-BA33-86A16DA9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查看团队接续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6686D-ABE0-4BC2-B595-3C8245C9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3BEF5A-0693-4353-ACA5-2BEE93F1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您将看到：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02813-C161-49E0-A1C0-C3765CF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客户资料如何沉淀为正式户型，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并继续生成可沟通、可优化的设计方案。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492FE-C689-4E88-873F-CE57C239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客户演示稿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6A538B-9CBD-43B1-B566-6E1CA130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20508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2026-08-12T12:45:30.7860000Z</dcterms:created>
  <dcterms:modified xsi:type="dcterms:W3CDTF">2026-08-12T12:45:30.7860000Z</dcterms:modified>
</coreProperties>
</file>
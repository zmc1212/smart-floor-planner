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716f59584e4cbc" /><Relationship Type="http://schemas.openxmlformats.org/officeDocument/2006/relationships/extended-properties" Target="/docProps/app.xml" Id="Raa2197b8306040d2" /><Relationship Type="http://schemas.openxmlformats.org/officeDocument/2006/relationships/officeDocument" Target="/ppt/presentation.xml" Id="R1213930e865840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165c7871cd44c3"/>
  </p:sldMasterIdLst>
  <p:notesMasterIdLst>
    <p:notesMasterId xmlns:r="http://schemas.openxmlformats.org/officeDocument/2006/relationships" r:id="R35bb4a9d1d744b93"/>
  </p:notesMasterIdLst>
  <p:sldIdLst>
    <p:sldId xmlns:r="http://schemas.openxmlformats.org/officeDocument/2006/relationships" id="256" r:id="R17886837b9f9481c"/>
    <p:sldId xmlns:r="http://schemas.openxmlformats.org/officeDocument/2006/relationships" id="257" r:id="R8e6ffd751e8c4386"/>
    <p:sldId xmlns:r="http://schemas.openxmlformats.org/officeDocument/2006/relationships" id="258" r:id="R64090683adcd42b0"/>
    <p:sldId xmlns:r="http://schemas.openxmlformats.org/officeDocument/2006/relationships" id="259" r:id="R3d738efa7416465f"/>
    <p:sldId xmlns:r="http://schemas.openxmlformats.org/officeDocument/2006/relationships" id="260" r:id="Rba1df78d932348fc"/>
    <p:sldId xmlns:r="http://schemas.openxmlformats.org/officeDocument/2006/relationships" id="261" r:id="R906b2ae5f6a24a1f"/>
    <p:sldId xmlns:r="http://schemas.openxmlformats.org/officeDocument/2006/relationships" id="262" r:id="R72bd645eb5844a72"/>
    <p:sldId xmlns:r="http://schemas.openxmlformats.org/officeDocument/2006/relationships" id="263" r:id="Ra010dbbe0b7846ba"/>
    <p:sldId xmlns:r="http://schemas.openxmlformats.org/officeDocument/2006/relationships" id="264" r:id="Rfb83b8304a2547dc"/>
    <p:sldId xmlns:r="http://schemas.openxmlformats.org/officeDocument/2006/relationships" id="265" r:id="Rbd26356a7d024993"/>
    <p:sldId xmlns:r="http://schemas.openxmlformats.org/officeDocument/2006/relationships" id="266" r:id="R0b8b64facc544f92"/>
    <p:sldId xmlns:r="http://schemas.openxmlformats.org/officeDocument/2006/relationships" id="267" r:id="Rbffbbe451b574f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8b610f5a2d4dec" /><Relationship Type="http://schemas.openxmlformats.org/officeDocument/2006/relationships/slideMaster" Target="/ppt/slideMasters/slideMaster1.xml" Id="R09165c7871cd44c3" /><Relationship Type="http://schemas.openxmlformats.org/officeDocument/2006/relationships/notesMaster" Target="/ppt/notesMasters/notesMaster1.xml" Id="R35bb4a9d1d744b93" /><Relationship Type="http://schemas.openxmlformats.org/officeDocument/2006/relationships/presProps" Target="/ppt/presProps.xml" Id="Rb585130864b042a4" /><Relationship Type="http://schemas.openxmlformats.org/officeDocument/2006/relationships/tableStyles" Target="/ppt/tableStyles.xml" Id="R59812d6c27894f0f" /><Relationship Type="http://schemas.openxmlformats.org/officeDocument/2006/relationships/slide" Target="/ppt/slides/slide1.xml" Id="R17886837b9f9481c" /><Relationship Type="http://schemas.openxmlformats.org/officeDocument/2006/relationships/slide" Target="/ppt/slides/slide2.xml" Id="R8e6ffd751e8c4386" /><Relationship Type="http://schemas.openxmlformats.org/officeDocument/2006/relationships/slide" Target="/ppt/slides/slide3.xml" Id="R64090683adcd42b0" /><Relationship Type="http://schemas.openxmlformats.org/officeDocument/2006/relationships/slide" Target="/ppt/slides/slide4.xml" Id="R3d738efa7416465f" /><Relationship Type="http://schemas.openxmlformats.org/officeDocument/2006/relationships/slide" Target="/ppt/slides/slide5.xml" Id="Rba1df78d932348fc" /><Relationship Type="http://schemas.openxmlformats.org/officeDocument/2006/relationships/slide" Target="/ppt/slides/slide6.xml" Id="R906b2ae5f6a24a1f" /><Relationship Type="http://schemas.openxmlformats.org/officeDocument/2006/relationships/slide" Target="/ppt/slides/slide7.xml" Id="R72bd645eb5844a72" /><Relationship Type="http://schemas.openxmlformats.org/officeDocument/2006/relationships/slide" Target="/ppt/slides/slide8.xml" Id="Ra010dbbe0b7846ba" /><Relationship Type="http://schemas.openxmlformats.org/officeDocument/2006/relationships/slide" Target="/ppt/slides/slide9.xml" Id="Rfb83b8304a2547dc" /><Relationship Type="http://schemas.openxmlformats.org/officeDocument/2006/relationships/slide" Target="/ppt/slides/slide10.xml" Id="Rbd26356a7d024993" /><Relationship Type="http://schemas.openxmlformats.org/officeDocument/2006/relationships/slide" Target="/ppt/slides/slide11.xml" Id="R0b8b64facc544f92" /><Relationship Type="http://schemas.openxmlformats.org/officeDocument/2006/relationships/slide" Target="/ppt/slides/slide12.xml" Id="Rbffbbe451b574f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db852f4b58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4a05302b214f55" /><Relationship Type="http://schemas.openxmlformats.org/officeDocument/2006/relationships/notesMaster" Target="/ppt/notesMasters/notesMaster1.xml" Id="R0cdde9dc190046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21901845bf4a8a" /><Relationship Type="http://schemas.openxmlformats.org/officeDocument/2006/relationships/notesMaster" Target="/ppt/notesMasters/notesMaster1.xml" Id="Rb84f756eca4043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852c2c53604c61" /><Relationship Type="http://schemas.openxmlformats.org/officeDocument/2006/relationships/notesMaster" Target="/ppt/notesMasters/notesMaster1.xml" Id="Rff4f2b73685245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7204280ab94e53" /><Relationship Type="http://schemas.openxmlformats.org/officeDocument/2006/relationships/notesMaster" Target="/ppt/notesMasters/notesMaster1.xml" Id="Rc54d0c2d7e7445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947d062fde4828" /><Relationship Type="http://schemas.openxmlformats.org/officeDocument/2006/relationships/notesMaster" Target="/ppt/notesMasters/notesMaster1.xml" Id="R751f312f8f5e4c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329c669a4c4b99" /><Relationship Type="http://schemas.openxmlformats.org/officeDocument/2006/relationships/notesMaster" Target="/ppt/notesMasters/notesMaster1.xml" Id="Rcf6d511e67d84c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fa0f05320545a7" /><Relationship Type="http://schemas.openxmlformats.org/officeDocument/2006/relationships/notesMaster" Target="/ppt/notesMasters/notesMaster1.xml" Id="R3aa4464f871b4c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9d10cd251245be" /><Relationship Type="http://schemas.openxmlformats.org/officeDocument/2006/relationships/notesMaster" Target="/ppt/notesMasters/notesMaster1.xml" Id="R8ebb2d5e6c2f47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73bcca53c84539" /><Relationship Type="http://schemas.openxmlformats.org/officeDocument/2006/relationships/notesMaster" Target="/ppt/notesMasters/notesMaster1.xml" Id="R5b761e4ba3064c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48e6bc33f444b4" /><Relationship Type="http://schemas.openxmlformats.org/officeDocument/2006/relationships/notesMaster" Target="/ppt/notesMasters/notesMaster1.xml" Id="R50d5d9d7d26d4a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53542550674022" /><Relationship Type="http://schemas.openxmlformats.org/officeDocument/2006/relationships/notesMaster" Target="/ppt/notesMasters/notesMaster1.xml" Id="R9c82db054ce444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cae1fe32d447df" /><Relationship Type="http://schemas.openxmlformats.org/officeDocument/2006/relationships/notesMaster" Target="/ppt/notesMasters/notesMaster1.xml" Id="R39362156fc1f48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讲解要点：今天不谈空泛的数字化，而是看一条装修客户从进入到服务推进的真实闭环。</a:t>
            </a:r>
          </a:p>
          <a:p xmlns:a="http://schemas.openxmlformats.org/drawingml/2006/main">
            <a:r>
              <a:t>现场动作：开场后先说明参会者可以从老板视角和现场人员视角理解产品。</a:t>
            </a:r>
          </a:p>
          <a:p xmlns:a="http://schemas.openxmlformats.org/drawingml/2006/main">
            <a:r>
              <a:t>备用：无设备时直接播放本地介绍视频。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讲解要点：先让客户认可问题，再进入产品。不要宣称系统可以自动解决所有经营问题。</a:t>
            </a:r>
          </a:p>
          <a:p xmlns:a="http://schemas.openxmlformats.org/drawingml/2006/main">
            <a:r>
              <a:t>现场动作：邀请老板举例说明当前线索和量房交接的方式。</a:t>
            </a:r>
          </a:p>
          <a:p xmlns:a="http://schemas.openxmlformats.org/drawingml/2006/main">
            <a:r>
              <a:t>备用：无互动时按四个问题逐项讲。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讲解要点：这不是功能堆砌，客户在每一步都有下一步可做。</a:t>
            </a:r>
          </a:p>
          <a:p xmlns:a="http://schemas.openxmlformats.org/drawingml/2006/main">
            <a:r>
              <a:t>现场动作：指出后续真机演示会沿这条路径走。</a:t>
            </a:r>
          </a:p>
          <a:p xmlns:a="http://schemas.openxmlformats.org/drawingml/2006/main">
            <a:r>
              <a:t>备用：可切到产品介绍视频的流程段。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讲解要点：老板买的是可控的过程与可沉淀的客户资产。</a:t>
            </a:r>
          </a:p>
          <a:p xmlns:a="http://schemas.openxmlformats.org/drawingml/2006/main">
            <a:r>
              <a:t>现场动作：询问老板最关心线索、量房、设计还是人员管理。</a:t>
            </a:r>
          </a:p>
          <a:p xmlns:a="http://schemas.openxmlformats.org/drawingml/2006/main">
            <a:r>
              <a:t>备用：跳到后台管理页。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讲解要点：现场人员不需要学习复杂系统，只需要沿真实客户任务完成动作。</a:t>
            </a:r>
          </a:p>
          <a:p xmlns:a="http://schemas.openxmlformats.org/drawingml/2006/main">
            <a:r>
              <a:t>现场动作：切换到测量员样例账号，开始创建客户。</a:t>
            </a:r>
          </a:p>
          <a:p xmlns:a="http://schemas.openxmlformats.org/drawingml/2006/main">
            <a:r>
              <a:t>备用：播放备用视频中的线索录入段。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讲解要点：线索页是日常高频入口，重点是客户档案与真实状态。</a:t>
            </a:r>
          </a:p>
          <a:p xmlns:a="http://schemas.openxmlformats.org/drawingml/2006/main">
            <a:r>
              <a:t>现场动作：创建或打开一个预置客户，展示状态和正式量房入口。</a:t>
            </a:r>
          </a:p>
          <a:p xmlns:a="http://schemas.openxmlformats.org/drawingml/2006/main">
            <a:r>
              <a:t>备用：展示截图并切到量房演示。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讲解要点：正式量房是空间信息的基础，不承诺自动替代人工复核。</a:t>
            </a:r>
          </a:p>
          <a:p xmlns:a="http://schemas.openxmlformats.org/drawingml/2006/main">
            <a:r>
              <a:t>现场动作：展示画墙、输入尺寸、门窗、保存；有设备时尝试BLE连接。</a:t>
            </a:r>
          </a:p>
          <a:p xmlns:a="http://schemas.openxmlformats.org/drawingml/2006/main">
            <a:r>
              <a:t>备用：播放离线量房视频，解释BLE受设备和授权条件影响。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讲解要点：AI建立在正式户型和企业配置上，结果用于方案沟通。</a:t>
            </a:r>
          </a:p>
          <a:p xmlns:a="http://schemas.openxmlformats.org/drawingml/2006/main">
            <a:r>
              <a:t>现场动作：打开已准备成功的AI结果和历史；必要时演示项目选择。</a:t>
            </a:r>
          </a:p>
          <a:p xmlns:a="http://schemas.openxmlformats.org/drawingml/2006/main">
            <a:r>
              <a:t>备用：若在线生成失败，直接播放备用视频或浏览历史结果。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讲解要点：交接确认是协作事实，不会阻断量房、设计或签约。</a:t>
            </a:r>
          </a:p>
          <a:p xmlns:a="http://schemas.openxmlformats.org/drawingml/2006/main">
            <a:r>
              <a:t>现场动作：切换设计师账号确认任务，再回到测量员账号查看回执和提成。</a:t>
            </a:r>
          </a:p>
          <a:p xmlns:a="http://schemas.openxmlformats.org/drawingml/2006/main">
            <a:r>
              <a:t>备用：用预置已完成记录和截图讲解。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讲解要点：后台不是额外负担，而是保障现场动作可控、可追溯的企业基座。</a:t>
            </a:r>
          </a:p>
          <a:p xmlns:a="http://schemas.openxmlformats.org/drawingml/2006/main">
            <a:r>
              <a:t>现场动作：展示员工、设备、线索和提成规则；只演示有权限的页面。</a:t>
            </a:r>
          </a:p>
          <a:p xmlns:a="http://schemas.openxmlformats.org/drawingml/2006/main">
            <a:r>
              <a:t>备用：用后台截图或流程图解释权限边界。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讲解要点：主动讲清边界，比夸大能力更容易获得老板信任。</a:t>
            </a:r>
          </a:p>
          <a:p xmlns:a="http://schemas.openxmlformats.org/drawingml/2006/main">
            <a:r>
              <a:t>现场动作：回答硬件、AI和结算问题时引用本页。</a:t>
            </a:r>
          </a:p>
          <a:p xmlns:a="http://schemas.openxmlformats.org/drawingml/2006/main">
            <a:r>
              <a:t>备用：无。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讲解要点：结尾只要求一个动作：预约试用演示。</a:t>
            </a:r>
          </a:p>
          <a:p xmlns:a="http://schemas.openxmlformats.org/drawingml/2006/main">
            <a:r>
              <a:t>现场动作：引导扫码或由工作人员登记；记录客户最希望优先体验的环节。</a:t>
            </a:r>
          </a:p>
          <a:p xmlns:a="http://schemas.openxmlformats.org/drawingml/2006/main">
            <a:r>
              <a:t>备用：展示联系方式占位，现场改用纸质或小程序登记。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22bf4d7c04c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021e8df7674fed" /><Relationship Type="http://schemas.openxmlformats.org/officeDocument/2006/relationships/slideLayout" Target="/ppt/slideLayouts/slideLayout1.xml" Id="R250174aec2d24b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0174aec2d24b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29e7a1bdc449b" /><Relationship Type="http://schemas.openxmlformats.org/officeDocument/2006/relationships/image" Target="/ppt/media/image.png" Id="R79a93877d5b646b8" /><Relationship Type="http://schemas.openxmlformats.org/officeDocument/2006/relationships/image" Target="/ppt/media/image2.png" Id="R244a4e6ebb514c5c" /><Relationship Type="http://schemas.openxmlformats.org/officeDocument/2006/relationships/notesSlide" Target="/ppt/notesSlides/notesSlide1.xml" Id="R98e68b23da0248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38841cdb1444e" /><Relationship Type="http://schemas.openxmlformats.org/officeDocument/2006/relationships/notesSlide" Target="/ppt/notesSlides/notesSlide2.xml" Id="Rb6f51e1bed2746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0602e031d4a0f" /><Relationship Type="http://schemas.openxmlformats.org/officeDocument/2006/relationships/notesSlide" Target="/ppt/notesSlides/notesSlide3.xml" Id="R32f0747bc1624d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da043d54e48c1" /><Relationship Type="http://schemas.openxmlformats.org/officeDocument/2006/relationships/notesSlide" Target="/ppt/notesSlides/notesSlide4.xml" Id="R9032391e340d4e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c7cddd03345df" /><Relationship Type="http://schemas.openxmlformats.org/officeDocument/2006/relationships/image" Target="/ppt/media/image3.png" Id="Ra687e422eed84dae" /><Relationship Type="http://schemas.openxmlformats.org/officeDocument/2006/relationships/notesSlide" Target="/ppt/notesSlides/notesSlide5.xml" Id="R41993953885c46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97ec39a744c16" /><Relationship Type="http://schemas.openxmlformats.org/officeDocument/2006/relationships/image" Target="/ppt/media/image4.png" Id="R389534ee2df543e8" /><Relationship Type="http://schemas.openxmlformats.org/officeDocument/2006/relationships/notesSlide" Target="/ppt/notesSlides/notesSlide6.xml" Id="R5da5cb4b7f874d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a579f5ebe444d" /><Relationship Type="http://schemas.openxmlformats.org/officeDocument/2006/relationships/image" Target="/ppt/media/image5.png" Id="Rc3260f80e03949e0" /><Relationship Type="http://schemas.openxmlformats.org/officeDocument/2006/relationships/notesSlide" Target="/ppt/notesSlides/notesSlide7.xml" Id="Rdb4949d5a6394b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e2a9ed6d64675" /><Relationship Type="http://schemas.openxmlformats.org/officeDocument/2006/relationships/image" Target="/ppt/media/image6.png" Id="R5c4607b813734133" /><Relationship Type="http://schemas.openxmlformats.org/officeDocument/2006/relationships/notesSlide" Target="/ppt/notesSlides/notesSlide8.xml" Id="R70068fe39e2240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baa4584854410" /><Relationship Type="http://schemas.openxmlformats.org/officeDocument/2006/relationships/notesSlide" Target="/ppt/notesSlides/notesSlide9.xml" Id="Rd846508b3cb144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0ab1b0685426d" /><Relationship Type="http://schemas.openxmlformats.org/officeDocument/2006/relationships/notesSlide" Target="/ppt/notesSlides/notesSlide10.xml" Id="R268854b5d11a4c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7331728ad4871" /><Relationship Type="http://schemas.openxmlformats.org/officeDocument/2006/relationships/notesSlide" Target="/ppt/notesSlides/notesSlide11.xml" Id="R0b686c7228484c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53e428f434cd7" /><Relationship Type="http://schemas.openxmlformats.org/officeDocument/2006/relationships/image" Target="/ppt/media/image7.png" Id="Rc68108e5695d49e0" /><Relationship Type="http://schemas.openxmlformats.org/officeDocument/2006/relationships/notesSlide" Target="/ppt/notesSlides/notesSlide12.xml" Id="R0da53104216249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93877d5b646b8"/>
          <a:stretch xmlns:a="http://schemas.openxmlformats.org/drawingml/2006/main"/>
        </p:blipFill>
        <p:spPr>
          <a:xfrm xmlns:a="http://schemas.openxmlformats.org/drawingml/2006/main">
            <a:off x="8048625" y="1119188"/>
            <a:ext cx="2762250" cy="4143375"/>
          </a:xfrm>
          <a:prstGeom xmlns:a="http://schemas.openxmlformats.org/drawingml/2006/main" prst="roundRect">
            <a:avLst>
              <a:gd name="adj" fmla="val 4138"/>
            </a:avLst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a4e6ebb514c5c"/>
          <a:stretch xmlns:a="http://schemas.openxmlformats.org/drawingml/2006/main"/>
        </p:blipFill>
        <p:spPr>
          <a:xfrm xmlns:a="http://schemas.openxmlformats.org/drawingml/2006/main">
            <a:off x="666750" y="552450"/>
            <a:ext cx="800100" cy="800100"/>
          </a:xfrm>
          <a:prstGeom xmlns:a="http://schemas.openxmlformats.org/drawingml/2006/main" prst="roundRect">
            <a:avLst>
              <a:gd name="adj" fmla="val 1428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2FD28-685C-48CB-B4E2-4264D3D3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66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家客来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DF3BC-52EB-401C-BFA2-C875E1E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6477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装修公司的客户经营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与空间服务工作台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1257F-FFC3-43A5-8FEE-41ADF800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F1E3"/>
                </a:solidFill>
              </a:defRPr>
            </a:pPr>
            <a:r>
              <a:rPr sz="1650" b="0">
                <a:solidFill>
                  <a:srgbClr val="D7F1E3"/>
                </a:solidFill>
              </a:rPr>
              <a:t>把线索获取、正式量房、设计协作与经营管理</a:t>
            </a:r>
          </a:p>
          <a:p xmlns:a="http://schemas.openxmlformats.org/drawingml/2006/main">
            <a:pPr algn="l">
              <a:defRPr sz="1650" b="0">
                <a:solidFill>
                  <a:srgbClr val="D7F1E3"/>
                </a:solidFill>
              </a:defRPr>
            </a:pPr>
            <a:r>
              <a:rPr sz="1650" b="0">
                <a:solidFill>
                  <a:srgbClr val="D7F1E3"/>
                </a:solidFill>
              </a:rPr>
              <a:t>串成一个可落地的数字化工作闭环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762F9-E9B8-41FD-98DE-4B04F463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D7BE"/>
                </a:solidFill>
              </a:defRPr>
            </a:pPr>
            <a:r>
              <a:rPr sz="975" b="1">
                <a:solidFill>
                  <a:srgbClr val="AFD7BE"/>
                </a:solidFill>
              </a:rPr>
              <a:t>客户推广会 · 预约试用版</a:t>
            </a:r>
          </a:p>
        </p:txBody>
      </p:sp>
    </p:spTree>
    <p:extLst>
      <p:ext uri="{BB962C8B-B14F-4D97-AF65-F5344CB8AC3E}">
        <p14:creationId xmlns:p14="http://schemas.microsoft.com/office/powerpoint/2010/main" val="514782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04625-DF44-4421-865D-FA80E0B6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A36B"/>
                </a:solidFill>
              </a:defRPr>
            </a:pPr>
            <a:r>
              <a:rPr sz="975" b="1">
                <a:solidFill>
                  <a:srgbClr val="20A36B"/>
                </a:solidFill>
              </a:rPr>
              <a:t>行业问题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BCDC6-2A51-4D18-9A2C-7E9DBD82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2D"/>
                </a:solidFill>
              </a:defRPr>
            </a:pPr>
            <a:r>
              <a:rPr sz="2850" b="1">
                <a:solidFill>
                  <a:srgbClr val="17362D"/>
                </a:solidFill>
              </a:rPr>
              <a:t>客户服务流程，最怕每一步都断在个人手里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9A7E7-F472-4D69-83D3-F52C2942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857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AD800-FFF1-48B0-B075-28AA189F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36B"/>
                </a:solidFill>
              </a:defRPr>
            </a:pPr>
            <a:r>
              <a:rPr sz="1800" b="1">
                <a:solidFill>
                  <a:srgbClr val="20A36B"/>
                </a:solidFill>
              </a:rPr>
              <a:t>线索散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F598D-72BE-4E74-9469-BF940946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62D"/>
                </a:solidFill>
              </a:defRPr>
            </a:pPr>
            <a:r>
              <a:rPr sz="1350" b="0">
                <a:solidFill>
                  <a:srgbClr val="17362D"/>
                </a:solidFill>
              </a:rPr>
              <a:t>客户资料留在微信、表格与口头交接里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B5304-01D2-4E03-8CA6-D5A5625D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4857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A904B-9EDE-4A0C-A2B3-7E139379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36B"/>
                </a:solidFill>
              </a:defRPr>
            </a:pPr>
            <a:r>
              <a:rPr sz="1800" b="1">
                <a:solidFill>
                  <a:srgbClr val="20A36B"/>
                </a:solidFill>
              </a:rPr>
              <a:t>量房断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CF3AD-F2D2-4074-BCE5-6D1F2522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62D"/>
                </a:solidFill>
              </a:defRPr>
            </a:pPr>
            <a:r>
              <a:rPr sz="1350" b="0">
                <a:solidFill>
                  <a:srgbClr val="17362D"/>
                </a:solidFill>
              </a:rPr>
              <a:t>现场尺寸、户型与设计资料难连续沉淀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5E3FD-3A25-4486-80A4-2BF10817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857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80974-278E-4059-8EC8-4FE2CBC0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36B"/>
                </a:solidFill>
              </a:defRPr>
            </a:pPr>
            <a:r>
              <a:rPr sz="1800" b="1">
                <a:solidFill>
                  <a:srgbClr val="20A36B"/>
                </a:solidFill>
              </a:rPr>
              <a:t>协作慢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6C5CA-FE8D-44CF-9616-6A5BE2E6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62D"/>
                </a:solidFill>
              </a:defRPr>
            </a:pPr>
            <a:r>
              <a:rPr sz="1350" b="0">
                <a:solidFill>
                  <a:srgbClr val="17362D"/>
                </a:solidFill>
              </a:rPr>
              <a:t>地推、测量、设计缺少统一任务与通知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BB037-924B-4BCA-867A-1A7EB066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10000"/>
            <a:ext cx="4857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9ABE1-8422-43CE-819B-3E462D90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38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36B"/>
                </a:solidFill>
              </a:defRPr>
            </a:pPr>
            <a:r>
              <a:rPr sz="1800" b="1">
                <a:solidFill>
                  <a:srgbClr val="20A36B"/>
                </a:solidFill>
              </a:rPr>
              <a:t>老板盲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B2AB2-253C-4BB9-9DBC-2556F36E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62D"/>
                </a:solidFill>
              </a:defRPr>
            </a:pPr>
            <a:r>
              <a:rPr sz="1350" b="0">
                <a:solidFill>
                  <a:srgbClr val="17362D"/>
                </a:solidFill>
              </a:rPr>
              <a:t>人员、客户、设备和过程缺少企业视图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63974-BBF5-42F5-872E-0EDDCE4D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家客来  |  客户推广会  |  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319D6-830D-4413-92F7-7AD4C2F1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预约试用 · 现场登记</a:t>
            </a:r>
          </a:p>
        </p:txBody>
      </p:sp>
    </p:spTree>
    <p:extLst>
      <p:ext uri="{BB962C8B-B14F-4D97-AF65-F5344CB8AC3E}">
        <p14:creationId xmlns:p14="http://schemas.microsoft.com/office/powerpoint/2010/main" val="771761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FF2C6B-CD70-4F98-93ED-59A63D24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A36B"/>
                </a:solidFill>
              </a:defRPr>
            </a:pPr>
            <a:r>
              <a:rPr sz="975" b="1">
                <a:solidFill>
                  <a:srgbClr val="20A36B"/>
                </a:solidFill>
              </a:rPr>
              <a:t>产品闭环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B846C-156E-415D-B0BC-F00C15D6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2D"/>
                </a:solidFill>
              </a:defRPr>
            </a:pPr>
            <a:r>
              <a:rPr sz="2850" b="1">
                <a:solidFill>
                  <a:srgbClr val="17362D"/>
                </a:solidFill>
              </a:rPr>
              <a:t>一条客户服务链路，连接现场动作与企业管理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D6C3C-EA50-4129-88A8-71BEBD2C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385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D8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28E78-3F06-4BC5-B145-05936E4A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954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4B6ED-79D7-422B-A071-C816C221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A36B"/>
                </a:solidFill>
              </a:defRPr>
            </a:pPr>
            <a:r>
              <a:rPr sz="1200" b="1">
                <a:solidFill>
                  <a:srgbClr val="20A36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DE9CD-0755-42FE-A886-F7B9F473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2D"/>
                </a:solidFill>
              </a:defRPr>
            </a:pPr>
            <a:r>
              <a:rPr sz="1500" b="1">
                <a:solidFill>
                  <a:srgbClr val="17362D"/>
                </a:solidFill>
              </a:rPr>
              <a:t>线索进入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0DE54-8918-4DC2-9B3A-EC144860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5"/>
                </a:solidFill>
              </a:defRPr>
            </a:pPr>
            <a:r>
              <a:rPr sz="1050" b="0">
                <a:solidFill>
                  <a:srgbClr val="5B6B65"/>
                </a:solidFill>
              </a:rPr>
              <a:t>客户档案与状态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78122-B720-4C66-ACDB-3175619B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D8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37306-4449-4270-88B3-A3D0B010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6954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30F5A-7F7F-4DEA-B23F-A039144E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A36B"/>
                </a:solidFill>
              </a:defRPr>
            </a:pPr>
            <a:r>
              <a:rPr sz="1200" b="1">
                <a:solidFill>
                  <a:srgbClr val="20A36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F7C8E-23E5-4666-8F46-A3393CB1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670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2D"/>
                </a:solidFill>
              </a:defRPr>
            </a:pPr>
            <a:r>
              <a:rPr sz="1500" b="1">
                <a:solidFill>
                  <a:srgbClr val="17362D"/>
                </a:solidFill>
              </a:rPr>
              <a:t>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D060A-C19A-488D-A4D2-2A39EEC1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76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5"/>
                </a:solidFill>
              </a:defRPr>
            </a:pPr>
            <a:r>
              <a:rPr sz="1050" b="0">
                <a:solidFill>
                  <a:srgbClr val="5B6B65"/>
                </a:solidFill>
              </a:rPr>
              <a:t>毫米级墙图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DB780-60CB-4D4B-89EB-703E3F46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D8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73A03-2649-4592-BCC3-70BEC9FC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6954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20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83F99-CA1C-4BF5-94DC-B3CBF832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67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695A8-76D3-4D3E-BB50-4AF89030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670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76828-3CB1-4112-BA4E-AE4507E5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76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0F5E8"/>
                </a:solidFill>
              </a:defRPr>
            </a:pPr>
            <a:r>
              <a:rPr sz="1050" b="0">
                <a:solidFill>
                  <a:srgbClr val="E0F5E8"/>
                </a:solidFill>
              </a:rPr>
              <a:t>正式户型为底图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80FD0-7F01-411D-AC3B-2F80A883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D8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22C2C-1153-4DD6-887F-C0081C8A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6954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2C9A9-A0EC-4BB2-A550-DD58E29B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A36B"/>
                </a:solidFill>
              </a:defRPr>
            </a:pPr>
            <a:r>
              <a:rPr sz="1200" b="1">
                <a:solidFill>
                  <a:srgbClr val="20A36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75C47-2075-446E-9530-1C387D28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670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2D"/>
                </a:solidFill>
              </a:defRPr>
            </a:pPr>
            <a:r>
              <a:rPr sz="1500" b="1">
                <a:solidFill>
                  <a:srgbClr val="17362D"/>
                </a:solidFill>
              </a:rPr>
              <a:t>协作交接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9791D-1A8D-4699-8AB9-7C57A8DC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76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5"/>
                </a:solidFill>
              </a:defRPr>
            </a:pPr>
            <a:r>
              <a:rPr sz="1050" b="0">
                <a:solidFill>
                  <a:srgbClr val="5B6B65"/>
                </a:solidFill>
              </a:rPr>
              <a:t>通知与回执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AC6A01-1317-4F43-B2A7-8CA7E2FE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6954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20458-0434-4318-9B61-7B0555F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67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A36B"/>
                </a:solidFill>
              </a:defRPr>
            </a:pPr>
            <a:r>
              <a:rPr sz="1200" b="1">
                <a:solidFill>
                  <a:srgbClr val="20A36B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6189B-9D1A-4E29-8C91-5BD868C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670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2D"/>
                </a:solidFill>
              </a:defRPr>
            </a:pPr>
            <a:r>
              <a:rPr sz="1500" b="1">
                <a:solidFill>
                  <a:srgbClr val="17362D"/>
                </a:solidFill>
              </a:rPr>
              <a:t>经营管理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F6787-5439-4BD1-967B-85650DD3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76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5"/>
                </a:solidFill>
              </a:defRPr>
            </a:pPr>
            <a:r>
              <a:rPr sz="1050" b="0">
                <a:solidFill>
                  <a:srgbClr val="5B6B65"/>
                </a:solidFill>
              </a:rPr>
              <a:t>权限、设备与规则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56E7E-BFD2-48D5-A02B-8CD19D61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2D"/>
                </a:solidFill>
              </a:defRPr>
            </a:pPr>
            <a:r>
              <a:rPr sz="1650" b="1">
                <a:solidFill>
                  <a:srgbClr val="17362D"/>
                </a:solidFill>
              </a:rPr>
              <a:t>每一步都围绕真实客户、正式户型与角色权限开展。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FAE40-18AB-41F6-BFE1-984DA1A9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家客来  |  客户推广会  |  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CF298B-3D80-47FB-AE06-B66DA087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预约试用 · 现场登记</a:t>
            </a:r>
          </a:p>
        </p:txBody>
      </p:sp>
    </p:spTree>
    <p:extLst>
      <p:ext uri="{BB962C8B-B14F-4D97-AF65-F5344CB8AC3E}">
        <p14:creationId xmlns:p14="http://schemas.microsoft.com/office/powerpoint/2010/main" val="468962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B52BE-2A21-4EE2-93EA-52406934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A36B"/>
                </a:solidFill>
              </a:defRPr>
            </a:pPr>
            <a:r>
              <a:rPr sz="975" b="1">
                <a:solidFill>
                  <a:srgbClr val="20A36B"/>
                </a:solidFill>
              </a:rPr>
              <a:t>老板视角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65B28-EC93-4FD3-A5D6-AE9C503C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2D"/>
                </a:solidFill>
              </a:defRPr>
            </a:pPr>
            <a:r>
              <a:rPr sz="2850" b="1">
                <a:solidFill>
                  <a:srgbClr val="17362D"/>
                </a:solidFill>
              </a:rPr>
              <a:t>老板看到的，不只是列表，而是团队服务客户的过程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8E379-6B37-44F5-95AA-37041845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238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03E7A-2799-43E5-9A28-A4814630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A36B"/>
                </a:solidFill>
              </a:defRPr>
            </a:pPr>
            <a:r>
              <a:rPr sz="1050" b="1">
                <a:solidFill>
                  <a:srgbClr val="20A36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FAC7A-7B14-4A2F-A983-28BF7FDA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2D"/>
                </a:solidFill>
              </a:defRPr>
            </a:pPr>
            <a:r>
              <a:rPr sz="1800" b="1">
                <a:solidFill>
                  <a:srgbClr val="17362D"/>
                </a:solidFill>
              </a:rPr>
              <a:t>过程可视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44961-D51B-4C6E-9E1B-97CE5E54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5"/>
                </a:solidFill>
              </a:defRPr>
            </a:pPr>
            <a:r>
              <a:rPr sz="1275" b="0">
                <a:solidFill>
                  <a:srgbClr val="5B6B65"/>
                </a:solidFill>
              </a:rPr>
              <a:t>线索、量房、设计任务有真实状态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E84A9-1ADB-4C3C-9CA0-2164A4CC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86000"/>
            <a:ext cx="3238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788F7-FB26-494F-9518-A928A32B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A36B"/>
                </a:solidFill>
              </a:defRPr>
            </a:pPr>
            <a:r>
              <a:rPr sz="1050" b="1">
                <a:solidFill>
                  <a:srgbClr val="20A3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5EA99-13E0-43A3-A8AC-33E9DA06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2D"/>
                </a:solidFill>
              </a:defRPr>
            </a:pPr>
            <a:r>
              <a:rPr sz="1800" b="1">
                <a:solidFill>
                  <a:srgbClr val="17362D"/>
                </a:solidFill>
              </a:rPr>
              <a:t>协同可控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37DCF-BB67-4EE1-BD42-8C2079D9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5"/>
                </a:solidFill>
              </a:defRPr>
            </a:pPr>
            <a:r>
              <a:rPr sz="1275" b="0">
                <a:solidFill>
                  <a:srgbClr val="5B6B65"/>
                </a:solidFill>
              </a:rPr>
              <a:t>员工、权限、设备与规则统一管理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E46A2-F8FB-4348-9D0E-B244F99E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3238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28062-3ED7-4AE0-9732-F8377AF5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A36B"/>
                </a:solidFill>
              </a:defRPr>
            </a:pPr>
            <a:r>
              <a:rPr sz="1050" b="1">
                <a:solidFill>
                  <a:srgbClr val="20A36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7B58A-5C15-4DB7-9468-ACED190C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2D"/>
                </a:solidFill>
              </a:defRPr>
            </a:pPr>
            <a:r>
              <a:rPr sz="1800" b="1">
                <a:solidFill>
                  <a:srgbClr val="17362D"/>
                </a:solidFill>
              </a:rPr>
              <a:t>客户沉淀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77E14-8C9F-4F95-90BE-FBBFCDCC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5"/>
                </a:solidFill>
              </a:defRPr>
            </a:pPr>
            <a:r>
              <a:rPr sz="1275" b="0">
                <a:solidFill>
                  <a:srgbClr val="5B6B65"/>
                </a:solidFill>
              </a:rPr>
              <a:t>客户、户型、协作事实留在企业边界内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4FF71-479B-4E6E-A133-9B10D0C3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62D"/>
                </a:solidFill>
              </a:defRPr>
            </a:pPr>
            <a:r>
              <a:rPr sz="1350" b="1">
                <a:solidFill>
                  <a:srgbClr val="17362D"/>
                </a:solidFill>
              </a:rPr>
              <a:t>价值表达：帮助团队建立统一过程与数据基础，而不是虚构百分比收益。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D2887-2DB3-49F8-BC45-7381608E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家客来  |  客户推广会  |  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5E5B2-9EE3-4822-AAD6-EFECFD0C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预约试用 · 现场登记</a:t>
            </a:r>
          </a:p>
        </p:txBody>
      </p:sp>
    </p:spTree>
    <p:extLst>
      <p:ext uri="{BB962C8B-B14F-4D97-AF65-F5344CB8AC3E}">
        <p14:creationId xmlns:p14="http://schemas.microsoft.com/office/powerpoint/2010/main" val="1010938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D0D6A4-C16D-4459-B5EB-30698825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A36B"/>
                </a:solidFill>
              </a:defRPr>
            </a:pPr>
            <a:r>
              <a:rPr sz="975" b="1">
                <a:solidFill>
                  <a:srgbClr val="20A36B"/>
                </a:solidFill>
              </a:rPr>
              <a:t>现场人员工作流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EC3E5-F4FB-4484-9A10-1A216EBB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2D"/>
                </a:solidFill>
              </a:defRPr>
            </a:pPr>
            <a:r>
              <a:rPr sz="2850" b="1">
                <a:solidFill>
                  <a:srgbClr val="17362D"/>
                </a:solidFill>
              </a:rPr>
              <a:t>地推与测量人员，把每次上门动作接进企业流程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A4E15-E119-4C0E-8862-22F189A5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5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0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4DE0C-826B-4A8E-B4AA-048E8C4D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907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98704-D6D9-4DC9-8226-E64C3DFA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2D"/>
                </a:solidFill>
              </a:defRPr>
            </a:pPr>
            <a:r>
              <a:rPr sz="1650" b="1">
                <a:solidFill>
                  <a:srgbClr val="17362D"/>
                </a:solidFill>
              </a:rPr>
              <a:t>录入客户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80545-2D2D-4939-8F28-93FD0ACB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90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5"/>
                </a:solidFill>
              </a:defRPr>
            </a:pPr>
            <a:r>
              <a:rPr sz="1200" b="0">
                <a:solidFill>
                  <a:srgbClr val="5B6B65"/>
                </a:solidFill>
              </a:rPr>
              <a:t>姓名、电话、社区、面积、风格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A459E-E674-41A4-B8C5-574E05E8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95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0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EAFD6-26AE-41C5-A812-A058459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A468B-55F0-40FE-898E-D9F2B3F1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33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2D"/>
                </a:solidFill>
              </a:defRPr>
            </a:pPr>
            <a:r>
              <a:rPr sz="1650" b="1">
                <a:solidFill>
                  <a:srgbClr val="17362D"/>
                </a:solidFill>
              </a:rPr>
              <a:t>启动量房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287F4-86E6-4081-B95E-A9A49FB7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38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5"/>
                </a:solidFill>
              </a:defRPr>
            </a:pPr>
            <a:r>
              <a:rPr sz="1200" b="0">
                <a:solidFill>
                  <a:srgbClr val="5B6B65"/>
                </a:solidFill>
              </a:rPr>
              <a:t>从客户或项目入口进入正式量房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20EEC-CC35-4CD1-AC55-1E39E892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95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0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85F75-FAA9-43FD-8885-79E33CE4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0ED10-C759-4017-ADC1-B07837FD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2D"/>
                </a:solidFill>
              </a:defRPr>
            </a:pPr>
            <a:r>
              <a:rPr sz="1650" b="1">
                <a:solidFill>
                  <a:srgbClr val="17362D"/>
                </a:solidFill>
              </a:rPr>
              <a:t>建立户型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D55DC-8CA7-40AE-9350-3A9C1161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86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5"/>
                </a:solidFill>
              </a:defRPr>
            </a:pPr>
            <a:r>
              <a:rPr sz="1200" b="0">
                <a:solidFill>
                  <a:srgbClr val="5B6B65"/>
                </a:solidFill>
              </a:rPr>
              <a:t>手动/BLE测距、墙图、门窗、保存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8914A-88A7-4407-B5D1-5B1A546E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95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0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74E85-D4E1-43D5-8F10-62CB80B5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33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A1276-ADF1-4271-9FCD-BDCA2ADB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29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2D"/>
                </a:solidFill>
              </a:defRPr>
            </a:pPr>
            <a:r>
              <a:rPr sz="1650" b="1">
                <a:solidFill>
                  <a:srgbClr val="17362D"/>
                </a:solidFill>
              </a:rPr>
              <a:t>推动交接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AD988-43E4-490D-895F-83EDC3F9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34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5"/>
                </a:solidFill>
              </a:defRPr>
            </a:pPr>
            <a:r>
              <a:rPr sz="1200" b="0">
                <a:solidFill>
                  <a:srgbClr val="5B6B65"/>
                </a:solidFill>
              </a:rPr>
              <a:t>查看设计师确认、通知、回执与提成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7e422eed84dae"/>
          <a:srcRect xmlns:a="http://schemas.openxmlformats.org/drawingml/2006/main" l="0" t="5187" r="0" b="5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619250"/>
            <a:ext cx="2286000" cy="4429125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89FC0-721C-4DEA-A536-4C58530B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家客来  |  客户推广会  |  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92D15-F371-48C7-94B5-8BD66DB2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预约试用 · 现场登记</a:t>
            </a:r>
          </a:p>
        </p:txBody>
      </p:sp>
    </p:spTree>
    <p:extLst>
      <p:ext uri="{BB962C8B-B14F-4D97-AF65-F5344CB8AC3E}">
        <p14:creationId xmlns:p14="http://schemas.microsoft.com/office/powerpoint/2010/main" val="1911258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3F07A-2D48-4C09-8810-9491ED0F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A36B"/>
                </a:solidFill>
              </a:defRPr>
            </a:pPr>
            <a:r>
              <a:rPr sz="975" b="1">
                <a:solidFill>
                  <a:srgbClr val="20A36B"/>
                </a:solidFill>
              </a:rPr>
              <a:t>线索管理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1BD56-CD1F-4298-ABF5-8619E3B0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2D"/>
                </a:solidFill>
              </a:defRPr>
            </a:pPr>
            <a:r>
              <a:rPr sz="2850" b="1">
                <a:solidFill>
                  <a:srgbClr val="17362D"/>
                </a:solidFill>
              </a:rPr>
              <a:t>客户档案，带着明确的业务状态继续往前走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534ee2df543e8"/>
          <a:srcRect xmlns:a="http://schemas.openxmlformats.org/drawingml/2006/main" l="0" t="9969" r="0" b="99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14500"/>
            <a:ext cx="2476500" cy="428625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70909-78C3-4F74-B7EA-A4C8CC0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62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218B-F57F-4D7E-9B64-8010E1C7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7645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62D"/>
                </a:solidFill>
              </a:defRPr>
            </a:pPr>
            <a:r>
              <a:rPr sz="1425" b="0">
                <a:solidFill>
                  <a:srgbClr val="17362D"/>
                </a:solidFill>
              </a:rPr>
              <a:t>客户信息录入、列表、详情、搜索与状态筛选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FED60-2F17-4649-AA39-580B9739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28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846EA-3900-48E1-8389-EDC8A45E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62D"/>
                </a:solidFill>
              </a:defRPr>
            </a:pPr>
            <a:r>
              <a:rPr sz="1425" b="0">
                <a:solidFill>
                  <a:srgbClr val="17362D"/>
                </a:solidFill>
              </a:rPr>
              <a:t>业务状态：新线索 → 量房中 → 设计方案 → 已签约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48106-1ECE-4602-906A-C7EA3B45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95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AAC1B-A260-4AB0-A96B-ECE3AF65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0995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62D"/>
                </a:solidFill>
              </a:defRPr>
            </a:pPr>
            <a:r>
              <a:rPr sz="1425" b="0">
                <a:solidFill>
                  <a:srgbClr val="17362D"/>
                </a:solidFill>
              </a:rPr>
              <a:t>正式量房可关联客户，并展示真实项目与空间信息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4FB7D-C601-4D4A-8450-CA7F5CE4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62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23AFE-7D9C-4063-A97A-C5F43B70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767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62D"/>
                </a:solidFill>
              </a:defRPr>
            </a:pPr>
            <a:r>
              <a:rPr sz="1425" b="0">
                <a:solidFill>
                  <a:srgbClr val="17362D"/>
                </a:solidFill>
              </a:rPr>
              <a:t>归档客户保留历史资产，由授权管理流程恢复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814C5-5737-4A4C-9722-DE31D698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006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A36B"/>
                </a:solidFill>
              </a:defRPr>
            </a:pPr>
            <a:r>
              <a:rPr sz="1275" b="1">
                <a:solidFill>
                  <a:srgbClr val="20A36B"/>
                </a:solidFill>
              </a:rPr>
              <a:t>注意：获客交接确认独立于客户业务状态，不是量房的前置条件。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5B9B0-96F7-4F6C-8163-08B98CF6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家客来  |  客户推广会  |  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BFC41-1F90-4A00-9F92-F5372E17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预约试用 · 现场登记</a:t>
            </a:r>
          </a:p>
        </p:txBody>
      </p:sp>
    </p:spTree>
    <p:extLst>
      <p:ext uri="{BB962C8B-B14F-4D97-AF65-F5344CB8AC3E}">
        <p14:creationId xmlns:p14="http://schemas.microsoft.com/office/powerpoint/2010/main" val="1139574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36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577CE-3989-4125-B5CB-237C5AFE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DABB"/>
                </a:solidFill>
              </a:defRPr>
            </a:pPr>
            <a:r>
              <a:rPr sz="975" b="1">
                <a:solidFill>
                  <a:srgbClr val="A8DABB"/>
                </a:solidFill>
              </a:rPr>
              <a:t>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46352-C680-49D6-95CA-A57C4CC6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为后续设计建立可信的空间底图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60f80e03949e0"/>
          <a:srcRect xmlns:a="http://schemas.openxmlformats.org/drawingml/2006/main" l="0" t="12695" r="0" b="126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066800"/>
            <a:ext cx="2952750" cy="476250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E5409-80FD-4323-8472-3538D0AD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FE0B8"/>
                </a:solidFill>
              </a:defRPr>
            </a:pPr>
            <a:r>
              <a:rPr sz="1650" b="1">
                <a:solidFill>
                  <a:srgbClr val="9FE0B8"/>
                </a:solidFill>
              </a:rPr>
              <a:t>手动 / 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3B1A9-F131-44BF-8B8A-CC63F301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81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3F3EA"/>
                </a:solidFill>
              </a:defRPr>
            </a:pPr>
            <a:r>
              <a:rPr sz="1275" b="0">
                <a:solidFill>
                  <a:srgbClr val="E3F3EA"/>
                </a:solidFill>
              </a:rPr>
              <a:t>兼容激光测距和手动长度输入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C015B-0290-4695-B227-6007619A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FE0B8"/>
                </a:solidFill>
              </a:defRPr>
            </a:pPr>
            <a:r>
              <a:rPr sz="1650" b="1">
                <a:solidFill>
                  <a:srgbClr val="9FE0B8"/>
                </a:solidFill>
              </a:rPr>
              <a:t>墙图 / 门窗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20A40-2864-47DE-9CBB-D07476E9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3F3EA"/>
                </a:solidFill>
              </a:defRPr>
            </a:pPr>
            <a:r>
              <a:rPr sz="1275" b="0">
                <a:solidFill>
                  <a:srgbClr val="E3F3EA"/>
                </a:solidFill>
              </a:rPr>
              <a:t>毫米制墙体、开口与闭合空间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EE95A-93C6-439E-A49F-356A01B1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FE0B8"/>
                </a:solidFill>
              </a:defRPr>
            </a:pPr>
            <a:r>
              <a:rPr sz="1650" b="1">
                <a:solidFill>
                  <a:srgbClr val="9FE0B8"/>
                </a:solidFill>
              </a:rPr>
              <a:t>草稿 / 保存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FBDDD-1E83-432C-8BAB-0CC19EB2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76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3F3EA"/>
                </a:solidFill>
              </a:defRPr>
            </a:pPr>
            <a:r>
              <a:rPr sz="1275" b="0">
                <a:solidFill>
                  <a:srgbClr val="E3F3EA"/>
                </a:solidFill>
              </a:rPr>
              <a:t>本地恢复、云端保存与测量审计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2E09B-1A18-4EBA-B39C-82FDD4E6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DABB"/>
                </a:solidFill>
              </a:defRPr>
            </a:pPr>
            <a:r>
              <a:rPr sz="1200" b="1">
                <a:solidFill>
                  <a:srgbClr val="A8DABB"/>
                </a:solidFill>
              </a:rPr>
              <a:t>BLE连接取决于兼容硬件、手机授权与现场连接状态。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66A38-6458-44F3-9670-8F52807A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家客来  |  客户推广会  |  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4037B-1684-4987-9541-962F62FD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预约试用 · 现场登记</a:t>
            </a:r>
          </a:p>
        </p:txBody>
      </p:sp>
    </p:spTree>
    <p:extLst>
      <p:ext uri="{BB962C8B-B14F-4D97-AF65-F5344CB8AC3E}">
        <p14:creationId xmlns:p14="http://schemas.microsoft.com/office/powerpoint/2010/main" val="7819592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B77F2-FB73-428B-B6B6-A56CA01C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A36B"/>
                </a:solidFill>
              </a:defRPr>
            </a:pPr>
            <a:r>
              <a:rPr sz="975" b="1">
                <a:solidFill>
                  <a:srgbClr val="20A36B"/>
                </a:solidFill>
              </a:rPr>
              <a:t>AI设计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F111F-DFE6-4E8C-993B-67C015EC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2D"/>
                </a:solidFill>
              </a:defRPr>
            </a:pPr>
            <a:r>
              <a:rPr sz="2850" b="1">
                <a:solidFill>
                  <a:srgbClr val="17362D"/>
                </a:solidFill>
              </a:rPr>
              <a:t>让正式户型进入方案表达，但不夸大AI的角色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607b813734133"/>
          <a:srcRect xmlns:a="http://schemas.openxmlformats.org/drawingml/2006/main" l="0" t="5630" r="0" b="56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2333625" cy="4476750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432CC-4A50-43B9-B0E4-AAE7C334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2D"/>
                </a:solidFill>
              </a:defRPr>
            </a:pPr>
            <a:r>
              <a:rPr sz="1650" b="1">
                <a:solidFill>
                  <a:srgbClr val="17362D"/>
                </a:solidFill>
              </a:rPr>
              <a:t>从正式户型出发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0515C-F1A5-4C76-A97A-49857BF5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240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5"/>
                </a:solidFill>
              </a:defRPr>
            </a:pPr>
            <a:r>
              <a:rPr sz="1200" b="0">
                <a:solidFill>
                  <a:srgbClr val="5B6B65"/>
                </a:solidFill>
              </a:rPr>
              <a:t>选择整户或单空间作为目标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38F37-8A77-4DBA-926F-2E92A764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2D"/>
                </a:solidFill>
              </a:defRPr>
            </a:pPr>
            <a:r>
              <a:rPr sz="1650" b="1">
                <a:solidFill>
                  <a:srgbClr val="17362D"/>
                </a:solidFill>
              </a:rPr>
              <a:t>沿工作流推进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EE3CB-A580-4762-B429-C7AD7421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432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5"/>
                </a:solidFill>
              </a:defRPr>
            </a:pPr>
            <a:r>
              <a:rPr sz="1200" b="0">
                <a:solidFill>
                  <a:srgbClr val="5B6B65"/>
                </a:solidFill>
              </a:rPr>
              <a:t>空间基线、风格、软装与方案完善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A97FF-58C6-4C22-BF9E-72E1DD52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2D"/>
                </a:solidFill>
              </a:defRPr>
            </a:pPr>
            <a:r>
              <a:rPr sz="1650" b="1">
                <a:solidFill>
                  <a:srgbClr val="17362D"/>
                </a:solidFill>
              </a:rPr>
              <a:t>保留真实任务状态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2CD9F-9143-4CE6-A436-8B22D048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5"/>
                </a:solidFill>
              </a:defRPr>
            </a:pPr>
            <a:r>
              <a:rPr sz="1200" b="0">
                <a:solidFill>
                  <a:srgbClr val="5B6B65"/>
                </a:solidFill>
              </a:rPr>
              <a:t>历史、进度、失败与重试入口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5D255-C90D-4C2E-B28A-5B575C5A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2D"/>
                </a:solidFill>
              </a:defRPr>
            </a:pPr>
            <a:r>
              <a:rPr sz="1650" b="1">
                <a:solidFill>
                  <a:srgbClr val="17362D"/>
                </a:solidFill>
              </a:rPr>
              <a:t>设定正确预期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0AC37-DB3F-40FD-AB77-79DA47DD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815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5"/>
                </a:solidFill>
              </a:defRPr>
            </a:pPr>
            <a:r>
              <a:rPr sz="1200" b="0">
                <a:solidFill>
                  <a:srgbClr val="5B6B65"/>
                </a:solidFill>
              </a:rPr>
              <a:t>AI结果用于方案参考和概念表达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0F891-6F11-4BF1-BD38-9159937E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86375"/>
            <a:ext cx="6191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2E754-5954-48E6-9FED-D77BA27B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4578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A36B"/>
                </a:solidFill>
              </a:defRPr>
            </a:pPr>
            <a:r>
              <a:rPr sz="1200" b="1">
                <a:solidFill>
                  <a:srgbClr val="20A36B"/>
                </a:solidFill>
              </a:rPr>
              <a:t>依赖企业AI配置、额度、有效正式户型与当前权限。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9DAA0-A1FA-4823-9863-DA3D70F5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家客来  |  客户推广会  |  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49E9B-B359-4E8C-B00A-35ECC9A8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预约试用 · 现场登记</a:t>
            </a:r>
          </a:p>
        </p:txBody>
      </p:sp>
    </p:spTree>
    <p:extLst>
      <p:ext uri="{BB962C8B-B14F-4D97-AF65-F5344CB8AC3E}">
        <p14:creationId xmlns:p14="http://schemas.microsoft.com/office/powerpoint/2010/main" val="17737761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FC9E7-9775-4C1A-BDEA-46A73781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A36B"/>
                </a:solidFill>
              </a:defRPr>
            </a:pPr>
            <a:r>
              <a:rPr sz="975" b="1">
                <a:solidFill>
                  <a:srgbClr val="20A36B"/>
                </a:solidFill>
              </a:rPr>
              <a:t>协作交接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07D19-8540-4D6C-9A87-3E0683A4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2D"/>
                </a:solidFill>
              </a:defRPr>
            </a:pPr>
            <a:r>
              <a:rPr sz="2850" b="1">
                <a:solidFill>
                  <a:srgbClr val="17362D"/>
                </a:solidFill>
              </a:rPr>
              <a:t>测量员与设计师，用同一条协作事实完成客户交接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90599-FFC4-41BF-919E-99F909F3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238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E1F50-1FC6-43B8-AB27-B78091E2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36B"/>
                </a:solidFill>
              </a:defRPr>
            </a:pPr>
            <a:r>
              <a:rPr sz="1800" b="1">
                <a:solidFill>
                  <a:srgbClr val="20A36B"/>
                </a:solidFill>
              </a:rPr>
              <a:t>测量员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8D0B3-082F-4102-B741-18405251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62D"/>
                </a:solidFill>
              </a:defRPr>
            </a:pPr>
            <a:r>
              <a:rPr sz="1275" b="0">
                <a:solidFill>
                  <a:srgbClr val="17362D"/>
                </a:solidFill>
              </a:rPr>
              <a:t>提交客户，查看当前设计师、通知与回执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CC9EE-8AA4-4515-9716-47D32654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0"/>
            <a:ext cx="3238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E9E06-2657-4090-B00C-622F3701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36B"/>
                </a:solidFill>
              </a:defRPr>
            </a:pPr>
            <a:r>
              <a:rPr sz="1800" b="1">
                <a:solidFill>
                  <a:srgbClr val="20A36B"/>
                </a:solidFill>
              </a:rPr>
              <a:t>设计师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128F1-FAC4-4B80-9DFB-FC227586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0517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62D"/>
                </a:solidFill>
              </a:defRPr>
            </a:pPr>
            <a:r>
              <a:rPr sz="1275" b="0">
                <a:solidFill>
                  <a:srgbClr val="17362D"/>
                </a:solidFill>
              </a:rPr>
              <a:t>在协作工作台确认已添加客户微信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7EFFF-6BEB-4CD6-AA85-39BE9A73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3238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A2D31-CDF3-42A9-9ECC-253D680C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36B"/>
                </a:solidFill>
              </a:defRPr>
            </a:pPr>
            <a:r>
              <a:rPr sz="1800" b="1">
                <a:solidFill>
                  <a:srgbClr val="20A36B"/>
                </a:solidFill>
              </a:rPr>
              <a:t>企业管理员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861F1-F410-4A3E-A494-AB43066B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0517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62D"/>
                </a:solidFill>
              </a:defRPr>
            </a:pPr>
            <a:r>
              <a:rPr sz="1275" b="0">
                <a:solidFill>
                  <a:srgbClr val="17362D"/>
                </a:solidFill>
              </a:rPr>
              <a:t>管理绑定关系、固定提成规则与结算记录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24974-2AA3-4E0B-931F-7404265F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62D"/>
                </a:solidFill>
              </a:defRPr>
            </a:pPr>
            <a:r>
              <a:rPr sz="1425" b="1">
                <a:solidFill>
                  <a:srgbClr val="17362D"/>
                </a:solidFill>
              </a:rPr>
              <a:t>确认交接不会改变客户业务状态；自动打款 / 银行代发当前未开放。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051AC-61ED-4D18-BB8E-442DEE0E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家客来  |  客户推广会  |  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A9A94-516D-49C0-ABB0-2F3C7D70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预约试用 · 现场登记</a:t>
            </a:r>
          </a:p>
        </p:txBody>
      </p:sp>
    </p:spTree>
    <p:extLst>
      <p:ext uri="{BB962C8B-B14F-4D97-AF65-F5344CB8AC3E}">
        <p14:creationId xmlns:p14="http://schemas.microsoft.com/office/powerpoint/2010/main" val="885606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225C6-E124-4A5F-95BC-7E10CC41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A36B"/>
                </a:solidFill>
              </a:defRPr>
            </a:pPr>
            <a:r>
              <a:rPr sz="975" b="1">
                <a:solidFill>
                  <a:srgbClr val="20A36B"/>
                </a:solidFill>
              </a:rPr>
              <a:t>企业管理端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B831B-F54B-4994-B923-0F7CFEF7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2D"/>
                </a:solidFill>
              </a:defRPr>
            </a:pPr>
            <a:r>
              <a:rPr sz="2850" b="1">
                <a:solidFill>
                  <a:srgbClr val="17362D"/>
                </a:solidFill>
              </a:rPr>
              <a:t>把员工、权限、设备与经营规则放回企业管理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EAEB5-59E5-4E1C-BB6D-E7C8C9A6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857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72925-1E64-4314-A00F-D9932DCC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2D"/>
                </a:solidFill>
              </a:defRPr>
            </a:pPr>
            <a:r>
              <a:rPr sz="1725" b="1">
                <a:solidFill>
                  <a:srgbClr val="17362D"/>
                </a:solidFill>
              </a:rPr>
              <a:t>员工与角色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B6996-F6B6-4918-8F99-B572A216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5"/>
                </a:solidFill>
              </a:defRPr>
            </a:pPr>
            <a:r>
              <a:rPr sz="1275" b="0">
                <a:solidFill>
                  <a:srgbClr val="5B6B65"/>
                </a:solidFill>
              </a:rPr>
              <a:t>员工资料、角色与企业权限边界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7A90D-E93B-4087-943C-36DD232E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81200"/>
            <a:ext cx="4857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BAF3A-184B-4D5C-ABED-14A0F6AE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2D"/>
                </a:solidFill>
              </a:defRPr>
            </a:pPr>
            <a:r>
              <a:rPr sz="1725" b="1">
                <a:solidFill>
                  <a:srgbClr val="17362D"/>
                </a:solidFill>
              </a:rPr>
              <a:t>线索与客户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8B69F-6651-4837-9BEB-ADFEC71B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193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5"/>
                </a:solidFill>
              </a:defRPr>
            </a:pPr>
            <a:r>
              <a:rPr sz="1275" b="0">
                <a:solidFill>
                  <a:srgbClr val="5B6B65"/>
                </a:solidFill>
              </a:rPr>
              <a:t>企业范围内的客户、归档和业务过程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C574F-D8A4-41BA-852E-7678F879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857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9108D-53C8-4297-BDB9-AEC0AF32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2D"/>
                </a:solidFill>
              </a:defRPr>
            </a:pPr>
            <a:r>
              <a:rPr sz="1725" b="1">
                <a:solidFill>
                  <a:srgbClr val="17362D"/>
                </a:solidFill>
              </a:rPr>
              <a:t>设备管理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D943A-B257-4AF5-BB9B-18C4B7AD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5"/>
                </a:solidFill>
              </a:defRPr>
            </a:pPr>
            <a:r>
              <a:rPr sz="1275" b="0">
                <a:solidFill>
                  <a:srgbClr val="5B6B65"/>
                </a:solidFill>
              </a:rPr>
              <a:t>设备绑定与状态，限制授权使用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4C69C-C3A8-4DAA-AEFA-23CAA4CD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0450"/>
            <a:ext cx="4857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C13B9-832D-437A-B029-4785C51F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2D"/>
                </a:solidFill>
              </a:defRPr>
            </a:pPr>
            <a:r>
              <a:rPr sz="1725" b="1">
                <a:solidFill>
                  <a:srgbClr val="17362D"/>
                </a:solidFill>
              </a:rPr>
              <a:t>AI与提成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54523-EF99-4BC5-82D6-35DA5854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38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5"/>
                </a:solidFill>
              </a:defRPr>
            </a:pPr>
            <a:r>
              <a:rPr sz="1275" b="0">
                <a:solidFill>
                  <a:srgbClr val="5B6B65"/>
                </a:solidFill>
              </a:rPr>
              <a:t>企业AI额度、价格展示与人工结算记录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E9475-05EF-4862-ADA6-CF968941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A36B"/>
                </a:solidFill>
              </a:defRPr>
            </a:pPr>
            <a:r>
              <a:rPr sz="1350" b="1">
                <a:solidFill>
                  <a:srgbClr val="20A36B"/>
                </a:solidFill>
              </a:rPr>
              <a:t>数据在企业上下文与角色边界内读取，避免把客户数据混在个人工具中。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6B8ED-090C-451C-A398-9FCBAF5F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家客来  |  客户推广会  |  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9BBB5-3448-43D6-8489-74DFA73B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预约试用 · 现场登记</a:t>
            </a:r>
          </a:p>
        </p:txBody>
      </p:sp>
    </p:spTree>
    <p:extLst>
      <p:ext uri="{BB962C8B-B14F-4D97-AF65-F5344CB8AC3E}">
        <p14:creationId xmlns:p14="http://schemas.microsoft.com/office/powerpoint/2010/main" val="18305600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6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7AABD-4D53-4A29-8CB5-3DCB46F9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真实能力，才值得被推广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7CBC9-2333-489F-B372-41C840EE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FE0B8"/>
                </a:solidFill>
              </a:defRPr>
            </a:pPr>
            <a:r>
              <a:rPr sz="1500" b="1">
                <a:solidFill>
                  <a:srgbClr val="9FE0B8"/>
                </a:solidFill>
              </a:rPr>
              <a:t>已实现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6CC61-3843-4F56-8251-6EB423E9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3F3EA"/>
                </a:solidFill>
              </a:defRPr>
            </a:pPr>
            <a:r>
              <a:rPr sz="1275" b="0">
                <a:solidFill>
                  <a:srgbClr val="E3F3EA"/>
                </a:solidFill>
              </a:rPr>
              <a:t>线索、正式量房、BLE/手动测量、墙图、AI工作流、协作通知、权限与企业管理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D77C4-BDF8-4603-9DB5-EDB25DF1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FE0B8"/>
                </a:solidFill>
              </a:defRPr>
            </a:pPr>
            <a:r>
              <a:rPr sz="1500" b="1">
                <a:solidFill>
                  <a:srgbClr val="9FE0B8"/>
                </a:solidFill>
              </a:rPr>
              <a:t>有条件支持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43FF2-2A53-4C18-B25F-710C98A2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19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3F3EA"/>
                </a:solidFill>
              </a:defRPr>
            </a:pPr>
            <a:r>
              <a:rPr sz="1275" b="0">
                <a:solidFill>
                  <a:srgbClr val="E3F3EA"/>
                </a:solidFill>
              </a:rPr>
              <a:t>BLE依赖兼容硬件；AI依赖配置、额度、有效户型和权限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653C2-3B2D-4C3F-A4B6-5BCC7109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FE0B8"/>
                </a:solidFill>
              </a:defRPr>
            </a:pPr>
            <a:r>
              <a:rPr sz="1500" b="1">
                <a:solidFill>
                  <a:srgbClr val="9FE0B8"/>
                </a:solidFill>
              </a:rPr>
              <a:t>当前限制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0F38A-0214-4C08-9E7C-2E6A8E08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3F3EA"/>
                </a:solidFill>
              </a:defRPr>
            </a:pPr>
            <a:r>
              <a:rPr sz="1275" b="0">
                <a:solidFill>
                  <a:srgbClr val="E3F3EA"/>
                </a:solidFill>
              </a:rPr>
              <a:t>自动打款未开放；小程序完整报告导出不作为核心承诺；AI不是施工图或自动成交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71C45-47F1-47F0-88EE-1F9FC0AD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FE0B8"/>
                </a:solidFill>
              </a:defRPr>
            </a:pPr>
            <a:r>
              <a:rPr sz="1500" b="1">
                <a:solidFill>
                  <a:srgbClr val="9FE0B8"/>
                </a:solidFill>
              </a:rPr>
              <a:t>安全边界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B4A4D-093A-474D-A5D7-9DC2D56B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3F3EA"/>
                </a:solidFill>
              </a:defRPr>
            </a:pPr>
            <a:r>
              <a:rPr sz="1275" b="0">
                <a:solidFill>
                  <a:srgbClr val="E3F3EA"/>
                </a:solidFill>
              </a:rPr>
              <a:t>企业上下文、角色权限与数据访问范围由系统控制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59315-342B-4DB5-BCEA-0113D365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DABB"/>
                </a:solidFill>
              </a:defRPr>
            </a:pPr>
            <a:r>
              <a:rPr sz="1500" b="1">
                <a:solidFill>
                  <a:srgbClr val="A8DABB"/>
                </a:solidFill>
              </a:rPr>
              <a:t>承诺可演示的能力，用真实场景建立信任。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70386-6886-4CE3-BF14-3550F975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家客来  |  客户推广会  |  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993A5-FF8E-4B36-AF2F-49A95E65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65"/>
                </a:solidFill>
              </a:defRPr>
            </a:pPr>
            <a:r>
              <a:rPr sz="750" b="0">
                <a:solidFill>
                  <a:srgbClr val="5B6B65"/>
                </a:solidFill>
              </a:rPr>
              <a:t>预约试用 · 现场登记</a:t>
            </a:r>
          </a:p>
        </p:txBody>
      </p:sp>
    </p:spTree>
    <p:extLst>
      <p:ext uri="{BB962C8B-B14F-4D97-AF65-F5344CB8AC3E}">
        <p14:creationId xmlns:p14="http://schemas.microsoft.com/office/powerpoint/2010/main" val="4372033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6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108e5695d49e0"/>
          <a:stretch xmlns:a="http://schemas.openxmlformats.org/drawingml/2006/main"/>
        </p:blipFill>
        <p:spPr>
          <a:xfrm xmlns:a="http://schemas.openxmlformats.org/drawingml/2006/main">
            <a:off x="7810500" y="1547813"/>
            <a:ext cx="2190750" cy="3286125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2CEE1-5133-4D3A-88D5-B087624F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628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下一步，安排一场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属于贵公司的试用演示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A0E88-17F3-4B8F-9710-21D691A9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628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F1E3"/>
                </a:solidFill>
              </a:defRPr>
            </a:pPr>
            <a:r>
              <a:rPr sz="1500" b="0">
                <a:solidFill>
                  <a:srgbClr val="D7F1E3"/>
                </a:solidFill>
              </a:rPr>
              <a:t>现场登记企业名称、联系人、角色、现有获客方式、</a:t>
            </a:r>
          </a:p>
          <a:p xmlns:a="http://schemas.openxmlformats.org/drawingml/2006/main">
            <a:pPr algn="l">
              <a:defRPr sz="1500" b="0">
                <a:solidFill>
                  <a:srgbClr val="D7F1E3"/>
                </a:solidFill>
              </a:defRPr>
            </a:pPr>
            <a:r>
              <a:rPr sz="1500" b="0">
                <a:solidFill>
                  <a:srgbClr val="D7F1E3"/>
                </a:solidFill>
              </a:rPr>
              <a:t>测量设备情况与希望优先体验的功能。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8299D-65FD-4908-824C-26698FC0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5143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AD1D4-E9CC-4CA9-AF58-36A8D69A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62D"/>
                </a:solidFill>
              </a:defRPr>
            </a:pPr>
            <a:r>
              <a:rPr sz="1350" b="1">
                <a:solidFill>
                  <a:srgbClr val="17362D"/>
                </a:solidFill>
              </a:rPr>
              <a:t>待替换：预约二维码 / 联系人微信 / 电话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AEDEA-392C-4D24-9F0D-B2F870FB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DABB"/>
                </a:solidFill>
              </a:defRPr>
            </a:pPr>
            <a:r>
              <a:rPr sz="1425" b="1">
                <a:solidFill>
                  <a:srgbClr val="A8DABB"/>
                </a:solidFill>
              </a:rPr>
              <a:t>用真实客户场景，验证家客来是否适合你的团队。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44D9D-5D74-4A17-8CB9-BE270DA2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DABB"/>
                </a:solidFill>
              </a:defRPr>
            </a:pPr>
            <a:r>
              <a:rPr sz="900" b="0">
                <a:solidFill>
                  <a:srgbClr val="A8DABB"/>
                </a:solidFill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829483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2026-08-12T02:26:04.6980000Z</dcterms:created>
  <dcterms:modified xsi:type="dcterms:W3CDTF">2026-08-12T02:26:04.6980000Z</dcterms:modified>
</coreProperties>
</file>
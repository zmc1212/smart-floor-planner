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6a3c63f7fb4ea3" /><Relationship Type="http://schemas.openxmlformats.org/officeDocument/2006/relationships/extended-properties" Target="/docProps/app.xml" Id="R882751456e1f4641" /><Relationship Type="http://schemas.openxmlformats.org/officeDocument/2006/relationships/officeDocument" Target="/ppt/presentation.xml" Id="R463a32a607964b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5f621ff636454f"/>
  </p:sldMasterIdLst>
  <p:notesMasterIdLst>
    <p:notesMasterId xmlns:r="http://schemas.openxmlformats.org/officeDocument/2006/relationships" r:id="R15e888db35b344f0"/>
  </p:notesMasterIdLst>
  <p:sldIdLst>
    <p:sldId xmlns:r="http://schemas.openxmlformats.org/officeDocument/2006/relationships" id="256" r:id="R99b7ea5d0ac145ea"/>
    <p:sldId xmlns:r="http://schemas.openxmlformats.org/officeDocument/2006/relationships" id="257" r:id="R5fe813d35f094b03"/>
    <p:sldId xmlns:r="http://schemas.openxmlformats.org/officeDocument/2006/relationships" id="258" r:id="R335bb5b753d74377"/>
    <p:sldId xmlns:r="http://schemas.openxmlformats.org/officeDocument/2006/relationships" id="259" r:id="Re049f9edcd0241a6"/>
    <p:sldId xmlns:r="http://schemas.openxmlformats.org/officeDocument/2006/relationships" id="260" r:id="R835e7f73e43f4695"/>
    <p:sldId xmlns:r="http://schemas.openxmlformats.org/officeDocument/2006/relationships" id="261" r:id="Rd38b585206bf43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d78741b3a24f8b" /><Relationship Type="http://schemas.openxmlformats.org/officeDocument/2006/relationships/slideMaster" Target="/ppt/slideMasters/slideMaster1.xml" Id="Rf05f621ff636454f" /><Relationship Type="http://schemas.openxmlformats.org/officeDocument/2006/relationships/notesMaster" Target="/ppt/notesMasters/notesMaster1.xml" Id="R15e888db35b344f0" /><Relationship Type="http://schemas.openxmlformats.org/officeDocument/2006/relationships/presProps" Target="/ppt/presProps.xml" Id="R88a3fe31d7e64147" /><Relationship Type="http://schemas.openxmlformats.org/officeDocument/2006/relationships/tableStyles" Target="/ppt/tableStyles.xml" Id="R9dc13221a96548c1" /><Relationship Type="http://schemas.openxmlformats.org/officeDocument/2006/relationships/slide" Target="/ppt/slides/slide1.xml" Id="R99b7ea5d0ac145ea" /><Relationship Type="http://schemas.openxmlformats.org/officeDocument/2006/relationships/slide" Target="/ppt/slides/slide2.xml" Id="R5fe813d35f094b03" /><Relationship Type="http://schemas.openxmlformats.org/officeDocument/2006/relationships/slide" Target="/ppt/slides/slide3.xml" Id="R335bb5b753d74377" /><Relationship Type="http://schemas.openxmlformats.org/officeDocument/2006/relationships/slide" Target="/ppt/slides/slide4.xml" Id="Re049f9edcd0241a6" /><Relationship Type="http://schemas.openxmlformats.org/officeDocument/2006/relationships/slide" Target="/ppt/slides/slide5.xml" Id="R835e7f73e43f4695" /><Relationship Type="http://schemas.openxmlformats.org/officeDocument/2006/relationships/slide" Target="/ppt/slides/slide6.xml" Id="Rd38b585206bf43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a36609babb4c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78b3dc165745b5" /><Relationship Type="http://schemas.openxmlformats.org/officeDocument/2006/relationships/notesMaster" Target="/ppt/notesMasters/notesMaster1.xml" Id="Rd1f4dda177a24b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92a11400804851" /><Relationship Type="http://schemas.openxmlformats.org/officeDocument/2006/relationships/notesMaster" Target="/ppt/notesMasters/notesMaster1.xml" Id="R5325fe5280d34f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386b38f5e84a9d" /><Relationship Type="http://schemas.openxmlformats.org/officeDocument/2006/relationships/notesMaster" Target="/ppt/notesMasters/notesMaster1.xml" Id="R3adbd47c9a594a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ebbb8221c747ea" /><Relationship Type="http://schemas.openxmlformats.org/officeDocument/2006/relationships/notesMaster" Target="/ppt/notesMasters/notesMaster1.xml" Id="R2e550dfe24154c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a7c13e46fc45b3" /><Relationship Type="http://schemas.openxmlformats.org/officeDocument/2006/relationships/notesMaster" Target="/ppt/notesMasters/notesMaster1.xml" Id="Ra71d10ed043c4d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e5079a3218458e" /><Relationship Type="http://schemas.openxmlformats.org/officeDocument/2006/relationships/notesMaster" Target="/ppt/notesMasters/notesMaster1.xml" Id="Raba5506488b843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72b1885d8b46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ef9408fb684328" /><Relationship Type="http://schemas.openxmlformats.org/officeDocument/2006/relationships/slideLayout" Target="/ppt/slideLayouts/slideLayout1.xml" Id="Rd1288285a13046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288285a13046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0190964204db5" /><Relationship Type="http://schemas.openxmlformats.org/officeDocument/2006/relationships/notesSlide" Target="/ppt/notesSlides/notesSlide1.xml" Id="R46c40cee4ffd4e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6174546db4010" /><Relationship Type="http://schemas.openxmlformats.org/officeDocument/2006/relationships/notesSlide" Target="/ppt/notesSlides/notesSlide2.xml" Id="R72c2be3393d344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45ca47d7e4339" /><Relationship Type="http://schemas.openxmlformats.org/officeDocument/2006/relationships/notesSlide" Target="/ppt/notesSlides/notesSlide3.xml" Id="R20ded8e4a21e4a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d750da63a49ff" /><Relationship Type="http://schemas.openxmlformats.org/officeDocument/2006/relationships/notesSlide" Target="/ppt/notesSlides/notesSlide4.xml" Id="R4096be46209e4a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3c89ee23c4661" /><Relationship Type="http://schemas.openxmlformats.org/officeDocument/2006/relationships/notesSlide" Target="/ppt/notesSlides/notesSlide5.xml" Id="Ra37ccc9f5aa54d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23a32e77f4052" /><Relationship Type="http://schemas.openxmlformats.org/officeDocument/2006/relationships/notesSlide" Target="/ppt/notesSlides/notesSlide6.xml" Id="Rd7998293b88d4c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CAC92-4E2A-4393-B9F6-FF9097A5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C62AD-EB06-421D-AA2F-BE719967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A75A"/>
                </a:solidFill>
              </a:defRPr>
            </a:pPr>
            <a:r>
              <a:rPr sz="1200" b="1">
                <a:solidFill>
                  <a:srgbClr val="12A75A"/>
                </a:solidFill>
              </a:rPr>
              <a:t>家客来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0E19D-6B80-40D6-AC55-881D8FF8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"/>
            <a:ext cx="3238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B756A"/>
                </a:solidFill>
              </a:defRPr>
            </a:pPr>
            <a:r>
              <a:rPr sz="1050" b="1">
                <a:solidFill>
                  <a:srgbClr val="5B756A"/>
                </a:solidFill>
              </a:rPr>
              <a:t>设计师主线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93F38-0A3F-4BAC-A815-C9505163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09575"/>
            <a:ext cx="66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756A"/>
                </a:solidFill>
              </a:defRPr>
            </a:pPr>
            <a:r>
              <a:rPr sz="1050" b="1">
                <a:solidFill>
                  <a:srgbClr val="5B756A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1322E-ED8F-4FE7-A603-7D2984D2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4D7"/>
            </a:solidFill>
            <a:prstDash val="solid"/>
          </a:ln>
        </p:spPr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1F5514-AB1A-4B02-A0C6-C477983C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781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3D31"/>
                </a:solidFill>
              </a:defRPr>
            </a:pPr>
            <a:r>
              <a:rPr sz="3600" b="1">
                <a:solidFill>
                  <a:srgbClr val="123D31"/>
                </a:solidFill>
              </a:rPr>
              <a:t>设计师，是客户体验与成交推进的关键角色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2C10C1-C36F-4A66-AA70-5BF2F443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756A"/>
                </a:solidFill>
              </a:defRPr>
            </a:pPr>
            <a:r>
              <a:rPr sz="1725">
                <a:solidFill>
                  <a:srgbClr val="5B756A"/>
                </a:solidFill>
              </a:rPr>
              <a:t>客户是否被接住、需求是否被理解、方案是否能讲清，</a:t>
            </a:r>
          </a:p>
          <a:p xmlns:a="http://schemas.openxmlformats.org/drawingml/2006/main">
            <a:pPr>
              <a:defRPr sz="1725">
                <a:solidFill>
                  <a:srgbClr val="5B756A"/>
                </a:solidFill>
              </a:defRPr>
            </a:pPr>
            <a:r>
              <a:rPr sz="1725">
                <a:solidFill>
                  <a:srgbClr val="5B756A"/>
                </a:solidFill>
              </a:rPr>
              <a:t>最终都由设计师把服务往前推进。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D5F53-8504-4298-872E-87DD724F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52575"/>
            <a:ext cx="3086100" cy="293370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DDF5E6"/>
          </a:solidFill>
          <a:ln xmlns:a="http://schemas.openxmlformats.org/drawingml/2006/main" w="9525">
            <a:solidFill>
              <a:srgbClr val="CFE4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93636C-2B49-401D-B1CB-D1C02E0B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621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D31"/>
                </a:solidFill>
              </a:defRPr>
            </a:pPr>
            <a:r>
              <a:rPr sz="1800" b="1">
                <a:solidFill>
                  <a:srgbClr val="123D31"/>
                </a:solidFill>
              </a:rPr>
              <a:t>设计师的工作不是</a:t>
            </a:r>
          </a:p>
          <a:p xmlns:a="http://schemas.openxmlformats.org/drawingml/2006/main">
            <a:pPr algn="ctr">
              <a:defRPr sz="1800" b="1">
                <a:solidFill>
                  <a:srgbClr val="123D31"/>
                </a:solidFill>
              </a:defRPr>
            </a:pPr>
            <a:r>
              <a:rPr sz="1800" b="1">
                <a:solidFill>
                  <a:srgbClr val="123D31"/>
                </a:solidFill>
              </a:rPr>
              <a:t>“出一张效果图”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92C56-212A-4741-9D0C-8220EBF7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57500"/>
            <a:ext cx="177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A7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31146-216A-4AC4-A0F4-D33A97E3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33725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A75A"/>
                </a:solidFill>
              </a:defRPr>
            </a:pPr>
            <a:r>
              <a:rPr sz="1575" b="1">
                <a:solidFill>
                  <a:srgbClr val="12A75A"/>
                </a:solidFill>
              </a:rPr>
              <a:t>而是接住客户、</a:t>
            </a:r>
          </a:p>
          <a:p xmlns:a="http://schemas.openxmlformats.org/drawingml/2006/main">
            <a:pPr algn="ctr">
              <a:defRPr sz="1575" b="1">
                <a:solidFill>
                  <a:srgbClr val="12A75A"/>
                </a:solidFill>
              </a:defRPr>
            </a:pPr>
            <a:r>
              <a:rPr sz="1575" b="1">
                <a:solidFill>
                  <a:srgbClr val="12A75A"/>
                </a:solidFill>
              </a:rPr>
              <a:t>理解空间、推进沟通。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010E0-7172-4C3E-BD5C-AE76537F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23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704EF3-E182-4CB5-992E-D11F5641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9800"/>
            <a:ext cx="1047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先把设计师的客户服务过程跑顺，企业才有可复制的服务能力。</a:t>
            </a:r>
          </a:p>
        </p:txBody>
      </p:sp>
    </p:spTree>
    <p:extLst>
      <p:ext uri="{BB962C8B-B14F-4D97-AF65-F5344CB8AC3E}">
        <p14:creationId xmlns:p14="http://schemas.microsoft.com/office/powerpoint/2010/main" val="20917367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98984F-F7FA-412B-B325-F8BE6266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A20E8-4F54-4938-B536-C958A3BC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A75A"/>
                </a:solidFill>
              </a:defRPr>
            </a:pPr>
            <a:r>
              <a:rPr sz="1200" b="1">
                <a:solidFill>
                  <a:srgbClr val="12A75A"/>
                </a:solidFill>
              </a:rPr>
              <a:t>家客来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4C52B-5983-48EB-A88E-5F99F7F3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"/>
            <a:ext cx="3238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B756A"/>
                </a:solidFill>
              </a:defRPr>
            </a:pPr>
            <a:r>
              <a:rPr sz="1050" b="1">
                <a:solidFill>
                  <a:srgbClr val="5B756A"/>
                </a:solidFill>
              </a:rPr>
              <a:t>客户入口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470F1-FAE1-4437-94C3-F4FD8B11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09575"/>
            <a:ext cx="66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756A"/>
                </a:solidFill>
              </a:defRPr>
            </a:pPr>
            <a:r>
              <a:rPr sz="1050" b="1">
                <a:solidFill>
                  <a:srgbClr val="5B756A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BCE74-81BB-4C26-8055-033C24C3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4D7"/>
            </a:solidFill>
            <a:prstDash val="solid"/>
          </a:ln>
        </p:spPr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7F0F04-C580-47DC-A69B-7BDB3A33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23D31"/>
                </a:solidFill>
              </a:defRPr>
            </a:pPr>
            <a:r>
              <a:rPr sz="2625" b="1">
                <a:solidFill>
                  <a:srgbClr val="123D31"/>
                </a:solidFill>
              </a:rPr>
              <a:t>客户可以从不同入口进来，但应由设计师统一推进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1DAB2-178F-4031-A378-A12E650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38325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756A"/>
                </a:solidFill>
              </a:defRPr>
            </a:pPr>
            <a:r>
              <a:rPr sz="1350">
                <a:solidFill>
                  <a:srgbClr val="5B756A"/>
                </a:solidFill>
              </a:rPr>
              <a:t>客户来源不同，客户记录只有一条；设计师接手后，服务才进入同一条主线。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B9550-D520-481F-AD99-3C10D163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0574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4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82EE4-CD19-44E9-90C0-D2B7D62B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3D31"/>
                </a:solidFill>
              </a:defRPr>
            </a:pPr>
            <a:r>
              <a:rPr sz="1725" b="1">
                <a:solidFill>
                  <a:srgbClr val="123D31"/>
                </a:solidFill>
              </a:rPr>
              <a:t>销售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4428A-5511-47AA-8B90-AA2F4EBA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756A"/>
                </a:solidFill>
              </a:defRPr>
            </a:pPr>
            <a:r>
              <a:rPr sz="1125">
                <a:solidFill>
                  <a:srgbClr val="5B756A"/>
                </a:solidFill>
              </a:rPr>
              <a:t>带来线索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F62E75-9000-4E5A-BC31-5CC62D3B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A7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8EE3C-0C99-4A95-AD43-B1AA1044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62250"/>
            <a:ext cx="20574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4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BEC998-A005-4155-9314-D5E00A6A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00375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3D31"/>
                </a:solidFill>
              </a:defRPr>
            </a:pPr>
            <a:r>
              <a:rPr sz="1725" b="1">
                <a:solidFill>
                  <a:srgbClr val="123D31"/>
                </a:solidFill>
              </a:rPr>
              <a:t>测量员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4EADC-CDA1-48A0-9135-D7BD949D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71850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756A"/>
                </a:solidFill>
              </a:defRPr>
            </a:pPr>
            <a:r>
              <a:rPr sz="1125">
                <a:solidFill>
                  <a:srgbClr val="5B756A"/>
                </a:solidFill>
              </a:rPr>
              <a:t>完成空间信息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465A9-179E-40BE-ADF1-0409516C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28612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A7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696627-345A-4380-8538-EFFB65A4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62250"/>
            <a:ext cx="20574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4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F799A3-F1AE-4891-94B0-B2D96F71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0375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3D31"/>
                </a:solidFill>
              </a:defRPr>
            </a:pPr>
            <a:r>
              <a:rPr sz="1725" b="1">
                <a:solidFill>
                  <a:srgbClr val="123D31"/>
                </a:solidFill>
              </a:rPr>
              <a:t>设计师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9C1D14-DC7B-474D-BD4D-EA19AF1D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71850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756A"/>
                </a:solidFill>
              </a:defRPr>
            </a:pPr>
            <a:r>
              <a:rPr sz="1125">
                <a:solidFill>
                  <a:srgbClr val="5B756A"/>
                </a:solidFill>
              </a:rPr>
              <a:t>直接接待客户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ACF416-86EE-4DE4-BF4C-BBF92340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8612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A7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F8B885-A6FC-4FF2-80A1-83B232A0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28900"/>
            <a:ext cx="28575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3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F6CBA7-6E87-4751-A400-398C84D1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1465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设计师统一推进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48729C-1776-4D47-BBCF-01B77AF7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956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CBEEDA"/>
                </a:solidFill>
              </a:defRPr>
            </a:pPr>
            <a:r>
              <a:rPr sz="1275">
                <a:solidFill>
                  <a:srgbClr val="CBEEDA"/>
                </a:solidFill>
              </a:rPr>
              <a:t>同一客户记录</a:t>
            </a:r>
          </a:p>
          <a:p xmlns:a="http://schemas.openxmlformats.org/drawingml/2006/main">
            <a:pPr algn="ctr">
              <a:defRPr sz="1275">
                <a:solidFill>
                  <a:srgbClr val="CBEEDA"/>
                </a:solidFill>
              </a:defRPr>
            </a:pPr>
            <a:r>
              <a:rPr sz="1275">
                <a:solidFill>
                  <a:srgbClr val="CBEEDA"/>
                </a:solidFill>
              </a:rPr>
              <a:t>同一套服务动作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322A08-4C72-405D-9D6F-E2E5559F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D31"/>
                </a:solidFill>
              </a:defRPr>
            </a:pPr>
            <a:r>
              <a:rPr sz="1575" b="1">
                <a:solidFill>
                  <a:srgbClr val="123D31"/>
                </a:solidFill>
              </a:rPr>
              <a:t>重点不是谁先录入，而是客户不因人员和入口不同而断在半路。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1B6704-01C5-4A77-AE8A-A5C3D4D0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23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25DD4E-288E-4A1C-A6EF-5B001444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9800"/>
            <a:ext cx="1047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客户来源可以分散，设计服务的主线必须统一。</a:t>
            </a:r>
          </a:p>
        </p:txBody>
      </p:sp>
    </p:spTree>
    <p:extLst>
      <p:ext uri="{BB962C8B-B14F-4D97-AF65-F5344CB8AC3E}">
        <p14:creationId xmlns:p14="http://schemas.microsoft.com/office/powerpoint/2010/main" val="16514339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99A448-F3DD-4E77-B7B3-0263A6E4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68CB7-D342-4654-BDE7-F4296146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A75A"/>
                </a:solidFill>
              </a:defRPr>
            </a:pPr>
            <a:r>
              <a:rPr sz="1200" b="1">
                <a:solidFill>
                  <a:srgbClr val="12A75A"/>
                </a:solidFill>
              </a:rPr>
              <a:t>家客来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0D352-DA57-42D2-B5B7-92764FC7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"/>
            <a:ext cx="3238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B756A"/>
                </a:solidFill>
              </a:defRPr>
            </a:pPr>
            <a:r>
              <a:rPr sz="1050" b="1">
                <a:solidFill>
                  <a:srgbClr val="5B756A"/>
                </a:solidFill>
              </a:rPr>
              <a:t>正式量房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04D18-7C4D-493E-93DC-802A06CE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09575"/>
            <a:ext cx="66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756A"/>
                </a:solidFill>
              </a:defRPr>
            </a:pPr>
            <a:r>
              <a:rPr sz="1050" b="1">
                <a:solidFill>
                  <a:srgbClr val="5B756A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AEB42-2051-451A-9A87-2DEFC92A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4D7"/>
            </a:solidFill>
            <a:prstDash val="solid"/>
          </a:ln>
        </p:spPr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D740F3-886E-459C-8CF1-46396129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23D31"/>
                </a:solidFill>
              </a:defRPr>
            </a:pPr>
            <a:r>
              <a:rPr sz="2625" b="1">
                <a:solidFill>
                  <a:srgbClr val="123D31"/>
                </a:solidFill>
              </a:rPr>
              <a:t>设计师最需要的，是一份可信的空间底图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81867-46BB-46EC-876B-3B2984AB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38325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756A"/>
                </a:solidFill>
              </a:defRPr>
            </a:pPr>
            <a:r>
              <a:rPr sz="1350">
                <a:solidFill>
                  <a:srgbClr val="5B756A"/>
                </a:solidFill>
              </a:rPr>
              <a:t>不管谁来量房，后续设计都应基于同一份正式户型，而不是再次口头确认。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C3BD5-7E5D-4BB2-A891-0C596064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238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4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9E8A74-4E7E-46B5-B2BA-5833B85D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8763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A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56A47-3E09-473B-A6D0-EFC6315C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设计师量房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768B3-DCF2-410C-A695-57936895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38525"/>
            <a:ext cx="2819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D31"/>
                </a:solidFill>
              </a:defRPr>
            </a:pPr>
            <a:r>
              <a:rPr sz="1275" b="1">
                <a:solidFill>
                  <a:srgbClr val="123D31"/>
                </a:solidFill>
              </a:rPr>
              <a:t>从客户到方案一体推进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91DB25-B947-4FCB-9D10-5020297F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238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4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71044C-3985-40A5-8B35-A82EE8CD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48000"/>
            <a:ext cx="8763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85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749545-1AAD-40B9-82D2-E2E6C54A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051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测量员量房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7E39F3-5BCC-49FC-B603-A4891CF6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38525"/>
            <a:ext cx="2819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D31"/>
                </a:solidFill>
              </a:defRPr>
            </a:pPr>
            <a:r>
              <a:rPr sz="1275" b="1">
                <a:solidFill>
                  <a:srgbClr val="123D31"/>
                </a:solidFill>
              </a:rPr>
              <a:t>设计师接收正式户型后继续服务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700CDD-23F7-474B-B6BC-45447DC9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57500"/>
            <a:ext cx="3238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4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7763FE-B20B-40D4-9519-69BB5FCD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48000"/>
            <a:ext cx="8763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6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A75B69-DF23-46D2-98A1-66470972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051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销售获客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9573AD-2AC2-47E4-ABA9-B4518F04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38525"/>
            <a:ext cx="2819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D31"/>
                </a:solidFill>
              </a:defRPr>
            </a:pPr>
            <a:r>
              <a:rPr sz="1275" b="1">
                <a:solidFill>
                  <a:srgbClr val="123D31"/>
                </a:solidFill>
              </a:rPr>
              <a:t>设计师接手需求与设计服务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8065BB-163A-4806-8A09-A07A8BE2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990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756A"/>
                </a:solidFill>
              </a:defRPr>
            </a:pPr>
            <a:r>
              <a:rPr sz="1500">
                <a:solidFill>
                  <a:srgbClr val="5B756A"/>
                </a:solidFill>
              </a:rPr>
              <a:t>正式户型记录墙体、尺寸、门窗与空间信息，为后续方案沟通建立共同依据。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70CA48-2CC9-4713-A268-1366CBDF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23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DA6F98-58B7-4D53-ACE9-5BD761C1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9800"/>
            <a:ext cx="1047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谁量房都可以；设计师始终对客户方案负责。</a:t>
            </a:r>
          </a:p>
        </p:txBody>
      </p:sp>
    </p:spTree>
    <p:extLst>
      <p:ext uri="{BB962C8B-B14F-4D97-AF65-F5344CB8AC3E}">
        <p14:creationId xmlns:p14="http://schemas.microsoft.com/office/powerpoint/2010/main" val="2024256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47AD01-95AC-454D-8E5D-9C223322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BAA3A-37A4-4BD3-9A23-64B410E3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A75A"/>
                </a:solidFill>
              </a:defRPr>
            </a:pPr>
            <a:r>
              <a:rPr sz="1200" b="1">
                <a:solidFill>
                  <a:srgbClr val="12A75A"/>
                </a:solidFill>
              </a:rPr>
              <a:t>家客来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69ACE-8CE8-4987-8B24-0320D373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"/>
            <a:ext cx="3238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B756A"/>
                </a:solidFill>
              </a:defRPr>
            </a:pPr>
            <a:r>
              <a:rPr sz="1050" b="1">
                <a:solidFill>
                  <a:srgbClr val="5B756A"/>
                </a:solidFill>
              </a:rPr>
              <a:t>方案表达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D5B1FB-365D-461A-B698-004CAA67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09575"/>
            <a:ext cx="66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756A"/>
                </a:solidFill>
              </a:defRPr>
            </a:pPr>
            <a:r>
              <a:rPr sz="1050" b="1">
                <a:solidFill>
                  <a:srgbClr val="5B756A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5E68B-D4AB-476D-94F3-AB4F1B4D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4D7"/>
            </a:solidFill>
            <a:prstDash val="solid"/>
          </a:ln>
        </p:spPr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D268A1-3A7B-4E7E-AFB6-4A839C42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23D31"/>
                </a:solidFill>
              </a:defRPr>
            </a:pPr>
            <a:r>
              <a:rPr sz="2625" b="1">
                <a:solidFill>
                  <a:srgbClr val="123D31"/>
                </a:solidFill>
              </a:rPr>
              <a:t>有了正式户型，设计师才能更快把需求讲成方案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89C04-8798-45D9-955B-AA3E3805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38325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756A"/>
                </a:solidFill>
              </a:defRPr>
            </a:pPr>
            <a:r>
              <a:rPr sz="1350">
                <a:solidFill>
                  <a:srgbClr val="5B756A"/>
                </a:solidFill>
              </a:rPr>
              <a:t>AI 是设计师的方案表达助手，用于探索方向、保留结果并继续和客户沟通。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6EF4F-0AE6-4BF6-9EB0-FFE84A52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F1503-7A7D-4FBE-A977-9CF7C9D0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1905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E117A-65AF-47AB-856A-9B1113A0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28900"/>
            <a:ext cx="280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D31"/>
                </a:solidFill>
              </a:defRPr>
            </a:pPr>
            <a:r>
              <a:rPr sz="1500" b="1">
                <a:solidFill>
                  <a:srgbClr val="123D31"/>
                </a:solidFill>
              </a:rPr>
              <a:t>选择目标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43601-DB1E-4C5D-8477-AC916537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756A"/>
                </a:solidFill>
              </a:defRPr>
            </a:pPr>
            <a:r>
              <a:rPr sz="1275">
                <a:solidFill>
                  <a:srgbClr val="5B756A"/>
                </a:solidFill>
              </a:rPr>
              <a:t>基于已完成的正式户型，选择整户或单空间。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78D1D-B6D1-45A1-8A30-08F540E6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3227D-5CC2-41CF-A951-68F63E2C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1905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1C2D7-EE40-49F5-B620-B86C54D5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33775"/>
            <a:ext cx="280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D31"/>
                </a:solidFill>
              </a:defRPr>
            </a:pPr>
            <a:r>
              <a:rPr sz="1500" b="1">
                <a:solidFill>
                  <a:srgbClr val="123D31"/>
                </a:solidFill>
              </a:rPr>
              <a:t>形成表达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33C88-B9D4-40F0-BBEE-B6B9D8FE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481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756A"/>
                </a:solidFill>
              </a:defRPr>
            </a:pPr>
            <a:r>
              <a:rPr sz="1275">
                <a:solidFill>
                  <a:srgbClr val="5B756A"/>
                </a:solidFill>
              </a:rPr>
              <a:t>围绕空间、风格与软装方向，建立可沟通的方案参考。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BCB53C-E9BA-4F4B-BAB7-C78C75F6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053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18E8D4-D930-4042-9B01-6AB01FFA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1905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956999-8039-4A0B-AFBA-7EEF16CB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38650"/>
            <a:ext cx="280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D31"/>
                </a:solidFill>
              </a:defRPr>
            </a:pPr>
            <a:r>
              <a:rPr sz="1500" b="1">
                <a:solidFill>
                  <a:srgbClr val="123D31"/>
                </a:solidFill>
              </a:rPr>
              <a:t>保留过程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087C0D-4555-4EE9-8F6F-3DF8AB3B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52975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756A"/>
                </a:solidFill>
              </a:defRPr>
            </a:pPr>
            <a:r>
              <a:rPr sz="1275">
                <a:solidFill>
                  <a:srgbClr val="5B756A"/>
                </a:solidFill>
              </a:rPr>
              <a:t>任务历史、状态与重试入口留在同一条设计工作流中。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96C683-6B41-40CC-896C-4FEFAFE1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33650"/>
            <a:ext cx="27051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5FAF7"/>
          </a:solidFill>
          <a:ln xmlns:a="http://schemas.openxmlformats.org/drawingml/2006/main" w="9525">
            <a:solidFill>
              <a:srgbClr val="CFE4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D42548-B0C6-4274-83F5-BABC30CB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86075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A75A"/>
                </a:solidFill>
              </a:defRPr>
            </a:pPr>
            <a:r>
              <a:rPr sz="1650" b="1">
                <a:solidFill>
                  <a:srgbClr val="12A75A"/>
                </a:solidFill>
              </a:rPr>
              <a:t>正确定位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5973FB-B589-473A-A1D4-27814099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718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D31"/>
                </a:solidFill>
              </a:defRPr>
            </a:pPr>
            <a:r>
              <a:rPr sz="1650" b="1">
                <a:solidFill>
                  <a:srgbClr val="123D31"/>
                </a:solidFill>
              </a:rPr>
              <a:t>AI 用于方案参考</a:t>
            </a:r>
          </a:p>
          <a:p xmlns:a="http://schemas.openxmlformats.org/drawingml/2006/main">
            <a:pPr algn="ctr">
              <a:defRPr sz="1650" b="1">
                <a:solidFill>
                  <a:srgbClr val="123D31"/>
                </a:solidFill>
              </a:defRPr>
            </a:pPr>
            <a:r>
              <a:rPr sz="1650" b="1">
                <a:solidFill>
                  <a:srgbClr val="123D31"/>
                </a:solidFill>
              </a:rPr>
              <a:t>与概念表达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88D2BE-07BC-4145-8C64-AA06B6F6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05275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B756A"/>
                </a:solidFill>
              </a:defRPr>
            </a:pPr>
            <a:r>
              <a:rPr sz="1200">
                <a:solidFill>
                  <a:srgbClr val="5B756A"/>
                </a:solidFill>
              </a:rPr>
              <a:t>不是施工图、</a:t>
            </a:r>
          </a:p>
          <a:p xmlns:a="http://schemas.openxmlformats.org/drawingml/2006/main">
            <a:pPr algn="ctr">
              <a:defRPr sz="1200">
                <a:solidFill>
                  <a:srgbClr val="5B756A"/>
                </a:solidFill>
              </a:defRPr>
            </a:pPr>
            <a:r>
              <a:rPr sz="1200">
                <a:solidFill>
                  <a:srgbClr val="5B756A"/>
                </a:solidFill>
              </a:rPr>
              <a:t>自动报价或自动成交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A932A7-532A-4F25-BC0C-974CF408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23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355D84-A33B-46F3-812E-CF458972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9800"/>
            <a:ext cx="1047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让设计师更快进入方案沟通，而不是替代设计师的判断。</a:t>
            </a:r>
          </a:p>
        </p:txBody>
      </p:sp>
    </p:spTree>
    <p:extLst>
      <p:ext uri="{BB962C8B-B14F-4D97-AF65-F5344CB8AC3E}">
        <p14:creationId xmlns:p14="http://schemas.microsoft.com/office/powerpoint/2010/main" val="11396644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9B78D2-C23D-46A6-BB0E-335090E1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5E0D5-A508-47A8-AB20-74FBD43A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A75A"/>
                </a:solidFill>
              </a:defRPr>
            </a:pPr>
            <a:r>
              <a:rPr sz="1200" b="1">
                <a:solidFill>
                  <a:srgbClr val="12A75A"/>
                </a:solidFill>
              </a:rPr>
              <a:t>家客来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5204E-A8E8-497B-A9FB-412AD0BE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"/>
            <a:ext cx="3238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B756A"/>
                </a:solidFill>
              </a:defRPr>
            </a:pPr>
            <a:r>
              <a:rPr sz="1050" b="1">
                <a:solidFill>
                  <a:srgbClr val="5B756A"/>
                </a:solidFill>
              </a:rPr>
              <a:t>客户旅程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EA7A2-DE99-4D39-93A3-BCD19CB4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09575"/>
            <a:ext cx="66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756A"/>
                </a:solidFill>
              </a:defRPr>
            </a:pPr>
            <a:r>
              <a:rPr sz="1050" b="1">
                <a:solidFill>
                  <a:srgbClr val="5B756A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0FF8F-5DC0-4733-9E07-A49E35EA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4D7"/>
            </a:solidFill>
            <a:prstDash val="solid"/>
          </a:ln>
        </p:spPr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71DC48-A13D-45C1-80E2-9F5234E8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23D31"/>
                </a:solidFill>
              </a:defRPr>
            </a:pPr>
            <a:r>
              <a:rPr sz="2625" b="1">
                <a:solidFill>
                  <a:srgbClr val="123D31"/>
                </a:solidFill>
              </a:rPr>
              <a:t>一个客户的服务过程，不再靠口头交接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E8087-0ED2-4D61-8160-D13BB4B3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38325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756A"/>
                </a:solidFill>
              </a:defRPr>
            </a:pPr>
            <a:r>
              <a:rPr sz="1350">
                <a:solidFill>
                  <a:srgbClr val="5B756A"/>
                </a:solidFill>
              </a:rPr>
              <a:t>以“张女士，89㎡两居室”为例：每一步都回到同一位客户的记录中。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B61CB-95B7-4AF1-B22A-8E352B00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5E6"/>
          </a:solidFill>
          <a:ln xmlns:a="http://schemas.openxmlformats.org/drawingml/2006/main" w="9525">
            <a:solidFill>
              <a:srgbClr val="CFE4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9E08A-3378-49D8-B9D9-F29D5D3E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533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A75A"/>
                </a:solidFill>
              </a:defRPr>
            </a:pPr>
            <a:r>
              <a:rPr sz="1125" b="1">
                <a:solidFill>
                  <a:srgbClr val="12A75A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6299B-9C57-443E-8EB0-36C36DA7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4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21A24-3C4B-4356-A062-B2C62B0F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D31"/>
                </a:solidFill>
              </a:defRPr>
            </a:pPr>
            <a:r>
              <a:rPr sz="1425" b="1">
                <a:solidFill>
                  <a:srgbClr val="123D31"/>
                </a:solidFill>
              </a:rPr>
              <a:t>客户进入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924C2-3568-4922-905E-A1171218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0862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756A"/>
                </a:solidFill>
              </a:defRPr>
            </a:pPr>
            <a:r>
              <a:rPr sz="1125">
                <a:solidFill>
                  <a:srgbClr val="5B756A"/>
                </a:solidFill>
              </a:rPr>
              <a:t>录入需求与基本信息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AF9C95-7396-4269-B42D-C8922340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5E6"/>
          </a:solidFill>
          <a:ln xmlns:a="http://schemas.openxmlformats.org/drawingml/2006/main" w="9525">
            <a:solidFill>
              <a:srgbClr val="CFE4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91D53-1AB9-4CBC-93BB-0CCE8E84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33725"/>
            <a:ext cx="533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A75A"/>
                </a:solidFill>
              </a:defRPr>
            </a:pPr>
            <a:r>
              <a:rPr sz="1125" b="1">
                <a:solidFill>
                  <a:srgbClr val="12A75A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78F31F-DAEA-457F-9BFF-96AC42F1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385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4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760A05-9EDB-43B5-8D6D-F0867401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338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D31"/>
                </a:solidFill>
              </a:defRPr>
            </a:pPr>
            <a:r>
              <a:rPr sz="1425" b="1">
                <a:solidFill>
                  <a:srgbClr val="123D31"/>
                </a:solidFill>
              </a:rPr>
              <a:t>空间确认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6AA7DB-2669-49E4-85EA-8EB80C69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0862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756A"/>
                </a:solidFill>
              </a:defRPr>
            </a:pPr>
            <a:r>
              <a:rPr sz="1125">
                <a:solidFill>
                  <a:srgbClr val="5B756A"/>
                </a:solidFill>
              </a:rPr>
              <a:t>完成正式量房或接收正式户型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FB5910-5F90-4A07-A4B1-6EB146BE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71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75A"/>
          </a:solidFill>
          <a:ln xmlns:a="http://schemas.openxmlformats.org/drawingml/2006/main" w="9525">
            <a:solidFill>
              <a:srgbClr val="12A7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A27216-0396-4669-B347-D7E8F6DF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33725"/>
            <a:ext cx="533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834707-58CD-4AD5-8C31-03ACC287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385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4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62D9C2-B6F4-4899-ACB9-68B2FE9F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338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D31"/>
                </a:solidFill>
              </a:defRPr>
            </a:pPr>
            <a:r>
              <a:rPr sz="1425" b="1">
                <a:solidFill>
                  <a:srgbClr val="123D31"/>
                </a:solidFill>
              </a:rPr>
              <a:t>方案沟通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CDBE58-DB80-4201-B551-489C6655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0862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756A"/>
                </a:solidFill>
              </a:defRPr>
            </a:pPr>
            <a:r>
              <a:rPr sz="1125">
                <a:solidFill>
                  <a:srgbClr val="5B756A"/>
                </a:solidFill>
              </a:rPr>
              <a:t>设计师基于户型推进表达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C12650-C1CC-4EEB-8700-CFE298A8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71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5E6"/>
          </a:solidFill>
          <a:ln xmlns:a="http://schemas.openxmlformats.org/drawingml/2006/main" w="9525">
            <a:solidFill>
              <a:srgbClr val="CFE4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48383D-542C-404A-ADE4-A21C399F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33725"/>
            <a:ext cx="533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A75A"/>
                </a:solidFill>
              </a:defRPr>
            </a:pPr>
            <a:r>
              <a:rPr sz="1125" b="1">
                <a:solidFill>
                  <a:srgbClr val="12A75A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EE2BC8-C71D-41A7-ACAC-7AD445B9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338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D31"/>
                </a:solidFill>
              </a:defRPr>
            </a:pPr>
            <a:r>
              <a:rPr sz="1425" b="1">
                <a:solidFill>
                  <a:srgbClr val="123D31"/>
                </a:solidFill>
              </a:rPr>
              <a:t>协作沉淀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1DFCF8-74A5-490C-A4E3-9B0848E4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0862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756A"/>
                </a:solidFill>
              </a:defRPr>
            </a:pPr>
            <a:r>
              <a:rPr sz="1125">
                <a:solidFill>
                  <a:srgbClr val="5B756A"/>
                </a:solidFill>
              </a:rPr>
              <a:t>交接、通知与回执留下记录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C5B8F3-9674-4CA5-B2F8-D90DC574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23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287F6B-8B55-4DE7-B1FB-7301DA70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9800"/>
            <a:ext cx="1047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客户不是被“转交”出去，而是在同一条服务记录里持续被推进。</a:t>
            </a:r>
          </a:p>
        </p:txBody>
      </p:sp>
    </p:spTree>
    <p:extLst>
      <p:ext uri="{BB962C8B-B14F-4D97-AF65-F5344CB8AC3E}">
        <p14:creationId xmlns:p14="http://schemas.microsoft.com/office/powerpoint/2010/main" val="7644848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B9DFCC-E022-45BB-A6CF-69180A22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F1BB8-2191-41FF-94F0-2BC459C7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A75A"/>
                </a:solidFill>
              </a:defRPr>
            </a:pPr>
            <a:r>
              <a:rPr sz="1200" b="1">
                <a:solidFill>
                  <a:srgbClr val="12A75A"/>
                </a:solidFill>
              </a:rPr>
              <a:t>家客来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19DF3-206C-4510-A365-D7434B85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"/>
            <a:ext cx="3238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B756A"/>
                </a:solidFill>
              </a:defRPr>
            </a:pPr>
            <a:r>
              <a:rPr sz="1050" b="1">
                <a:solidFill>
                  <a:srgbClr val="5B756A"/>
                </a:solidFill>
              </a:rPr>
              <a:t>企业收益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68508-4E62-4931-A48C-1DC66B68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09575"/>
            <a:ext cx="66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756A"/>
                </a:solidFill>
              </a:defRPr>
            </a:pPr>
            <a:r>
              <a:rPr sz="1050" b="1">
                <a:solidFill>
                  <a:srgbClr val="5B756A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68F3E-F191-47CD-91A1-07949080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4D7"/>
            </a:solidFill>
            <a:prstDash val="solid"/>
          </a:ln>
        </p:spPr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00AA06-2CDF-4A36-B817-874C9007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81915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23D31"/>
                </a:solidFill>
              </a:defRPr>
            </a:pPr>
            <a:r>
              <a:rPr sz="3225" b="1">
                <a:solidFill>
                  <a:srgbClr val="123D31"/>
                </a:solidFill>
              </a:rPr>
              <a:t>老板买到的不是“监控团队”，</a:t>
            </a:r>
          </a:p>
          <a:p xmlns:a="http://schemas.openxmlformats.org/drawingml/2006/main">
            <a:pPr>
              <a:defRPr sz="3225" b="1">
                <a:solidFill>
                  <a:srgbClr val="123D31"/>
                </a:solidFill>
              </a:defRPr>
            </a:pPr>
            <a:r>
              <a:rPr sz="3225" b="1">
                <a:solidFill>
                  <a:srgbClr val="123D31"/>
                </a:solidFill>
              </a:rPr>
              <a:t>而是可复制的设计服务能力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702EE-5C68-47A1-8121-C08849AE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0"/>
            <a:ext cx="781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756A"/>
                </a:solidFill>
              </a:defRPr>
            </a:pPr>
            <a:r>
              <a:rPr sz="1500">
                <a:solidFill>
                  <a:srgbClr val="5B756A"/>
                </a:solidFill>
              </a:rPr>
              <a:t>设计师能专注服务客户；企业保留客户、户型、方案与协作过程。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E4F45-AC3C-44BD-AD61-C099F9A5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287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DF5E6"/>
          </a:solidFill>
          <a:ln xmlns:a="http://schemas.openxmlformats.org/drawingml/2006/main" w="9525">
            <a:solidFill>
              <a:srgbClr val="CFE4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9BB22A-05DE-467B-95C0-6E75BA89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6195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A75A"/>
                </a:solidFill>
              </a:defRPr>
            </a:pPr>
            <a:r>
              <a:rPr sz="1275" b="1">
                <a:solidFill>
                  <a:srgbClr val="12A75A"/>
                </a:solidFill>
              </a:rPr>
              <a:t>客户可接手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1C23B8-80D5-4196-A2BA-916A9676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195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3D31"/>
                </a:solidFill>
              </a:defRPr>
            </a:pPr>
            <a:r>
              <a:rPr sz="1200">
                <a:solidFill>
                  <a:srgbClr val="123D31"/>
                </a:solidFill>
              </a:rPr>
              <a:t>客户、户型、方案记录留在企业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D6CB5-B9D0-46C2-BEA8-DDDD6ECE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287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4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2515F-DDFD-4FCE-8A85-D37F4C37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862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A75A"/>
                </a:solidFill>
              </a:defRPr>
            </a:pPr>
            <a:r>
              <a:rPr sz="1275" b="1">
                <a:solidFill>
                  <a:srgbClr val="12A75A"/>
                </a:solidFill>
              </a:rPr>
              <a:t>服务可复制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4FDB2-9D8A-4F91-81A6-431EE35E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862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3D31"/>
                </a:solidFill>
              </a:defRPr>
            </a:pPr>
            <a:r>
              <a:rPr sz="1200">
                <a:solidFill>
                  <a:srgbClr val="123D31"/>
                </a:solidFill>
              </a:rPr>
              <a:t>新人接手时不必从零重新问起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7C4832-FA1F-439D-8B06-58CFFBDE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287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4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B50633-64DD-4D93-9F9D-82EAF663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9530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A75A"/>
                </a:solidFill>
              </a:defRPr>
            </a:pPr>
            <a:r>
              <a:rPr sz="1275" b="1">
                <a:solidFill>
                  <a:srgbClr val="12A75A"/>
                </a:solidFill>
              </a:rPr>
              <a:t>过程可看见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6C7483-DBCE-4627-AFC9-9813BAA4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530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3D31"/>
                </a:solidFill>
              </a:defRPr>
            </a:pPr>
            <a:r>
              <a:rPr sz="1200">
                <a:solidFill>
                  <a:srgbClr val="123D31"/>
                </a:solidFill>
              </a:rPr>
              <a:t>负责人看到进度、分工与关键记录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1AC9FC-1717-4DAC-9303-26B0B196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23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AAE081-FD56-4D82-B13E-D2420D5F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9800"/>
            <a:ext cx="1047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下一步：选一个真实客户，让负责人、设计师和测量员一起跑一遍。</a:t>
            </a:r>
          </a:p>
        </p:txBody>
      </p:sp>
    </p:spTree>
    <p:extLst>
      <p:ext uri="{BB962C8B-B14F-4D97-AF65-F5344CB8AC3E}">
        <p14:creationId xmlns:p14="http://schemas.microsoft.com/office/powerpoint/2010/main" val="11203239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2026-08-12T06:58:05.7740000Z</dcterms:created>
  <dcterms:modified xsi:type="dcterms:W3CDTF">2026-08-12T06:58:05.7740000Z</dcterms:modified>
</coreProperties>
</file>
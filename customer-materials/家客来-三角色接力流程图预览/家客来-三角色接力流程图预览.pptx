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76243da31447ab" /><Relationship Type="http://schemas.openxmlformats.org/officeDocument/2006/relationships/extended-properties" Target="/docProps/app.xml" Id="Ra7f9bc4433b641a3" /><Relationship Type="http://schemas.openxmlformats.org/officeDocument/2006/relationships/officeDocument" Target="/ppt/presentation.xml" Id="Rc3d127d7ff8f43e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0d7e7f6f484ce2"/>
  </p:sldMasterIdLst>
  <p:notesMasterIdLst>
    <p:notesMasterId xmlns:r="http://schemas.openxmlformats.org/officeDocument/2006/relationships" r:id="Ra98b0e3cd4fb43ca"/>
  </p:notesMasterIdLst>
  <p:sldIdLst>
    <p:sldId xmlns:r="http://schemas.openxmlformats.org/officeDocument/2006/relationships" id="256" r:id="R4f428b58667d417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e63536bbdd2432b" /><Relationship Type="http://schemas.openxmlformats.org/officeDocument/2006/relationships/slideMaster" Target="/ppt/slideMasters/slideMaster1.xml" Id="R350d7e7f6f484ce2" /><Relationship Type="http://schemas.openxmlformats.org/officeDocument/2006/relationships/notesMaster" Target="/ppt/notesMasters/notesMaster1.xml" Id="Ra98b0e3cd4fb43ca" /><Relationship Type="http://schemas.openxmlformats.org/officeDocument/2006/relationships/presProps" Target="/ppt/presProps.xml" Id="R1c2973f3ad3d46f7" /><Relationship Type="http://schemas.openxmlformats.org/officeDocument/2006/relationships/tableStyles" Target="/ppt/tableStyles.xml" Id="Re571024034084ba9" /><Relationship Type="http://schemas.openxmlformats.org/officeDocument/2006/relationships/slide" Target="/ppt/slides/slide1.xml" Id="R4f428b58667d41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4c5c02f14454a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85e7cca47d941d1" /><Relationship Type="http://schemas.openxmlformats.org/officeDocument/2006/relationships/notesMaster" Target="/ppt/notesMasters/notesMaster1.xml" Id="R7c0a6c9a7a874a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3a056da2874a1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a33081fe49445c1" /><Relationship Type="http://schemas.openxmlformats.org/officeDocument/2006/relationships/slideLayout" Target="/ppt/slideLayouts/slideLayout1.xml" Id="R798321db9ed9423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98321db9ed9423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d129777ac44c1a" /><Relationship Type="http://schemas.openxmlformats.org/officeDocument/2006/relationships/image" Target="/ppt/media/image.png" Id="Rac584933c5b440e3" /><Relationship Type="http://schemas.openxmlformats.org/officeDocument/2006/relationships/image" Target="/ppt/media/image2.png" Id="Rd165e1f041ef460e" /><Relationship Type="http://schemas.openxmlformats.org/officeDocument/2006/relationships/image" Target="/ppt/media/image3.png" Id="R1ef7d96c993d4c86" /><Relationship Type="http://schemas.openxmlformats.org/officeDocument/2006/relationships/image" Target="/ppt/media/image4.png" Id="R097718776b9c4ca3" /><Relationship Type="http://schemas.openxmlformats.org/officeDocument/2006/relationships/notesSlide" Target="/ppt/notesSlides/notesSlide1.xml" Id="R0f38d1b8759e4a4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9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625C36D-D8F7-47E3-82E4-81161FCB2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95250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F7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602CB9-DCCB-48B9-BC38-BD08C7D45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90500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F1D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98DC3E-80A0-4665-9E19-7637E6B5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A9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DDD8CD-FA28-4E8E-A83D-D7BB2A41F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4000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8D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584933c5b440e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0075" y="371475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66CBA8-CECA-43C4-A3B7-E623D7DF5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9575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85846"/>
                </a:solidFill>
              </a:defRPr>
            </a:pPr>
            <a:r>
              <a:rPr sz="1125" b="1">
                <a:solidFill>
                  <a:srgbClr val="285846"/>
                </a:solidFill>
              </a:rPr>
              <a:t>家客来  /  客户服务协同流程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F7C8EDF-8E20-4738-8BE3-94261BED5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57250"/>
            <a:ext cx="7715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63D32"/>
                </a:solidFill>
              </a:defRPr>
            </a:pPr>
            <a:r>
              <a:rPr sz="2625" b="1">
                <a:solidFill>
                  <a:srgbClr val="163D32"/>
                </a:solidFill>
              </a:rPr>
              <a:t>一位客户，三角色接力完成服务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E9E5C9-9429-4EB3-901D-6B478F39D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38275"/>
            <a:ext cx="685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28075"/>
                </a:solidFill>
              </a:defRPr>
            </a:pPr>
            <a:r>
              <a:rPr sz="1275">
                <a:solidFill>
                  <a:srgbClr val="628075"/>
                </a:solidFill>
              </a:rPr>
              <a:t>从线索到方案交付，客户、空间与过程始终可追溯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8165F6-F24E-4968-A8F6-BAC8FA674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962025"/>
            <a:ext cx="2324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F7EC"/>
          </a:solidFill>
          <a:ln xmlns:a="http://schemas.openxmlformats.org/drawingml/2006/main" w="9525">
            <a:solidFill>
              <a:srgbClr val="B8E6C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C778B6-1ED4-4EFE-9368-B7D3BB302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066800"/>
            <a:ext cx="1962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6864A"/>
                </a:solidFill>
              </a:defRPr>
            </a:pPr>
            <a:r>
              <a:rPr sz="1125" b="1">
                <a:solidFill>
                  <a:srgbClr val="16864A"/>
                </a:solidFill>
              </a:rPr>
              <a:t>同一客户 · 全程可追溯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9113A6-F915-47AB-A86D-71EEA1226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190875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AC89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0EE90E-9ABF-4F9D-B284-616355D19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190875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AC89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1CC03C-7292-4089-A8E5-06989324A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190875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AC89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0D0F05-4D0C-4A2B-B3E1-4EB132BE0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190875"/>
            <a:ext cx="400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AC89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AA4FAD-19DF-4573-8845-5950A1BBB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24075"/>
            <a:ext cx="1847850" cy="23050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A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2B3D81-55D8-4B97-A2EF-01A79C53E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381000" cy="2571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F1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1E9205-64A7-49B9-9EC9-F791FBDE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864A"/>
                </a:solidFill>
              </a:defRPr>
            </a:pPr>
            <a:r>
              <a:rPr sz="900" b="1">
                <a:solidFill>
                  <a:srgbClr val="16864A"/>
                </a:solidFill>
              </a:rPr>
              <a:t>01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BE6C93-A5C7-440E-B562-8AD861956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86050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63D32"/>
                </a:solidFill>
              </a:defRPr>
            </a:pPr>
            <a:r>
              <a:rPr sz="1725" b="1">
                <a:solidFill>
                  <a:srgbClr val="163D32"/>
                </a:solidFill>
              </a:rPr>
              <a:t>客户建档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E54A73-1D53-4E96-A699-AFFD3B77D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038475"/>
            <a:ext cx="80010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F1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F55862-4BBB-4528-85F3-40B258CE6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3086100"/>
            <a:ext cx="800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864A"/>
                </a:solidFill>
              </a:defRPr>
            </a:pPr>
            <a:r>
              <a:rPr sz="900" b="1">
                <a:solidFill>
                  <a:srgbClr val="16864A"/>
                </a:solidFill>
              </a:rPr>
              <a:t>测量员</a:t>
            </a:r>
          </a:p>
        </p:txBody>
      </p:sp>
      <p:pic>
        <p:nvPicPr>
          <p:cNvPr id="1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65e1f041ef460e"/>
          <a:srcRect xmlns:a="http://schemas.openxmlformats.org/drawingml/2006/main" l="0" t="40720" r="0" b="407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" y="3381375"/>
            <a:ext cx="1543050" cy="619125"/>
          </a:xfrm>
          <a:prstGeom xmlns:a="http://schemas.openxmlformats.org/drawingml/2006/main" prst="roundRect">
            <a:avLst>
              <a:gd name="adj" fmla="val 12308"/>
            </a:avLst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24D9AF-5130-4C03-9C96-2B84EA5E8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05275"/>
            <a:ext cx="154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728D80"/>
                </a:solidFill>
              </a:defRPr>
            </a:pPr>
            <a:r>
              <a:rPr sz="900">
                <a:solidFill>
                  <a:srgbClr val="728D80"/>
                </a:solidFill>
              </a:rPr>
              <a:t>线索 · 档案 · 跟进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4FD6B6-0F21-4EDC-9684-4C8D9B560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124075"/>
            <a:ext cx="1847850" cy="23050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A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66C6D3-25CA-4BCF-ACC5-24D3E95F0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266950"/>
            <a:ext cx="381000" cy="2571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F1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481F06-C9EF-4B20-9652-FB716E1BF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864A"/>
                </a:solidFill>
              </a:defRPr>
            </a:pPr>
            <a:r>
              <a:rPr sz="900" b="1">
                <a:solidFill>
                  <a:srgbClr val="16864A"/>
                </a:solidFill>
              </a:rPr>
              <a:t>02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1FFA40-6E3F-4BE9-B038-37E215D0E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86050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63D32"/>
                </a:solidFill>
              </a:defRPr>
            </a:pPr>
            <a:r>
              <a:rPr sz="1725" b="1">
                <a:solidFill>
                  <a:srgbClr val="163D32"/>
                </a:solidFill>
              </a:rPr>
              <a:t>正式量房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E7061A-9B34-43BD-805F-C75D12416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038475"/>
            <a:ext cx="80010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F1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F6B414-914D-4FC8-B0BE-95F52DABC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3086100"/>
            <a:ext cx="800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864A"/>
                </a:solidFill>
              </a:defRPr>
            </a:pPr>
            <a:r>
              <a:rPr sz="900" b="1">
                <a:solidFill>
                  <a:srgbClr val="16864A"/>
                </a:solidFill>
              </a:rPr>
              <a:t>测量员</a:t>
            </a:r>
          </a:p>
        </p:txBody>
      </p:sp>
      <p:pic>
        <p:nvPicPr>
          <p:cNvPr id="1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f7d96c993d4c86"/>
          <a:srcRect xmlns:a="http://schemas.openxmlformats.org/drawingml/2006/main" l="0" t="40720" r="0" b="407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52750" y="3381375"/>
            <a:ext cx="1543050" cy="619125"/>
          </a:xfrm>
          <a:prstGeom xmlns:a="http://schemas.openxmlformats.org/drawingml/2006/main" prst="roundRect">
            <a:avLst>
              <a:gd name="adj" fmla="val 12308"/>
            </a:avLst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683D97F-E9BF-44EC-A3EF-4B09B7E02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105275"/>
            <a:ext cx="154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728D80"/>
                </a:solidFill>
              </a:defRPr>
            </a:pPr>
            <a:r>
              <a:rPr sz="900">
                <a:solidFill>
                  <a:srgbClr val="728D80"/>
                </a:solidFill>
              </a:rPr>
              <a:t>墙体 · 尺寸 · 门窗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BE6A35-3EE6-487C-89F8-FF5ECA0F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124075"/>
            <a:ext cx="1847850" cy="23050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A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C7C3B2-D2EE-470A-A004-A41442983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266950"/>
            <a:ext cx="381000" cy="2571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F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CFC8F77-7942-435B-B15E-9588169B7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3241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98848"/>
                </a:solidFill>
              </a:defRPr>
            </a:pPr>
            <a:r>
              <a:rPr sz="900" b="1">
                <a:solidFill>
                  <a:srgbClr val="098848"/>
                </a:solidFill>
              </a:rPr>
              <a:t>03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18803E0-52F3-4C20-909B-6760EF3B1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686050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63D32"/>
                </a:solidFill>
              </a:defRPr>
            </a:pPr>
            <a:r>
              <a:rPr sz="1725" b="1">
                <a:solidFill>
                  <a:srgbClr val="163D32"/>
                </a:solidFill>
              </a:rPr>
              <a:t>AI 方案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931240E-3FCD-4B21-A207-578AC099D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038475"/>
            <a:ext cx="80010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F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05B0217-4492-435A-A014-89867994A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086100"/>
            <a:ext cx="800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98848"/>
                </a:solidFill>
              </a:defRPr>
            </a:pPr>
            <a:r>
              <a:rPr sz="900" b="1">
                <a:solidFill>
                  <a:srgbClr val="098848"/>
                </a:solidFill>
              </a:rPr>
              <a:t>设计师</a:t>
            </a:r>
          </a:p>
        </p:txBody>
      </p:sp>
      <p:pic>
        <p:nvPicPr>
          <p:cNvPr id="1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7718776b9c4ca3"/>
          <a:srcRect xmlns:a="http://schemas.openxmlformats.org/drawingml/2006/main" l="0" t="40720" r="0" b="407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00650" y="3381375"/>
            <a:ext cx="1543050" cy="619125"/>
          </a:xfrm>
          <a:prstGeom xmlns:a="http://schemas.openxmlformats.org/drawingml/2006/main" prst="roundRect">
            <a:avLst>
              <a:gd name="adj" fmla="val 12308"/>
            </a:avLst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7201B54-9948-419F-847D-73E6C84CD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105275"/>
            <a:ext cx="154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728D80"/>
                </a:solidFill>
              </a:defRPr>
            </a:pPr>
            <a:r>
              <a:rPr sz="900">
                <a:solidFill>
                  <a:srgbClr val="728D80"/>
                </a:solidFill>
              </a:rPr>
              <a:t>正式户型 · 方案方向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7F400DD-0AB7-417D-9D3B-446D1538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124075"/>
            <a:ext cx="1847850" cy="23050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A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883D43D-AEFB-4741-9773-F0FBD7205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66950"/>
            <a:ext cx="381000" cy="2571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F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896C8F9-282F-47F1-9889-627D6F6D5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241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98848"/>
                </a:solidFill>
              </a:defRPr>
            </a:pPr>
            <a:r>
              <a:rPr sz="900" b="1">
                <a:solidFill>
                  <a:srgbClr val="098848"/>
                </a:solidFill>
              </a:rPr>
              <a:t>04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9C7ACBD-9CC4-444D-BEBA-1E0121D54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86050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63D32"/>
                </a:solidFill>
              </a:defRPr>
            </a:pPr>
            <a:r>
              <a:rPr sz="1725" b="1">
                <a:solidFill>
                  <a:srgbClr val="163D32"/>
                </a:solidFill>
              </a:rPr>
              <a:t>协作交接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A1A14F3-2941-4723-BEC1-E28BED918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038475"/>
            <a:ext cx="80010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F0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9F96F28-E0D3-4D2B-8019-5BDEF7908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086100"/>
            <a:ext cx="800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98848"/>
                </a:solidFill>
              </a:defRPr>
            </a:pPr>
            <a:r>
              <a:rPr sz="900" b="1">
                <a:solidFill>
                  <a:srgbClr val="098848"/>
                </a:solidFill>
              </a:rPr>
              <a:t>设计师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B1835AA-2DC8-4B48-B871-B2C2D6870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4385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A9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25AF528-10CD-4D86-B924-00314F3E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429000"/>
            <a:ext cx="1143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719C788-12E9-4FBA-B35A-245542EC0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40995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1695A"/>
                </a:solidFill>
              </a:defRPr>
            </a:pPr>
            <a:r>
              <a:rPr sz="975">
                <a:solidFill>
                  <a:srgbClr val="41695A"/>
                </a:solidFill>
              </a:rPr>
              <a:t>确认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39D29FE-FCF2-45AA-9376-7820BD1A2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6480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A9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5D91592-3CCE-4945-B5F6-B3CA59BF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638550"/>
            <a:ext cx="1143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9CEC885-5B8B-40D9-BCF8-2D2F45C7F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61950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1695A"/>
                </a:solidFill>
              </a:defRPr>
            </a:pPr>
            <a:r>
              <a:rPr sz="975">
                <a:solidFill>
                  <a:srgbClr val="41695A"/>
                </a:solidFill>
              </a:rPr>
              <a:t>通知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B3D74CC-1B7B-4B28-87AC-BE3964C2A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8576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A9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6360B05-CC21-480E-B452-5A7085C0D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848100"/>
            <a:ext cx="1143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</a:defRPr>
            </a:pPr>
            <a:r>
              <a:rPr sz="67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20773B7-17A1-44D2-BD39-8AA1FEE2D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82905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1695A"/>
                </a:solidFill>
              </a:defRPr>
            </a:pPr>
            <a:r>
              <a:rPr sz="975">
                <a:solidFill>
                  <a:srgbClr val="41695A"/>
                </a:solidFill>
              </a:rPr>
              <a:t>回执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CBC08E2-1DD9-4FA0-8FF1-4E2D92920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105275"/>
            <a:ext cx="154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728D80"/>
                </a:solidFill>
              </a:defRPr>
            </a:pPr>
            <a:r>
              <a:rPr sz="900">
                <a:solidFill>
                  <a:srgbClr val="728D80"/>
                </a:solidFill>
              </a:rPr>
              <a:t>确认 · 通知 · 回执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FD1E34B-0603-44F7-993C-BD1D6D502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124075"/>
            <a:ext cx="1847850" cy="2305050"/>
          </a:xfrm>
          <a:prstGeom xmlns:a="http://schemas.openxmlformats.org/drawingml/2006/main" prst="roundRect">
            <a:avLst>
              <a:gd name="adj" fmla="val 61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A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A84842F-813F-4BBC-AD84-0C9CFE6C9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266950"/>
            <a:ext cx="381000" cy="2571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E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BFF992F-1D9D-4964-A538-8DE8A0B0E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324100"/>
            <a:ext cx="381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75C48"/>
                </a:solidFill>
              </a:defRPr>
            </a:pPr>
            <a:r>
              <a:rPr sz="900" b="1">
                <a:solidFill>
                  <a:srgbClr val="275C48"/>
                </a:solidFill>
              </a:rPr>
              <a:t>05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DDD28D3-3057-47A7-A387-E2956C03C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686050"/>
            <a:ext cx="1543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63D32"/>
                </a:solidFill>
              </a:defRPr>
            </a:pPr>
            <a:r>
              <a:rPr sz="1725" b="1">
                <a:solidFill>
                  <a:srgbClr val="163D32"/>
                </a:solidFill>
              </a:rPr>
              <a:t>企业管理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CCE8EE0-97CC-498C-932F-935652327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3038475"/>
            <a:ext cx="800100" cy="238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E9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7F4D220-8B9D-4224-9AFF-B9A73F036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3086100"/>
            <a:ext cx="800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75C48"/>
                </a:solidFill>
              </a:defRPr>
            </a:pPr>
            <a:r>
              <a:rPr sz="900" b="1">
                <a:solidFill>
                  <a:srgbClr val="275C48"/>
                </a:solidFill>
              </a:rPr>
              <a:t>负责人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D575503-9888-43A1-B69B-495853435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3409950"/>
            <a:ext cx="657225" cy="2571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DF5F0"/>
          </a:solidFill>
          <a:ln xmlns:a="http://schemas.openxmlformats.org/drawingml/2006/main" w="9525">
            <a:solidFill>
              <a:srgbClr val="D9E8DD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1827670-FD99-4530-A2DC-3153AED80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3476625"/>
            <a:ext cx="6572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96452"/>
                </a:solidFill>
              </a:defRPr>
            </a:pPr>
            <a:r>
              <a:rPr sz="900" b="1">
                <a:solidFill>
                  <a:srgbClr val="396452"/>
                </a:solidFill>
              </a:rPr>
              <a:t>人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FE57273-D1F9-416E-A2C2-53B9335EE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409950"/>
            <a:ext cx="657225" cy="2571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DF5F0"/>
          </a:solidFill>
          <a:ln xmlns:a="http://schemas.openxmlformats.org/drawingml/2006/main" w="9525">
            <a:solidFill>
              <a:srgbClr val="D9E8DD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1195C4D-D6A8-43E5-8BA3-B1BD3CED3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476625"/>
            <a:ext cx="6572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96452"/>
                </a:solidFill>
              </a:defRPr>
            </a:pPr>
            <a:r>
              <a:rPr sz="900" b="1">
                <a:solidFill>
                  <a:srgbClr val="396452"/>
                </a:solidFill>
              </a:rPr>
              <a:t>数据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EC5242E-48DD-4CDC-BC7C-D9EE9761E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3752850"/>
            <a:ext cx="657225" cy="2571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DF5F0"/>
          </a:solidFill>
          <a:ln xmlns:a="http://schemas.openxmlformats.org/drawingml/2006/main" w="9525">
            <a:solidFill>
              <a:srgbClr val="D9E8DD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EC84A93-62F9-46B7-9E34-B822F628F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3819525"/>
            <a:ext cx="6572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96452"/>
                </a:solidFill>
              </a:defRPr>
            </a:pPr>
            <a:r>
              <a:rPr sz="900" b="1">
                <a:solidFill>
                  <a:srgbClr val="396452"/>
                </a:solidFill>
              </a:rPr>
              <a:t>设备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CD5AFF4-FF4A-4767-9B4C-F4B4F16B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752850"/>
            <a:ext cx="657225" cy="257175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DF5F0"/>
          </a:solidFill>
          <a:ln xmlns:a="http://schemas.openxmlformats.org/drawingml/2006/main" w="9525">
            <a:solidFill>
              <a:srgbClr val="D9E8DD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4C2D194-46CA-4C28-AD71-D24EA898E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819525"/>
            <a:ext cx="657225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396452"/>
                </a:solidFill>
              </a:defRPr>
            </a:pPr>
            <a:r>
              <a:rPr sz="900" b="1">
                <a:solidFill>
                  <a:srgbClr val="396452"/>
                </a:solidFill>
              </a:rPr>
              <a:t>规则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91280EB-0E50-44CE-BFCA-5972310CD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105275"/>
            <a:ext cx="154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>
                <a:solidFill>
                  <a:srgbClr val="728D80"/>
                </a:solidFill>
              </a:defRPr>
            </a:pPr>
            <a:r>
              <a:rPr sz="900">
                <a:solidFill>
                  <a:srgbClr val="728D80"/>
                </a:solidFill>
              </a:rPr>
              <a:t>人 · 数据 · 设备 · 规则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179387BD-BC6B-4632-91A7-F8A89BCE0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48225"/>
            <a:ext cx="1000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8776A"/>
                </a:solidFill>
              </a:defRPr>
            </a:pPr>
            <a:r>
              <a:rPr sz="1050" b="1">
                <a:solidFill>
                  <a:srgbClr val="58776A"/>
                </a:solidFill>
              </a:rPr>
              <a:t>谁在接力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2E048F1-5969-4FA9-9A8E-7E7ECFB24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33975"/>
            <a:ext cx="4095750" cy="504825"/>
          </a:xfrm>
          <a:prstGeom xmlns:a="http://schemas.openxmlformats.org/drawingml/2006/main" prst="roundRect">
            <a:avLst>
              <a:gd name="adj" fmla="val 22642"/>
            </a:avLst>
          </a:prstGeom>
          <a:solidFill xmlns:a="http://schemas.openxmlformats.org/drawingml/2006/main">
            <a:srgbClr val="E9F7EE"/>
          </a:solidFill>
          <a:ln xmlns:a="http://schemas.openxmlformats.org/drawingml/2006/main" w="9525">
            <a:solidFill>
              <a:srgbClr val="BFE5CD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7100BC1-E5BA-4A64-AE85-0F2011AF3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7048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6864A"/>
                </a:solidFill>
              </a:defRPr>
            </a:pPr>
            <a:r>
              <a:rPr sz="1125" b="1">
                <a:solidFill>
                  <a:srgbClr val="16864A"/>
                </a:solidFill>
              </a:rPr>
              <a:t>测量员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4D094FB-9431-4AAC-8BD6-44FFB6FF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75" y="5295900"/>
            <a:ext cx="30003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67568"/>
                </a:solidFill>
              </a:defRPr>
            </a:pPr>
            <a:r>
              <a:rPr sz="1050">
                <a:solidFill>
                  <a:srgbClr val="567568"/>
                </a:solidFill>
              </a:rPr>
              <a:t>接住客户与空间数据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F534202-BB44-4A8E-9694-02F7039D6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133975"/>
            <a:ext cx="4095750" cy="504825"/>
          </a:xfrm>
          <a:prstGeom xmlns:a="http://schemas.openxmlformats.org/drawingml/2006/main" prst="roundRect">
            <a:avLst>
              <a:gd name="adj" fmla="val 22642"/>
            </a:avLst>
          </a:prstGeom>
          <a:solidFill xmlns:a="http://schemas.openxmlformats.org/drawingml/2006/main">
            <a:srgbClr val="EAF8F0"/>
          </a:solidFill>
          <a:ln xmlns:a="http://schemas.openxmlformats.org/drawingml/2006/main" w="9525">
            <a:solidFill>
              <a:srgbClr val="BFE5CD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3A7A167-1970-4C61-BC4F-4966B8D52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286375"/>
            <a:ext cx="7048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F8B4C"/>
                </a:solidFill>
              </a:defRPr>
            </a:pPr>
            <a:r>
              <a:rPr sz="1125" b="1">
                <a:solidFill>
                  <a:srgbClr val="0F8B4C"/>
                </a:solidFill>
              </a:rPr>
              <a:t>设计师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636AF74-0F7F-4A82-903F-774FE3FBF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5295900"/>
            <a:ext cx="30003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67568"/>
                </a:solidFill>
              </a:defRPr>
            </a:pPr>
            <a:r>
              <a:rPr sz="1050">
                <a:solidFill>
                  <a:srgbClr val="567568"/>
                </a:solidFill>
              </a:rPr>
              <a:t>把空间转成方案并完成交接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42E160A-796A-460F-B44E-82F7737D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133975"/>
            <a:ext cx="2381250" cy="504825"/>
          </a:xfrm>
          <a:prstGeom xmlns:a="http://schemas.openxmlformats.org/drawingml/2006/main" prst="roundRect">
            <a:avLst>
              <a:gd name="adj" fmla="val 22642"/>
            </a:avLst>
          </a:prstGeom>
          <a:solidFill xmlns:a="http://schemas.openxmlformats.org/drawingml/2006/main">
            <a:srgbClr val="EDF5F0"/>
          </a:solidFill>
          <a:ln xmlns:a="http://schemas.openxmlformats.org/drawingml/2006/main" w="9525">
            <a:solidFill>
              <a:srgbClr val="C9DED1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4AD3D4C-E89D-4DCE-AD45-D7C48C4C9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286375"/>
            <a:ext cx="7048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E654F"/>
                </a:solidFill>
              </a:defRPr>
            </a:pPr>
            <a:r>
              <a:rPr sz="1125" b="1">
                <a:solidFill>
                  <a:srgbClr val="2E654F"/>
                </a:solidFill>
              </a:rPr>
              <a:t>负责人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127186D-0F5E-42A7-8F9B-91FDA41EF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5295900"/>
            <a:ext cx="12858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67568"/>
                </a:solidFill>
              </a:defRPr>
            </a:pPr>
            <a:r>
              <a:rPr sz="1050">
                <a:solidFill>
                  <a:srgbClr val="567568"/>
                </a:solidFill>
              </a:rPr>
              <a:t>看见全流程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6571982-21B5-4FF5-A00B-0F7BCBA20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962650"/>
            <a:ext cx="1102995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43F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6129D33-2B6E-47BF-A977-3529353D1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96000"/>
            <a:ext cx="81915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客户资产不断线：一次录入，多角色协同，企业全过程可见。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55AC306-DB6E-4D26-B615-410518631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6105525"/>
            <a:ext cx="9715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A9E7C0"/>
                </a:solidFill>
              </a:defRPr>
            </a:pPr>
            <a:r>
              <a:rPr sz="1200" b="1">
                <a:solidFill>
                  <a:srgbClr val="A9E7C0"/>
                </a:solidFill>
              </a:rPr>
              <a:t>家客来</a:t>
            </a:r>
          </a:p>
        </p:txBody>
      </p:sp>
    </p:spTree>
    <p:extLst>
      <p:ext uri="{BB962C8B-B14F-4D97-AF65-F5344CB8AC3E}">
        <p14:creationId xmlns:p14="http://schemas.microsoft.com/office/powerpoint/2010/main" val="13756247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2026-08-12T04:53:21.1390000Z</dcterms:created>
  <dcterms:modified xsi:type="dcterms:W3CDTF">2026-08-12T04:53:21.1390000Z</dcterms:modified>
</coreProperties>
</file>